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7" r:id="rId28"/>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  <Relationship Id="rId28" Type="http://schemas.openxmlformats.org/officeDocument/2006/relationships/slide" Target="slides/slide22.xml"/>
  <Relationship Id="rId29" Type="http://schemas.openxmlformats.org/officeDocument/2006/relationships/slide" Target="slides/slide23.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10243E"/>
                </a:solidFill>
                <a:latin typeface="Calibri"/>
              </a:defRPr>
            </a:pPr>
            <a:r>
              <a:rPr sz="1200" b="0" i="0" u="none" strike="noStrike">
                <a:solidFill>
                  <a:srgbClr val="10243E"/>
                </a:solidFill>
                <a:latin typeface="Calibri"/>
              </a:rPr>
              <a:t>Couverture par phase SDLC (%)</a:t>
            </a:r>
          </a:p>
        </c:rich>
      </c:tx>
      <c:overlay val="0"/>
    </c:title>
    <c:autoTitleDeleted val="0"/>
    <c:plotArea>
      <c:layout/>
      <c:barChart>
        <c:barDir val="col"/>
        <c:grouping val="clustered"/>
        <c:varyColors val="0"/>
        <c:ser>
          <c:idx val="0"/>
          <c:order val="0"/>
          <c:tx>
            <c:strRef>
              <c:f>Sheet1!$B$1</c:f>
              <c:strCache>
                <c:ptCount val="1"/>
                <c:pt idx="0">
                  <c:v>Couverture</c:v>
                </c:pt>
              </c:strCache>
            </c:strRef>
          </c:tx>
          <c:spPr>
            <a:solidFill>
              <a:srgbClr val="0E8A6A"/>
            </a:solidFill>
            <a:effectLst/>
          </c:spPr>
          <c:invertIfNegative val="0"/>
          <c:dLbls>
            <c:numFmt formatCode="#,##0" sourceLinked="0"/>
            <c:spPr>
              <a:noFill/>
              <a:ln>
                <a:noFill/>
              </a:ln>
              <a:effectLst/>
            </c:spPr>
            <c:txPr>
              <a:bodyPr/>
              <a:lstStyle/>
              <a:p>
                <a:pPr>
                  <a:defRPr sz="900" b="0" i="0" u="none" strike="noStrike">
                    <a:solidFill>
                      <a:srgbClr val="3F546B"/>
                    </a:solidFill>
                    <a:latin typeface="Calibri"/>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Ph.1</c:v>
                </c:pt>
                <c:pt idx="1">
                  <c:v>Ph.2</c:v>
                </c:pt>
                <c:pt idx="2">
                  <c:v>Ph.3</c:v>
                </c:pt>
                <c:pt idx="3">
                  <c:v>Ph.4</c:v>
                </c:pt>
                <c:pt idx="4">
                  <c:v>Ph.5</c:v>
                </c:pt>
                <c:pt idx="5">
                  <c:v>Ph.6</c:v>
                </c:pt>
                <c:pt idx="6">
                  <c:v>Ph.7</c:v>
                </c:pt>
                <c:pt idx="7">
                  <c:v>Ph.8</c:v>
                </c:pt>
                <c:pt idx="8">
                  <c:v>Ph.9</c:v>
                </c:pt>
              </c:strCache>
            </c:strRef>
          </c:cat>
          <c:val>
            <c:numRef>
              <c:f>Sheet1!$B$2:$B$10</c:f>
              <c:numCache>
                <c:formatCode>General</c:formatCode>
                <c:ptCount val="9"/>
                <c:pt idx="0">
                  <c:v>92</c:v>
                </c:pt>
                <c:pt idx="1">
                  <c:v>80</c:v>
                </c:pt>
                <c:pt idx="2">
                  <c:v>55</c:v>
                </c:pt>
                <c:pt idx="3">
                  <c:v>15</c:v>
                </c:pt>
                <c:pt idx="4">
                  <c:v>10</c:v>
                </c:pt>
                <c:pt idx="5">
                  <c:v>5</c:v>
                </c:pt>
                <c:pt idx="6">
                  <c:v>0</c:v>
                </c:pt>
                <c:pt idx="7">
                  <c:v>0</c:v>
                </c:pt>
                <c:pt idx="8">
                  <c:v>0</c:v>
                </c:pt>
              </c:numCache>
            </c:numRef>
          </c:val>
          <c:extLst>
            <c:ext xmlns:c16="http://schemas.microsoft.com/office/drawing/2014/chart" uri="{C3380CC4-5D6E-409C-BE32-E72D297353CC}">
              <c16:uniqueId val="{00000000-9473-4233-A16A-1292F733239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F546B"/>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9525" cap="flat">
              <a:solidFill>
                <a:srgbClr val="D8E1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697AB"/>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10243E"/>
                </a:solidFill>
                <a:latin typeface="Calibri"/>
              </a:defRPr>
            </a:pPr>
            <a:r>
              <a:rPr sz="1200" b="0" i="0" u="none" strike="noStrike">
                <a:solidFill>
                  <a:srgbClr val="10243E"/>
                </a:solidFill>
                <a:latin typeface="Calibri"/>
              </a:rPr>
              <a:t>Langages détectés (%)</a:t>
            </a:r>
          </a:p>
        </c:rich>
      </c:tx>
      <c:overlay val="0"/>
    </c:title>
    <c:autoTitleDeleted val="0"/>
    <c:plotArea>
      <c:layout/>
      <c:doughnutChart>
        <c:varyColors val="1"/>
        <c:ser>
          <c:idx val="0"/>
          <c:order val="0"/>
          <c:tx>
            <c:strRef>
              <c:f>Sheet1!$B$1</c:f>
              <c:strCache>
                <c:ptCount val="1"/>
                <c:pt idx="0">
                  <c:v>Langages</c:v>
                </c:pt>
              </c:strCache>
            </c:strRef>
          </c:tx>
          <c:spPr>
            <a:solidFill>
              <a:schemeClr val="accent1"/>
            </a:solidFill>
            <a:ln w="9525" cap="flat">
              <a:solidFill>
                <a:srgbClr val="F9F9F9"/>
              </a:solidFill>
              <a:prstDash val="solid"/>
              <a:round/>
            </a:ln>
            <a:effectLst/>
          </c:spPr>
          <c:dPt>
            <c:idx val="0"/>
            <c:bubble3D val="0"/>
            <c:spPr>
              <a:solidFill>
                <a:srgbClr val="0E8A6A"/>
              </a:solidFill>
              <a:effectLst/>
            </c:spPr>
            <c:extLst>
              <c:ext xmlns:c16="http://schemas.microsoft.com/office/drawing/2014/chart" uri="{C3380CC4-5D6E-409C-BE32-E72D297353CC}">
                <c16:uniqueId val="{00000001-74C2-4FEA-8957-E1334E98D48D}"/>
              </c:ext>
            </c:extLst>
          </c:dPt>
          <c:dPt>
            <c:idx val="1"/>
            <c:bubble3D val="0"/>
            <c:spPr>
              <a:solidFill>
                <a:srgbClr val="2B6CB0"/>
              </a:solidFill>
              <a:effectLst/>
            </c:spPr>
            <c:extLst>
              <c:ext xmlns:c16="http://schemas.microsoft.com/office/drawing/2014/chart" uri="{C3380CC4-5D6E-409C-BE32-E72D297353CC}">
                <c16:uniqueId val="{00000003-74C2-4FEA-8957-E1334E98D48D}"/>
              </c:ext>
            </c:extLst>
          </c:dPt>
          <c:dPt>
            <c:idx val="2"/>
            <c:bubble3D val="0"/>
            <c:spPr>
              <a:solidFill>
                <a:srgbClr val="B07407"/>
              </a:solidFill>
              <a:effectLst/>
            </c:spPr>
            <c:extLst>
              <c:ext xmlns:c16="http://schemas.microsoft.com/office/drawing/2014/chart" uri="{C3380CC4-5D6E-409C-BE32-E72D297353CC}">
                <c16:uniqueId val="{00000005-74C2-4FEA-8957-E1334E98D48D}"/>
              </c:ext>
            </c:extLst>
          </c:dPt>
          <c:dLbls>
            <c:dLbl>
              <c:idx val="0"/>
              <c:numFmt formatCode="General" sourceLinked="0"/>
              <c:spPr/>
              <c:txPr>
                <a:bodyPr/>
                <a:lstStyle/>
                <a:p>
                  <a:pPr>
                    <a:defRPr sz="1000" b="0" i="0" u="none" strike="noStrike">
                      <a:solidFill>
                        <a:srgbClr val="FFFFFF"/>
                      </a:solidFill>
                      <a:latin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4C2-4FEA-8957-E1334E98D48D}"/>
                </c:ext>
              </c:extLst>
            </c:dLbl>
            <c:dLbl>
              <c:idx val="1"/>
              <c:numFmt formatCode="General" sourceLinked="0"/>
              <c:spPr/>
              <c:txPr>
                <a:bodyPr/>
                <a:lstStyle/>
                <a:p>
                  <a:pPr>
                    <a:defRPr sz="1000" b="0" i="0" u="none" strike="noStrike">
                      <a:solidFill>
                        <a:srgbClr val="FFFFFF"/>
                      </a:solidFill>
                      <a:latin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4C2-4FEA-8957-E1334E98D48D}"/>
                </c:ext>
              </c:extLst>
            </c:dLbl>
            <c:dLbl>
              <c:idx val="2"/>
              <c:numFmt formatCode="General" sourceLinked="0"/>
              <c:spPr/>
              <c:txPr>
                <a:bodyPr/>
                <a:lstStyle/>
                <a:p>
                  <a:pPr>
                    <a:defRPr sz="1000" b="0" i="0" u="none" strike="noStrike">
                      <a:solidFill>
                        <a:srgbClr val="FFFFFF"/>
                      </a:solidFill>
                      <a:latin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4C2-4FEA-8957-E1334E98D48D}"/>
                </c:ext>
              </c:extLst>
            </c:dLbl>
            <c:numFmt formatCode="General" sourceLinked="0"/>
            <c:spPr>
              <a:noFill/>
              <a:ln>
                <a:noFill/>
              </a:ln>
              <a:effectLst/>
            </c:spPr>
            <c:txPr>
              <a:bodyPr/>
              <a:lstStyle/>
              <a:p>
                <a:pPr>
                  <a:defRPr sz="1800" b="0" i="0" u="none" strike="noStrike">
                    <a:solidFill>
                      <a:srgbClr val="000000"/>
                    </a:solidFill>
                    <a:latin typeface="Arial"/>
                  </a:defRPr>
                </a:pPr>
                <a:endParaRPr lang="fr-F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TypeScript</c:v>
                </c:pt>
                <c:pt idx="1">
                  <c:v>Python</c:v>
                </c:pt>
                <c:pt idx="2">
                  <c:v>CSS</c:v>
                </c:pt>
              </c:strCache>
            </c:strRef>
          </c:cat>
          <c:val>
            <c:numRef>
              <c:f>Sheet1!$B$2:$B$4</c:f>
              <c:numCache>
                <c:formatCode>General</c:formatCode>
                <c:ptCount val="3"/>
                <c:pt idx="0">
                  <c:v>52</c:v>
                </c:pt>
                <c:pt idx="1">
                  <c:v>38</c:v>
                </c:pt>
                <c:pt idx="2">
                  <c:v>10</c:v>
                </c:pt>
              </c:numCache>
            </c:numRef>
          </c:val>
          <c:extLst>
            <c:ext xmlns:c16="http://schemas.microsoft.com/office/drawing/2014/chart" uri="{C3380CC4-5D6E-409C-BE32-E72D297353CC}">
              <c16:uniqueId val="{00000006-74C2-4FEA-8957-E1334E98D48D}"/>
            </c:ext>
          </c:extLst>
        </c:ser>
        <c:dLbls>
          <c:showLegendKey val="0"/>
          <c:showVal val="0"/>
          <c:showCatName val="0"/>
          <c:showSerName val="0"/>
          <c:showPercent val="0"/>
          <c:showBubbleSize val="0"/>
          <c:showLeaderLines val="0"/>
        </c:dLbls>
        <c:firstSliceAng val="0"/>
        <c:holeSize val="55"/>
      </c:doughnutChart>
      <c:spPr>
        <a:noFill/>
        <a:ln w="12700" cap="flat">
          <a:solidFill>
            <a:srgbClr val="FFFFFF"/>
          </a:solidFill>
        </a:ln>
        <a:effectLst/>
      </c:spPr>
    </c:plotArea>
    <c:legend>
      <c:legendPos val="b"/>
      <c:overlay val="0"/>
      <c:txPr>
        <a:bodyPr/>
        <a:lstStyle/>
        <a:p>
          <a:pPr>
            <a:defRPr sz="10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5675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phrase pour ouvrir : Fuzyo Copilot accompagne une équipe sur les neuf phases SDLC FUZYO, et rien ne part vers un cloud non choisi sans passer par le routeur de confidentialité. Le prototype tourne, la démo est un test automatisé, et le coût d'infrastructure est proche de zéro.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la demande dès le début : la restitution ne cherche pas l'approbation d'un prototype, elle cherche l'arbitrage sur deux chantiers précis.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ne pas demander un avis global sur le prototype. Demander un arbitrage sur deux chantiers nommés, avec la raison de chacun.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29400" y="0"/>
            <a:ext cx="5577840" cy="6858000"/>
          </a:xfrm>
          <a:prstGeom prst="rect">
            <a:avLst/>
          </a:prstGeom>
          <a:solidFill>
            <a:srgbClr val="F3F6FA"/>
          </a:solidFill>
          <a:ln w="9525">
            <a:solidFill>
              <a:srgbClr val="F3F6FA"/>
            </a:solidFill>
            <a:prstDash val="solid"/>
          </a:ln>
        </p:spPr>
      </p:sp>
      <p:sp>
        <p:nvSpPr>
          <p:cNvPr id="3" name="Text 1"/>
          <p:cNvSpPr txBox="1"/>
          <p:nvPr/>
        </p:nvSpPr>
        <p:spPr>
          <a:xfrm>
            <a:off x="777240" y="1417320"/>
            <a:ext cx="5486400" cy="256032"/>
          </a:xfrm>
          <a:prstGeom prst="rect">
            <a:avLst/>
          </a:prstGeom>
          <a:noFill/>
          <a:ln/>
        </p:spPr>
        <p:txBody>
          <a:bodyPr wrap="square" lIns="0" tIns="0" rIns="0" bIns="0" rtlCol="0" anchor="t"/>
          <a:lstStyle/>
          <a:p>
            <a:pPr marL="0" indent="0" algn="l">
              <a:lnSpc>
                <a:spcPct val="108000"/>
              </a:lnSpc>
              <a:buNone/>
            </a:pPr>
            <a:r>
              <a:rPr lang="en-US" sz="1150" b="1" kern="0" spc="250" dirty="0">
                <a:solidFill>
                  <a:srgbClr val="0E8A6A"/>
                </a:solidFill>
                <a:latin typeface="Calibri" pitchFamily="34" charset="0"/>
                <a:ea typeface="Calibri" pitchFamily="34" charset="-122"/>
                <a:cs typeface="Calibri" pitchFamily="34" charset="-120"/>
              </a:rPr>
              <a:t>FUZYO FRANCE SAS</a:t>
            </a:r>
            <a:endParaRPr lang="en-US" sz="1150" dirty="0"/>
          </a:p>
        </p:txBody>
      </p:sp>
      <p:sp>
        <p:nvSpPr>
          <p:cNvPr id="4" name="Text 2"/>
          <p:cNvSpPr txBox="1"/>
          <p:nvPr/>
        </p:nvSpPr>
        <p:spPr>
          <a:xfrm>
            <a:off x="749808" y="1737360"/>
            <a:ext cx="5669280" cy="914400"/>
          </a:xfrm>
          <a:prstGeom prst="rect">
            <a:avLst/>
          </a:prstGeom>
          <a:noFill/>
          <a:ln/>
        </p:spPr>
        <p:txBody>
          <a:bodyPr wrap="square" lIns="0" tIns="0" rIns="0" bIns="0" rtlCol="0" anchor="t"/>
          <a:lstStyle/>
          <a:p>
            <a:pPr marL="0" indent="0" algn="l">
              <a:lnSpc>
                <a:spcPct val="108000"/>
              </a:lnSpc>
              <a:buNone/>
            </a:pPr>
            <a:r>
              <a:rPr lang="en-US" sz="5000" b="1" kern="0" spc="-120" dirty="0">
                <a:solidFill>
                  <a:srgbClr val="10243E"/>
                </a:solidFill>
                <a:latin typeface="Calibri" pitchFamily="34" charset="0"/>
                <a:ea typeface="Calibri" pitchFamily="34" charset="-122"/>
                <a:cs typeface="Calibri" pitchFamily="34" charset="-120"/>
              </a:rPr>
              <a:t>Fuzyo Copilot</a:t>
            </a:r>
            <a:endParaRPr lang="en-US" sz="5000" dirty="0"/>
          </a:p>
        </p:txBody>
      </p:sp>
      <p:sp>
        <p:nvSpPr>
          <p:cNvPr id="5" name="Shape 3"/>
          <p:cNvSpPr/>
          <p:nvPr/>
        </p:nvSpPr>
        <p:spPr>
          <a:xfrm>
            <a:off x="777240" y="2743200"/>
            <a:ext cx="1554480" cy="41148"/>
          </a:xfrm>
          <a:prstGeom prst="rect">
            <a:avLst/>
          </a:prstGeom>
          <a:solidFill>
            <a:srgbClr val="0E8A6A"/>
          </a:solidFill>
          <a:ln w="12700">
            <a:solidFill>
              <a:srgbClr val="0E8A6A"/>
            </a:solidFill>
            <a:prstDash val="solid"/>
          </a:ln>
        </p:spPr>
      </p:sp>
      <p:sp>
        <p:nvSpPr>
          <p:cNvPr id="6" name="Text 4"/>
          <p:cNvSpPr txBox="1"/>
          <p:nvPr/>
        </p:nvSpPr>
        <p:spPr>
          <a:xfrm>
            <a:off x="777240" y="2971800"/>
            <a:ext cx="5486400" cy="822960"/>
          </a:xfrm>
          <a:prstGeom prst="rect">
            <a:avLst/>
          </a:prstGeom>
          <a:noFill/>
          <a:ln/>
        </p:spPr>
        <p:txBody>
          <a:bodyPr wrap="square" lIns="0" tIns="0" rIns="0" bIns="0" rtlCol="0" anchor="t"/>
          <a:lstStyle/>
          <a:p>
            <a:pPr marL="0" indent="0" algn="l">
              <a:lnSpc>
                <a:spcPct val="120000"/>
              </a:lnSpc>
              <a:buNone/>
            </a:pPr>
            <a:r>
              <a:rPr lang="en-US" sz="1900" dirty="0">
                <a:solidFill>
                  <a:srgbClr val="3F546B"/>
                </a:solidFill>
                <a:latin typeface="Calibri" pitchFamily="34" charset="0"/>
                <a:ea typeface="Calibri" pitchFamily="34" charset="-122"/>
                <a:cs typeface="Calibri" pitchFamily="34" charset="-120"/>
              </a:rPr>
              <a:t>Assistant SDLC souverain.</a:t>
            </a:r>
            <a:endParaRPr lang="en-US" sz="1900" dirty="0"/>
          </a:p>
          <a:p>
            <a:pPr marL="0" indent="0" algn="l">
              <a:lnSpc>
                <a:spcPct val="120000"/>
              </a:lnSpc>
              <a:buNone/>
            </a:pPr>
            <a:r>
              <a:rPr lang="en-US" sz="1900" dirty="0">
                <a:solidFill>
                  <a:srgbClr val="3F546B"/>
                </a:solidFill>
                <a:latin typeface="Calibri" pitchFamily="34" charset="0"/>
                <a:ea typeface="Calibri" pitchFamily="34" charset="-122"/>
                <a:cs typeface="Calibri" pitchFamily="34" charset="-120"/>
              </a:rPr>
              <a:t>Neuf phases, un seul chat.</a:t>
            </a:r>
            <a:endParaRPr lang="en-US" sz="1900" dirty="0"/>
          </a:p>
        </p:txBody>
      </p:sp>
      <p:sp>
        <p:nvSpPr>
          <p:cNvPr id="7" name="Text 5"/>
          <p:cNvSpPr txBox="1"/>
          <p:nvPr/>
        </p:nvSpPr>
        <p:spPr>
          <a:xfrm>
            <a:off x="777240" y="3977640"/>
            <a:ext cx="5486400" cy="548640"/>
          </a:xfrm>
          <a:prstGeom prst="rect">
            <a:avLst/>
          </a:prstGeom>
          <a:noFill/>
          <a:ln/>
        </p:spPr>
        <p:txBody>
          <a:bodyPr wrap="square" lIns="0" tIns="0" rIns="0" bIns="0" rtlCol="0" anchor="t"/>
          <a:lstStyle/>
          <a:p>
            <a:pPr marL="0" indent="0" algn="l">
              <a:lnSpc>
                <a:spcPct val="115000"/>
              </a:lnSpc>
              <a:buNone/>
            </a:pPr>
            <a:r>
              <a:rPr lang="en-US" sz="1250" i="1" dirty="0">
                <a:solidFill>
                  <a:srgbClr val="8697AB"/>
                </a:solidFill>
                <a:latin typeface="Calibri" pitchFamily="34" charset="0"/>
                <a:ea typeface="Calibri" pitchFamily="34" charset="-122"/>
                <a:cs typeface="Calibri" pitchFamily="34" charset="-120"/>
              </a:rPr>
              <a:t>Restitution 2026 — ce qui est livré, ce qui ne l’est pas, et ce que ça coûte de finir.</a:t>
            </a:r>
            <a:endParaRPr lang="en-US" sz="1250" dirty="0"/>
          </a:p>
        </p:txBody>
      </p:sp>
      <p:sp>
        <p:nvSpPr>
          <p:cNvPr id="8" name="Text 6"/>
          <p:cNvSpPr txBox="1"/>
          <p:nvPr/>
        </p:nvSpPr>
        <p:spPr>
          <a:xfrm>
            <a:off x="777240" y="5943600"/>
            <a:ext cx="548640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ourier New" pitchFamily="34" charset="0"/>
                <a:ea typeface="Courier New" pitchFamily="34" charset="-122"/>
                <a:cs typeface="Courier New" pitchFamily="34" charset="-120"/>
              </a:rPr>
              <a:t>Prototype opérationnel · sources : CDC, SFD, DAT, ROADMAP, code</a:t>
            </a:r>
            <a:endParaRPr lang="en-US" sz="1050" dirty="0"/>
          </a:p>
        </p:txBody>
      </p:sp>
      <p:sp>
        <p:nvSpPr>
          <p:cNvPr id="9" name="Shape 7"/>
          <p:cNvSpPr/>
          <p:nvPr/>
        </p:nvSpPr>
        <p:spPr>
          <a:xfrm>
            <a:off x="7315200" y="1417320"/>
            <a:ext cx="4206240" cy="658368"/>
          </a:xfrm>
          <a:prstGeom prst="roundRect">
            <a:avLst>
              <a:gd name="adj" fmla="val 6944"/>
            </a:avLst>
          </a:prstGeom>
          <a:solidFill>
            <a:srgbClr val="FFFFFF"/>
          </a:solidFill>
          <a:ln w="9525">
            <a:solidFill>
              <a:srgbClr val="D8E1EC"/>
            </a:solidFill>
            <a:prstDash val="solid"/>
          </a:ln>
        </p:spPr>
      </p:sp>
      <p:sp>
        <p:nvSpPr>
          <p:cNvPr id="10" name="Text 8"/>
          <p:cNvSpPr txBox="1"/>
          <p:nvPr/>
        </p:nvSpPr>
        <p:spPr>
          <a:xfrm>
            <a:off x="7516368" y="1499616"/>
            <a:ext cx="3803904" cy="237744"/>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Interface</a:t>
            </a:r>
            <a:endParaRPr lang="en-US" sz="1150" dirty="0"/>
          </a:p>
        </p:txBody>
      </p:sp>
      <p:sp>
        <p:nvSpPr>
          <p:cNvPr id="11" name="Text 9"/>
          <p:cNvSpPr txBox="1"/>
          <p:nvPr/>
        </p:nvSpPr>
        <p:spPr>
          <a:xfrm>
            <a:off x="7516368" y="1746504"/>
            <a:ext cx="3803904" cy="237744"/>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React 19 · Vite 6</a:t>
            </a:r>
            <a:endParaRPr lang="en-US" sz="950" dirty="0"/>
          </a:p>
        </p:txBody>
      </p:sp>
      <p:sp>
        <p:nvSpPr>
          <p:cNvPr id="12" name="Shape 10"/>
          <p:cNvSpPr/>
          <p:nvPr/>
        </p:nvSpPr>
        <p:spPr>
          <a:xfrm>
            <a:off x="9418320" y="2093976"/>
            <a:ext cx="0" cy="173736"/>
          </a:xfrm>
          <a:prstGeom prst="line">
            <a:avLst/>
          </a:prstGeom>
          <a:noFill/>
          <a:ln w="15875">
            <a:solidFill>
              <a:srgbClr val="9AACBF"/>
            </a:solidFill>
            <a:prstDash val="solid"/>
            <a:tailEnd type="triangle"/>
          </a:ln>
        </p:spPr>
      </p:sp>
      <p:sp>
        <p:nvSpPr>
          <p:cNvPr id="13" name="Shape 11"/>
          <p:cNvSpPr/>
          <p:nvPr/>
        </p:nvSpPr>
        <p:spPr>
          <a:xfrm>
            <a:off x="7315200" y="2286000"/>
            <a:ext cx="4206240" cy="658368"/>
          </a:xfrm>
          <a:prstGeom prst="roundRect">
            <a:avLst>
              <a:gd name="adj" fmla="val 6944"/>
            </a:avLst>
          </a:prstGeom>
          <a:solidFill>
            <a:srgbClr val="FFFFFF"/>
          </a:solidFill>
          <a:ln w="9525">
            <a:solidFill>
              <a:srgbClr val="D8E1EC"/>
            </a:solidFill>
            <a:prstDash val="solid"/>
          </a:ln>
        </p:spPr>
      </p:sp>
      <p:sp>
        <p:nvSpPr>
          <p:cNvPr id="14" name="Text 12"/>
          <p:cNvSpPr txBox="1"/>
          <p:nvPr/>
        </p:nvSpPr>
        <p:spPr>
          <a:xfrm>
            <a:off x="7516368" y="2368296"/>
            <a:ext cx="3803904" cy="237744"/>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API</a:t>
            </a:r>
            <a:endParaRPr lang="en-US" sz="1150" dirty="0"/>
          </a:p>
        </p:txBody>
      </p:sp>
      <p:sp>
        <p:nvSpPr>
          <p:cNvPr id="15" name="Text 13"/>
          <p:cNvSpPr txBox="1"/>
          <p:nvPr/>
        </p:nvSpPr>
        <p:spPr>
          <a:xfrm>
            <a:off x="7516368" y="2615184"/>
            <a:ext cx="3803904" cy="237744"/>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FastAPI · SSE</a:t>
            </a:r>
            <a:endParaRPr lang="en-US" sz="950" dirty="0"/>
          </a:p>
        </p:txBody>
      </p:sp>
      <p:sp>
        <p:nvSpPr>
          <p:cNvPr id="16" name="Shape 14"/>
          <p:cNvSpPr/>
          <p:nvPr/>
        </p:nvSpPr>
        <p:spPr>
          <a:xfrm>
            <a:off x="9418320" y="2962656"/>
            <a:ext cx="0" cy="173736"/>
          </a:xfrm>
          <a:prstGeom prst="line">
            <a:avLst/>
          </a:prstGeom>
          <a:noFill/>
          <a:ln w="15875">
            <a:solidFill>
              <a:srgbClr val="9AACBF"/>
            </a:solidFill>
            <a:prstDash val="solid"/>
            <a:tailEnd type="triangle"/>
          </a:ln>
        </p:spPr>
      </p:sp>
      <p:sp>
        <p:nvSpPr>
          <p:cNvPr id="17" name="Shape 15"/>
          <p:cNvSpPr/>
          <p:nvPr/>
        </p:nvSpPr>
        <p:spPr>
          <a:xfrm>
            <a:off x="7315200" y="3154680"/>
            <a:ext cx="4206240" cy="658368"/>
          </a:xfrm>
          <a:prstGeom prst="roundRect">
            <a:avLst>
              <a:gd name="adj" fmla="val 6944"/>
            </a:avLst>
          </a:prstGeom>
          <a:solidFill>
            <a:srgbClr val="E6F4EF"/>
          </a:solidFill>
          <a:ln w="9525">
            <a:solidFill>
              <a:srgbClr val="0E8A6A"/>
            </a:solidFill>
            <a:prstDash val="solid"/>
          </a:ln>
        </p:spPr>
      </p:sp>
      <p:sp>
        <p:nvSpPr>
          <p:cNvPr id="18" name="Text 16"/>
          <p:cNvSpPr txBox="1"/>
          <p:nvPr/>
        </p:nvSpPr>
        <p:spPr>
          <a:xfrm>
            <a:off x="7516368" y="3236976"/>
            <a:ext cx="3803904" cy="237744"/>
          </a:xfrm>
          <a:prstGeom prst="rect">
            <a:avLst/>
          </a:prstGeom>
          <a:noFill/>
          <a:ln/>
        </p:spPr>
        <p:txBody>
          <a:bodyPr wrap="square" lIns="0" tIns="0" rIns="0" bIns="0" rtlCol="0" anchor="t"/>
          <a:lstStyle/>
          <a:p>
            <a:pPr marL="0" indent="0" algn="l">
              <a:lnSpc>
                <a:spcPct val="108000"/>
              </a:lnSpc>
              <a:buNone/>
            </a:pPr>
            <a:r>
              <a:rPr lang="en-US" sz="1150" b="1" dirty="0">
                <a:solidFill>
                  <a:srgbClr val="0E8A6A"/>
                </a:solidFill>
                <a:latin typeface="Calibri" pitchFamily="34" charset="0"/>
                <a:ea typeface="Calibri" pitchFamily="34" charset="-122"/>
                <a:cs typeface="Calibri" pitchFamily="34" charset="-120"/>
              </a:rPr>
              <a:t>Intelligence</a:t>
            </a:r>
            <a:endParaRPr lang="en-US" sz="1150" dirty="0"/>
          </a:p>
        </p:txBody>
      </p:sp>
      <p:sp>
        <p:nvSpPr>
          <p:cNvPr id="19" name="Text 17"/>
          <p:cNvSpPr txBox="1"/>
          <p:nvPr/>
        </p:nvSpPr>
        <p:spPr>
          <a:xfrm>
            <a:off x="7516368" y="3483864"/>
            <a:ext cx="3803904" cy="237744"/>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Routeur · RAG · Gatekeeper</a:t>
            </a:r>
            <a:endParaRPr lang="en-US" sz="950" dirty="0"/>
          </a:p>
        </p:txBody>
      </p:sp>
      <p:sp>
        <p:nvSpPr>
          <p:cNvPr id="20" name="Shape 18"/>
          <p:cNvSpPr/>
          <p:nvPr/>
        </p:nvSpPr>
        <p:spPr>
          <a:xfrm>
            <a:off x="9418320" y="3831336"/>
            <a:ext cx="0" cy="173736"/>
          </a:xfrm>
          <a:prstGeom prst="line">
            <a:avLst/>
          </a:prstGeom>
          <a:noFill/>
          <a:ln w="15875">
            <a:solidFill>
              <a:srgbClr val="9AACBF"/>
            </a:solidFill>
            <a:prstDash val="solid"/>
            <a:tailEnd type="triangle"/>
          </a:ln>
        </p:spPr>
      </p:sp>
      <p:sp>
        <p:nvSpPr>
          <p:cNvPr id="21" name="Shape 19"/>
          <p:cNvSpPr/>
          <p:nvPr/>
        </p:nvSpPr>
        <p:spPr>
          <a:xfrm>
            <a:off x="7315200" y="4023360"/>
            <a:ext cx="4206240" cy="658368"/>
          </a:xfrm>
          <a:prstGeom prst="roundRect">
            <a:avLst>
              <a:gd name="adj" fmla="val 6944"/>
            </a:avLst>
          </a:prstGeom>
          <a:solidFill>
            <a:srgbClr val="FFFFFF"/>
          </a:solidFill>
          <a:ln w="9525">
            <a:solidFill>
              <a:srgbClr val="D8E1EC"/>
            </a:solidFill>
            <a:prstDash val="solid"/>
          </a:ln>
        </p:spPr>
      </p:sp>
      <p:sp>
        <p:nvSpPr>
          <p:cNvPr id="22" name="Text 20"/>
          <p:cNvSpPr txBox="1"/>
          <p:nvPr/>
        </p:nvSpPr>
        <p:spPr>
          <a:xfrm>
            <a:off x="7516368" y="4105656"/>
            <a:ext cx="3803904" cy="237744"/>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Modèles</a:t>
            </a:r>
            <a:endParaRPr lang="en-US" sz="1150" dirty="0"/>
          </a:p>
        </p:txBody>
      </p:sp>
      <p:sp>
        <p:nvSpPr>
          <p:cNvPr id="23" name="Text 21"/>
          <p:cNvSpPr txBox="1"/>
          <p:nvPr/>
        </p:nvSpPr>
        <p:spPr>
          <a:xfrm>
            <a:off x="7516368" y="4352544"/>
            <a:ext cx="3803904" cy="237744"/>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6 fournisseurs + stub local</a:t>
            </a:r>
            <a:endParaRPr lang="en-US" sz="950" dirty="0"/>
          </a:p>
        </p:txBody>
      </p:sp>
      <p:sp>
        <p:nvSpPr>
          <p:cNvPr id="24" name="Shape 22"/>
          <p:cNvSpPr/>
          <p:nvPr/>
        </p:nvSpPr>
        <p:spPr>
          <a:xfrm>
            <a:off x="9418320" y="4700016"/>
            <a:ext cx="0" cy="173736"/>
          </a:xfrm>
          <a:prstGeom prst="line">
            <a:avLst/>
          </a:prstGeom>
          <a:noFill/>
          <a:ln w="15875">
            <a:solidFill>
              <a:srgbClr val="9AACBF"/>
            </a:solidFill>
            <a:prstDash val="solid"/>
            <a:tailEnd type="triangle"/>
          </a:ln>
        </p:spPr>
      </p:sp>
      <p:sp>
        <p:nvSpPr>
          <p:cNvPr id="25" name="Shape 23"/>
          <p:cNvSpPr/>
          <p:nvPr/>
        </p:nvSpPr>
        <p:spPr>
          <a:xfrm>
            <a:off x="7315200" y="4892040"/>
            <a:ext cx="4206240" cy="658368"/>
          </a:xfrm>
          <a:prstGeom prst="roundRect">
            <a:avLst>
              <a:gd name="adj" fmla="val 6944"/>
            </a:avLst>
          </a:prstGeom>
          <a:solidFill>
            <a:srgbClr val="FFFFFF"/>
          </a:solidFill>
          <a:ln w="9525">
            <a:solidFill>
              <a:srgbClr val="D8E1EC"/>
            </a:solidFill>
            <a:prstDash val="solid"/>
          </a:ln>
        </p:spPr>
      </p:sp>
      <p:sp>
        <p:nvSpPr>
          <p:cNvPr id="26" name="Text 24"/>
          <p:cNvSpPr txBox="1"/>
          <p:nvPr/>
        </p:nvSpPr>
        <p:spPr>
          <a:xfrm>
            <a:off x="7516368" y="4974336"/>
            <a:ext cx="3803904" cy="237744"/>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Persistance</a:t>
            </a:r>
            <a:endParaRPr lang="en-US" sz="1150" dirty="0"/>
          </a:p>
        </p:txBody>
      </p:sp>
      <p:sp>
        <p:nvSpPr>
          <p:cNvPr id="27" name="Text 25"/>
          <p:cNvSpPr txBox="1"/>
          <p:nvPr/>
        </p:nvSpPr>
        <p:spPr>
          <a:xfrm>
            <a:off x="7516368" y="5221224"/>
            <a:ext cx="3803904" cy="237744"/>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Postgres · pgvector · FS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03</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LA THÈSE</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Un chat unique qui connaît les neuf phases, et une garantie : rien ne sort sans autorisation.</a:t>
            </a:r>
            <a:endParaRPr lang="en-US" sz="2700" dirty="0"/>
          </a:p>
        </p:txBody>
      </p:sp>
      <p:sp>
        <p:nvSpPr>
          <p:cNvPr id="5" name="Shape 3"/>
          <p:cNvSpPr/>
          <p:nvPr/>
        </p:nvSpPr>
        <p:spPr>
          <a:xfrm>
            <a:off x="548640" y="1783080"/>
            <a:ext cx="2651760" cy="3017520"/>
          </a:xfrm>
          <a:prstGeom prst="roundRect">
            <a:avLst>
              <a:gd name="adj" fmla="val 1724"/>
            </a:avLst>
          </a:prstGeom>
          <a:solidFill>
            <a:srgbClr val="F3F6FA"/>
          </a:solidFill>
          <a:ln w="9525">
            <a:solidFill>
              <a:srgbClr val="D8E1EC"/>
            </a:solidFill>
            <a:prstDash val="solid"/>
          </a:ln>
        </p:spPr>
      </p:sp>
      <p:sp>
        <p:nvSpPr>
          <p:cNvPr id="6" name="Text 4"/>
          <p:cNvSpPr txBox="1"/>
          <p:nvPr/>
        </p:nvSpPr>
        <p:spPr>
          <a:xfrm>
            <a:off x="768096" y="1965960"/>
            <a:ext cx="2194560" cy="274320"/>
          </a:xfrm>
          <a:prstGeom prst="rect">
            <a:avLst/>
          </a:prstGeom>
          <a:noFill/>
          <a:ln/>
        </p:spPr>
        <p:txBody>
          <a:bodyPr wrap="square" lIns="0" tIns="0" rIns="0" bIns="0" rtlCol="0" anchor="t"/>
          <a:lstStyle/>
          <a:p>
            <a:pPr marL="0" indent="0" algn="l">
              <a:lnSpc>
                <a:spcPct val="108000"/>
              </a:lnSpc>
              <a:buNone/>
            </a:pPr>
            <a:r>
              <a:rPr lang="en-US" sz="1300" b="1" dirty="0">
                <a:solidFill>
                  <a:srgbClr val="8697AB"/>
                </a:solidFill>
                <a:latin typeface="Courier New" pitchFamily="34" charset="0"/>
                <a:ea typeface="Courier New" pitchFamily="34" charset="-122"/>
                <a:cs typeface="Courier New" pitchFamily="34" charset="-120"/>
              </a:rPr>
              <a:t>01</a:t>
            </a:r>
            <a:endParaRPr lang="en-US" sz="1300" dirty="0"/>
          </a:p>
        </p:txBody>
      </p:sp>
      <p:sp>
        <p:nvSpPr>
          <p:cNvPr id="7" name="Text 5"/>
          <p:cNvSpPr txBox="1"/>
          <p:nvPr/>
        </p:nvSpPr>
        <p:spPr>
          <a:xfrm>
            <a:off x="768096" y="2286000"/>
            <a:ext cx="2240280" cy="292608"/>
          </a:xfrm>
          <a:prstGeom prst="rect">
            <a:avLst/>
          </a:prstGeom>
          <a:noFill/>
          <a:ln/>
        </p:spPr>
        <p:txBody>
          <a:bodyPr wrap="square" lIns="0" tIns="0" rIns="0" bIns="0" rtlCol="0" anchor="t"/>
          <a:lstStyle/>
          <a:p>
            <a:pPr marL="0" indent="0" algn="l">
              <a:lnSpc>
                <a:spcPct val="108000"/>
              </a:lnSpc>
              <a:buNone/>
            </a:pPr>
            <a:r>
              <a:rPr lang="en-US" sz="1550" b="1" dirty="0">
                <a:solidFill>
                  <a:srgbClr val="10243E"/>
                </a:solidFill>
                <a:latin typeface="Calibri" pitchFamily="34" charset="0"/>
                <a:ea typeface="Calibri" pitchFamily="34" charset="-122"/>
                <a:cs typeface="Calibri" pitchFamily="34" charset="-120"/>
              </a:rPr>
              <a:t>Il structure</a:t>
            </a:r>
            <a:endParaRPr lang="en-US" sz="1550" dirty="0"/>
          </a:p>
        </p:txBody>
      </p:sp>
      <p:sp>
        <p:nvSpPr>
          <p:cNvPr id="8" name="Text 6"/>
          <p:cNvSpPr txBox="1"/>
          <p:nvPr/>
        </p:nvSpPr>
        <p:spPr>
          <a:xfrm>
            <a:off x="768096" y="2670048"/>
            <a:ext cx="2240280" cy="201168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Neuf phases nommées, chacune avec son prompt système, son format de sortie et son livrable. Le SDLC n’est pas un thème, c’est le squelette du produit.</a:t>
            </a:r>
            <a:endParaRPr lang="en-US" sz="1100" dirty="0"/>
          </a:p>
        </p:txBody>
      </p:sp>
      <p:sp>
        <p:nvSpPr>
          <p:cNvPr id="9" name="Shape 7"/>
          <p:cNvSpPr/>
          <p:nvPr/>
        </p:nvSpPr>
        <p:spPr>
          <a:xfrm>
            <a:off x="3401568" y="1783080"/>
            <a:ext cx="2651760" cy="3017520"/>
          </a:xfrm>
          <a:prstGeom prst="roundRect">
            <a:avLst>
              <a:gd name="adj" fmla="val 1724"/>
            </a:avLst>
          </a:prstGeom>
          <a:solidFill>
            <a:srgbClr val="E6F4EF"/>
          </a:solidFill>
          <a:ln w="9525">
            <a:solidFill>
              <a:srgbClr val="0E8A6A"/>
            </a:solidFill>
            <a:prstDash val="solid"/>
          </a:ln>
        </p:spPr>
      </p:sp>
      <p:sp>
        <p:nvSpPr>
          <p:cNvPr id="10" name="Text 8"/>
          <p:cNvSpPr txBox="1"/>
          <p:nvPr/>
        </p:nvSpPr>
        <p:spPr>
          <a:xfrm>
            <a:off x="3621024" y="1965960"/>
            <a:ext cx="219456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02</a:t>
            </a:r>
            <a:endParaRPr lang="en-US" sz="1300" dirty="0"/>
          </a:p>
        </p:txBody>
      </p:sp>
      <p:sp>
        <p:nvSpPr>
          <p:cNvPr id="11" name="Text 9"/>
          <p:cNvSpPr txBox="1"/>
          <p:nvPr/>
        </p:nvSpPr>
        <p:spPr>
          <a:xfrm>
            <a:off x="3621024" y="2286000"/>
            <a:ext cx="2240280" cy="292608"/>
          </a:xfrm>
          <a:prstGeom prst="rect">
            <a:avLst/>
          </a:prstGeom>
          <a:noFill/>
          <a:ln/>
        </p:spPr>
        <p:txBody>
          <a:bodyPr wrap="square" lIns="0" tIns="0" rIns="0" bIns="0" rtlCol="0" anchor="t"/>
          <a:lstStyle/>
          <a:p>
            <a:pPr marL="0" indent="0" algn="l">
              <a:lnSpc>
                <a:spcPct val="108000"/>
              </a:lnSpc>
              <a:buNone/>
            </a:pPr>
            <a:r>
              <a:rPr lang="en-US" sz="1550" b="1" dirty="0">
                <a:solidFill>
                  <a:srgbClr val="10243E"/>
                </a:solidFill>
                <a:latin typeface="Calibri" pitchFamily="34" charset="0"/>
                <a:ea typeface="Calibri" pitchFamily="34" charset="-122"/>
                <a:cs typeface="Calibri" pitchFamily="34" charset="-120"/>
              </a:rPr>
              <a:t>Il protège</a:t>
            </a:r>
            <a:endParaRPr lang="en-US" sz="1550" dirty="0"/>
          </a:p>
        </p:txBody>
      </p:sp>
      <p:sp>
        <p:nvSpPr>
          <p:cNvPr id="12" name="Text 10"/>
          <p:cNvSpPr txBox="1"/>
          <p:nvPr/>
        </p:nvSpPr>
        <p:spPr>
          <a:xfrm>
            <a:off x="3621024" y="2670048"/>
            <a:ext cx="2240280" cy="201168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Bascule Confidential, détection de secrets, score de sensibilité. Le routeur est en amont de tout appel réseau — l’interface ne peut pas le contourner.</a:t>
            </a:r>
            <a:endParaRPr lang="en-US" sz="1100" dirty="0"/>
          </a:p>
        </p:txBody>
      </p:sp>
      <p:sp>
        <p:nvSpPr>
          <p:cNvPr id="13" name="Shape 11"/>
          <p:cNvSpPr/>
          <p:nvPr/>
        </p:nvSpPr>
        <p:spPr>
          <a:xfrm>
            <a:off x="6254496" y="1783080"/>
            <a:ext cx="2651760" cy="3017520"/>
          </a:xfrm>
          <a:prstGeom prst="roundRect">
            <a:avLst>
              <a:gd name="adj" fmla="val 1724"/>
            </a:avLst>
          </a:prstGeom>
          <a:solidFill>
            <a:srgbClr val="F3F6FA"/>
          </a:solidFill>
          <a:ln w="9525">
            <a:solidFill>
              <a:srgbClr val="D8E1EC"/>
            </a:solidFill>
            <a:prstDash val="solid"/>
          </a:ln>
        </p:spPr>
      </p:sp>
      <p:sp>
        <p:nvSpPr>
          <p:cNvPr id="14" name="Text 12"/>
          <p:cNvSpPr txBox="1"/>
          <p:nvPr/>
        </p:nvSpPr>
        <p:spPr>
          <a:xfrm>
            <a:off x="6473952" y="1965960"/>
            <a:ext cx="2194560" cy="274320"/>
          </a:xfrm>
          <a:prstGeom prst="rect">
            <a:avLst/>
          </a:prstGeom>
          <a:noFill/>
          <a:ln/>
        </p:spPr>
        <p:txBody>
          <a:bodyPr wrap="square" lIns="0" tIns="0" rIns="0" bIns="0" rtlCol="0" anchor="t"/>
          <a:lstStyle/>
          <a:p>
            <a:pPr marL="0" indent="0" algn="l">
              <a:lnSpc>
                <a:spcPct val="108000"/>
              </a:lnSpc>
              <a:buNone/>
            </a:pPr>
            <a:r>
              <a:rPr lang="en-US" sz="1300" b="1" dirty="0">
                <a:solidFill>
                  <a:srgbClr val="8697AB"/>
                </a:solidFill>
                <a:latin typeface="Courier New" pitchFamily="34" charset="0"/>
                <a:ea typeface="Courier New" pitchFamily="34" charset="-122"/>
                <a:cs typeface="Courier New" pitchFamily="34" charset="-120"/>
              </a:rPr>
              <a:t>03</a:t>
            </a:r>
            <a:endParaRPr lang="en-US" sz="1300" dirty="0"/>
          </a:p>
        </p:txBody>
      </p:sp>
      <p:sp>
        <p:nvSpPr>
          <p:cNvPr id="15" name="Text 13"/>
          <p:cNvSpPr txBox="1"/>
          <p:nvPr/>
        </p:nvSpPr>
        <p:spPr>
          <a:xfrm>
            <a:off x="6473952" y="2286000"/>
            <a:ext cx="2240280" cy="292608"/>
          </a:xfrm>
          <a:prstGeom prst="rect">
            <a:avLst/>
          </a:prstGeom>
          <a:noFill/>
          <a:ln/>
        </p:spPr>
        <p:txBody>
          <a:bodyPr wrap="square" lIns="0" tIns="0" rIns="0" bIns="0" rtlCol="0" anchor="t"/>
          <a:lstStyle/>
          <a:p>
            <a:pPr marL="0" indent="0" algn="l">
              <a:lnSpc>
                <a:spcPct val="108000"/>
              </a:lnSpc>
              <a:buNone/>
            </a:pPr>
            <a:r>
              <a:rPr lang="en-US" sz="1550" b="1" dirty="0">
                <a:solidFill>
                  <a:srgbClr val="10243E"/>
                </a:solidFill>
                <a:latin typeface="Calibri" pitchFamily="34" charset="0"/>
                <a:ea typeface="Calibri" pitchFamily="34" charset="-122"/>
                <a:cs typeface="Calibri" pitchFamily="34" charset="-120"/>
              </a:rPr>
              <a:t>Il prouve</a:t>
            </a:r>
            <a:endParaRPr lang="en-US" sz="1550" dirty="0"/>
          </a:p>
        </p:txBody>
      </p:sp>
      <p:sp>
        <p:nvSpPr>
          <p:cNvPr id="16" name="Text 14"/>
          <p:cNvSpPr txBox="1"/>
          <p:nvPr/>
        </p:nvSpPr>
        <p:spPr>
          <a:xfrm>
            <a:off x="6473952" y="2670048"/>
            <a:ext cx="2240280" cy="201168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Chaque réponse expose son routage, ses extraits RAG et ses trois scores de qualité. Auditable, pas déclaratif.</a:t>
            </a:r>
            <a:endParaRPr lang="en-US" sz="1100" dirty="0"/>
          </a:p>
        </p:txBody>
      </p:sp>
      <p:sp>
        <p:nvSpPr>
          <p:cNvPr id="17" name="Shape 15"/>
          <p:cNvSpPr/>
          <p:nvPr/>
        </p:nvSpPr>
        <p:spPr>
          <a:xfrm>
            <a:off x="9107424" y="1783080"/>
            <a:ext cx="2651760" cy="3017520"/>
          </a:xfrm>
          <a:prstGeom prst="roundRect">
            <a:avLst>
              <a:gd name="adj" fmla="val 1724"/>
            </a:avLst>
          </a:prstGeom>
          <a:solidFill>
            <a:srgbClr val="F3F6FA"/>
          </a:solidFill>
          <a:ln w="9525">
            <a:solidFill>
              <a:srgbClr val="D8E1EC"/>
            </a:solidFill>
            <a:prstDash val="solid"/>
          </a:ln>
        </p:spPr>
      </p:sp>
      <p:sp>
        <p:nvSpPr>
          <p:cNvPr id="18" name="Text 16"/>
          <p:cNvSpPr txBox="1"/>
          <p:nvPr/>
        </p:nvSpPr>
        <p:spPr>
          <a:xfrm>
            <a:off x="9326880" y="1965960"/>
            <a:ext cx="2194560" cy="274320"/>
          </a:xfrm>
          <a:prstGeom prst="rect">
            <a:avLst/>
          </a:prstGeom>
          <a:noFill/>
          <a:ln/>
        </p:spPr>
        <p:txBody>
          <a:bodyPr wrap="square" lIns="0" tIns="0" rIns="0" bIns="0" rtlCol="0" anchor="t"/>
          <a:lstStyle/>
          <a:p>
            <a:pPr marL="0" indent="0" algn="l">
              <a:lnSpc>
                <a:spcPct val="108000"/>
              </a:lnSpc>
              <a:buNone/>
            </a:pPr>
            <a:r>
              <a:rPr lang="en-US" sz="1300" b="1" dirty="0">
                <a:solidFill>
                  <a:srgbClr val="8697AB"/>
                </a:solidFill>
                <a:latin typeface="Courier New" pitchFamily="34" charset="0"/>
                <a:ea typeface="Courier New" pitchFamily="34" charset="-122"/>
                <a:cs typeface="Courier New" pitchFamily="34" charset="-120"/>
              </a:rPr>
              <a:t>04</a:t>
            </a:r>
            <a:endParaRPr lang="en-US" sz="1300" dirty="0"/>
          </a:p>
        </p:txBody>
      </p:sp>
      <p:sp>
        <p:nvSpPr>
          <p:cNvPr id="19" name="Text 17"/>
          <p:cNvSpPr txBox="1"/>
          <p:nvPr/>
        </p:nvSpPr>
        <p:spPr>
          <a:xfrm>
            <a:off x="9326880" y="2286000"/>
            <a:ext cx="2240280" cy="292608"/>
          </a:xfrm>
          <a:prstGeom prst="rect">
            <a:avLst/>
          </a:prstGeom>
          <a:noFill/>
          <a:ln/>
        </p:spPr>
        <p:txBody>
          <a:bodyPr wrap="square" lIns="0" tIns="0" rIns="0" bIns="0" rtlCol="0" anchor="t"/>
          <a:lstStyle/>
          <a:p>
            <a:pPr marL="0" indent="0" algn="l">
              <a:lnSpc>
                <a:spcPct val="108000"/>
              </a:lnSpc>
              <a:buNone/>
            </a:pPr>
            <a:r>
              <a:rPr lang="en-US" sz="1550" b="1" dirty="0">
                <a:solidFill>
                  <a:srgbClr val="10243E"/>
                </a:solidFill>
                <a:latin typeface="Calibri" pitchFamily="34" charset="0"/>
                <a:ea typeface="Calibri" pitchFamily="34" charset="-122"/>
                <a:cs typeface="Calibri" pitchFamily="34" charset="-120"/>
              </a:rPr>
              <a:t>Il produit</a:t>
            </a:r>
            <a:endParaRPr lang="en-US" sz="1550" dirty="0"/>
          </a:p>
        </p:txBody>
      </p:sp>
      <p:sp>
        <p:nvSpPr>
          <p:cNvPr id="20" name="Text 18"/>
          <p:cNvSpPr txBox="1"/>
          <p:nvPr/>
        </p:nvSpPr>
        <p:spPr>
          <a:xfrm>
            <a:off x="9326880" y="2670048"/>
            <a:ext cx="2240280" cy="201168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CDC en .docx, ZIP de code, pipeline YAML, runbook. L’assistant écrit sur le disque du projet, sous allowlist.</a:t>
            </a:r>
            <a:endParaRPr lang="en-US" sz="1100" dirty="0"/>
          </a:p>
        </p:txBody>
      </p:sp>
      <p:sp>
        <p:nvSpPr>
          <p:cNvPr id="21" name="Shape 19"/>
          <p:cNvSpPr/>
          <p:nvPr/>
        </p:nvSpPr>
        <p:spPr>
          <a:xfrm>
            <a:off x="548640" y="5029200"/>
            <a:ext cx="11064240" cy="1051560"/>
          </a:xfrm>
          <a:prstGeom prst="roundRect">
            <a:avLst>
              <a:gd name="adj" fmla="val 4348"/>
            </a:avLst>
          </a:prstGeom>
          <a:solidFill>
            <a:srgbClr val="E8EEF6"/>
          </a:solidFill>
          <a:ln w="9525">
            <a:solidFill>
              <a:srgbClr val="D8E1EC"/>
            </a:solidFill>
            <a:prstDash val="solid"/>
          </a:ln>
        </p:spPr>
      </p:sp>
      <p:sp>
        <p:nvSpPr>
          <p:cNvPr id="22" name="Text 20"/>
          <p:cNvSpPr txBox="1"/>
          <p:nvPr/>
        </p:nvSpPr>
        <p:spPr>
          <a:xfrm>
            <a:off x="749808" y="5166360"/>
            <a:ext cx="10661904" cy="274320"/>
          </a:xfrm>
          <a:prstGeom prst="rect">
            <a:avLst/>
          </a:prstGeom>
          <a:noFill/>
          <a:ln/>
        </p:spPr>
        <p:txBody>
          <a:bodyPr wrap="square" lIns="0" tIns="0" rIns="0" bIns="0" rtlCol="0" anchor="t"/>
          <a:lstStyle/>
          <a:p>
            <a:pPr marL="0" indent="0" algn="l">
              <a:lnSpc>
                <a:spcPct val="108000"/>
              </a:lnSpc>
              <a:buNone/>
            </a:pPr>
            <a:r>
              <a:rPr lang="en-US" sz="1350" b="1" dirty="0">
                <a:solidFill>
                  <a:srgbClr val="10243E"/>
                </a:solidFill>
                <a:latin typeface="Calibri" pitchFamily="34" charset="0"/>
                <a:ea typeface="Calibri" pitchFamily="34" charset="-122"/>
                <a:cs typeface="Calibri" pitchFamily="34" charset="-120"/>
              </a:rPr>
              <a:t>Ce que je vous demande à la fin</a:t>
            </a:r>
            <a:endParaRPr lang="en-US" sz="1350" dirty="0"/>
          </a:p>
        </p:txBody>
      </p:sp>
      <p:sp>
        <p:nvSpPr>
          <p:cNvPr id="23" name="Text 21"/>
          <p:cNvSpPr txBox="1"/>
          <p:nvPr/>
        </p:nvSpPr>
        <p:spPr>
          <a:xfrm>
            <a:off x="749808" y="5504688"/>
            <a:ext cx="10661904" cy="448056"/>
          </a:xfrm>
          <a:prstGeom prst="rect">
            <a:avLst/>
          </a:prstGeom>
          <a:noFill/>
          <a:ln/>
        </p:spPr>
        <p:txBody>
          <a:bodyPr wrap="square" lIns="0" tIns="0" rIns="0" bIns="0" rtlCol="0" anchor="t"/>
          <a:lstStyle/>
          <a:p>
            <a:pPr marL="0" indent="0" algn="l">
              <a:lnSpc>
                <a:spcPct val="112000"/>
              </a:lnSpc>
              <a:buNone/>
            </a:pPr>
            <a:r>
              <a:rPr lang="en-US" sz="1200" dirty="0">
                <a:solidFill>
                  <a:srgbClr val="3F546B"/>
                </a:solidFill>
                <a:latin typeface="Calibri" pitchFamily="34" charset="0"/>
                <a:ea typeface="Calibri" pitchFamily="34" charset="-122"/>
                <a:cs typeface="Calibri" pitchFamily="34" charset="-120"/>
              </a:rPr>
              <a:t>Deux chantiers pour passer du prototype à l’outil : un LLM local réel à la place du stub, et la boucle de re-prompt du gatekeeper. Les trois autres écarts peuvent attendre.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04</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LE POINT DE DÉPART</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Deux coûts cachés — dont un peut mettre un contrat en défaut.</a:t>
            </a:r>
            <a:endParaRPr lang="en-US" sz="2700" dirty="0"/>
          </a:p>
        </p:txBody>
      </p:sp>
      <p:sp>
        <p:nvSpPr>
          <p:cNvPr id="5" name="Shape 3"/>
          <p:cNvSpPr/>
          <p:nvPr/>
        </p:nvSpPr>
        <p:spPr>
          <a:xfrm>
            <a:off x="548640" y="1828800"/>
            <a:ext cx="3246120" cy="1828800"/>
          </a:xfrm>
          <a:prstGeom prst="roundRect">
            <a:avLst>
              <a:gd name="adj" fmla="val 2500"/>
            </a:avLst>
          </a:prstGeom>
          <a:solidFill>
            <a:srgbClr val="F3F6FA"/>
          </a:solidFill>
          <a:ln w="9525">
            <a:solidFill>
              <a:srgbClr val="D8E1EC"/>
            </a:solidFill>
            <a:prstDash val="solid"/>
          </a:ln>
        </p:spPr>
      </p:sp>
      <p:sp>
        <p:nvSpPr>
          <p:cNvPr id="6" name="Text 4"/>
          <p:cNvSpPr txBox="1"/>
          <p:nvPr/>
        </p:nvSpPr>
        <p:spPr>
          <a:xfrm>
            <a:off x="640080" y="1993392"/>
            <a:ext cx="3063240" cy="640080"/>
          </a:xfrm>
          <a:prstGeom prst="rect">
            <a:avLst/>
          </a:prstGeom>
          <a:noFill/>
          <a:ln/>
        </p:spPr>
        <p:txBody>
          <a:bodyPr wrap="square" lIns="0" tIns="0" rIns="0" bIns="0" rtlCol="0" anchor="t"/>
          <a:lstStyle/>
          <a:p>
            <a:pPr marL="0" indent="0" algn="ctr">
              <a:lnSpc>
                <a:spcPct val="108000"/>
              </a:lnSpc>
              <a:buNone/>
            </a:pPr>
            <a:r>
              <a:rPr lang="en-US" sz="3200" b="1" dirty="0">
                <a:solidFill>
                  <a:srgbClr val="10243E"/>
                </a:solidFill>
                <a:latin typeface="Calibri" pitchFamily="34" charset="0"/>
                <a:ea typeface="Calibri" pitchFamily="34" charset="-122"/>
                <a:cs typeface="Calibri" pitchFamily="34" charset="-120"/>
              </a:rPr>
              <a:t>7</a:t>
            </a:r>
            <a:endParaRPr lang="en-US" sz="3200" dirty="0"/>
          </a:p>
        </p:txBody>
      </p:sp>
      <p:sp>
        <p:nvSpPr>
          <p:cNvPr id="7" name="Text 5"/>
          <p:cNvSpPr txBox="1"/>
          <p:nvPr/>
        </p:nvSpPr>
        <p:spPr>
          <a:xfrm>
            <a:off x="658368" y="2670048"/>
            <a:ext cx="3026664" cy="914400"/>
          </a:xfrm>
          <a:prstGeom prst="rect">
            <a:avLst/>
          </a:prstGeom>
          <a:noFill/>
          <a:ln/>
        </p:spPr>
        <p:txBody>
          <a:bodyPr wrap="square" lIns="0" tIns="0" rIns="0" bIns="0" rtlCol="0" anchor="t"/>
          <a:lstStyle/>
          <a:p>
            <a:pPr marL="0" indent="0" algn="ctr">
              <a:lnSpc>
                <a:spcPct val="105000"/>
              </a:lnSpc>
              <a:buNone/>
            </a:pPr>
            <a:r>
              <a:rPr lang="en-US" sz="1050" dirty="0">
                <a:solidFill>
                  <a:srgbClr val="8697AB"/>
                </a:solidFill>
                <a:latin typeface="Calibri" pitchFamily="34" charset="0"/>
                <a:ea typeface="Calibri" pitchFamily="34" charset="-122"/>
                <a:cs typeface="Calibri" pitchFamily="34" charset="-120"/>
              </a:rPr>
              <a:t>artefacts obligatoires par projet : CDC, SFD, DAT, backlog, tests, recette, runbook</a:t>
            </a:r>
            <a:endParaRPr lang="en-US" sz="1050" dirty="0"/>
          </a:p>
        </p:txBody>
      </p:sp>
      <p:sp>
        <p:nvSpPr>
          <p:cNvPr id="8" name="Shape 6"/>
          <p:cNvSpPr/>
          <p:nvPr/>
        </p:nvSpPr>
        <p:spPr>
          <a:xfrm>
            <a:off x="3977640" y="1828800"/>
            <a:ext cx="3611880" cy="1828800"/>
          </a:xfrm>
          <a:prstGeom prst="roundRect">
            <a:avLst>
              <a:gd name="adj" fmla="val 2500"/>
            </a:avLst>
          </a:prstGeom>
          <a:solidFill>
            <a:srgbClr val="F3F6FA"/>
          </a:solidFill>
          <a:ln w="9525">
            <a:solidFill>
              <a:srgbClr val="D8E1EC"/>
            </a:solidFill>
            <a:prstDash val="solid"/>
          </a:ln>
        </p:spPr>
      </p:sp>
      <p:sp>
        <p:nvSpPr>
          <p:cNvPr id="9" name="Text 7"/>
          <p:cNvSpPr txBox="1"/>
          <p:nvPr/>
        </p:nvSpPr>
        <p:spPr>
          <a:xfrm>
            <a:off x="4178808" y="1965960"/>
            <a:ext cx="3209544" cy="274320"/>
          </a:xfrm>
          <a:prstGeom prst="rect">
            <a:avLst/>
          </a:prstGeom>
          <a:noFill/>
          <a:ln/>
        </p:spPr>
        <p:txBody>
          <a:bodyPr wrap="square" lIns="0" tIns="0" rIns="0" bIns="0" rtlCol="0" anchor="t"/>
          <a:lstStyle/>
          <a:p>
            <a:pPr marL="0" indent="0" algn="l">
              <a:lnSpc>
                <a:spcPct val="108000"/>
              </a:lnSpc>
              <a:buNone/>
            </a:pPr>
            <a:r>
              <a:rPr lang="en-US" sz="1350" b="1" dirty="0">
                <a:solidFill>
                  <a:srgbClr val="10243E"/>
                </a:solidFill>
                <a:latin typeface="Calibri" pitchFamily="34" charset="0"/>
                <a:ea typeface="Calibri" pitchFamily="34" charset="-122"/>
                <a:cs typeface="Calibri" pitchFamily="34" charset="-120"/>
              </a:rPr>
              <a:t>Le coût visible</a:t>
            </a:r>
            <a:endParaRPr lang="en-US" sz="1350" dirty="0"/>
          </a:p>
        </p:txBody>
      </p:sp>
      <p:sp>
        <p:nvSpPr>
          <p:cNvPr id="10" name="Text 8"/>
          <p:cNvSpPr txBox="1"/>
          <p:nvPr/>
        </p:nvSpPr>
        <p:spPr>
          <a:xfrm>
            <a:off x="4178808" y="2304288"/>
            <a:ext cx="3209544" cy="1225296"/>
          </a:xfrm>
          <a:prstGeom prst="rect">
            <a:avLst/>
          </a:prstGeom>
          <a:noFill/>
          <a:ln/>
        </p:spPr>
        <p:txBody>
          <a:bodyPr wrap="square" lIns="0" tIns="0" rIns="0" bIns="0" rtlCol="0" anchor="t"/>
          <a:lstStyle/>
          <a:p>
            <a:pPr marL="0" indent="0" algn="l">
              <a:lnSpc>
                <a:spcPct val="112000"/>
              </a:lnSpc>
              <a:buNone/>
            </a:pPr>
            <a:r>
              <a:rPr lang="en-US" sz="1150" dirty="0">
                <a:solidFill>
                  <a:srgbClr val="3F546B"/>
                </a:solidFill>
                <a:latin typeface="Calibri" pitchFamily="34" charset="0"/>
                <a:ea typeface="Calibri" pitchFamily="34" charset="-122"/>
                <a:cs typeface="Calibri" pitchFamily="34" charset="-120"/>
              </a:rPr>
              <a:t>Du temps d’ingénieur passé à reformater ce qui a déjà été écrit sur le projet précédent. Personne ne le mesure, tout le monde le subit.</a:t>
            </a:r>
            <a:endParaRPr lang="en-US" sz="1150" dirty="0"/>
          </a:p>
        </p:txBody>
      </p:sp>
      <p:sp>
        <p:nvSpPr>
          <p:cNvPr id="11" name="Shape 9"/>
          <p:cNvSpPr/>
          <p:nvPr/>
        </p:nvSpPr>
        <p:spPr>
          <a:xfrm>
            <a:off x="7772400" y="1828800"/>
            <a:ext cx="3840480" cy="1828800"/>
          </a:xfrm>
          <a:prstGeom prst="roundRect">
            <a:avLst>
              <a:gd name="adj" fmla="val 2500"/>
            </a:avLst>
          </a:prstGeom>
          <a:solidFill>
            <a:srgbClr val="FBF1DF"/>
          </a:solidFill>
          <a:ln w="9525">
            <a:solidFill>
              <a:srgbClr val="B07407"/>
            </a:solidFill>
            <a:prstDash val="solid"/>
          </a:ln>
        </p:spPr>
      </p:sp>
      <p:sp>
        <p:nvSpPr>
          <p:cNvPr id="12" name="Text 10"/>
          <p:cNvSpPr txBox="1"/>
          <p:nvPr/>
        </p:nvSpPr>
        <p:spPr>
          <a:xfrm>
            <a:off x="7973568" y="1965960"/>
            <a:ext cx="3438144" cy="274320"/>
          </a:xfrm>
          <a:prstGeom prst="rect">
            <a:avLst/>
          </a:prstGeom>
          <a:noFill/>
          <a:ln/>
        </p:spPr>
        <p:txBody>
          <a:bodyPr wrap="square" lIns="0" tIns="0" rIns="0" bIns="0" rtlCol="0" anchor="t"/>
          <a:lstStyle/>
          <a:p>
            <a:pPr marL="0" indent="0" algn="l">
              <a:lnSpc>
                <a:spcPct val="108000"/>
              </a:lnSpc>
              <a:buNone/>
            </a:pPr>
            <a:r>
              <a:rPr lang="en-US" sz="1350" b="1" dirty="0">
                <a:solidFill>
                  <a:srgbClr val="B07407"/>
                </a:solidFill>
                <a:latin typeface="Calibri" pitchFamily="34" charset="0"/>
                <a:ea typeface="Calibri" pitchFamily="34" charset="-122"/>
                <a:cs typeface="Calibri" pitchFamily="34" charset="-120"/>
              </a:rPr>
              <a:t>Le coût invisible</a:t>
            </a:r>
            <a:endParaRPr lang="en-US" sz="1350" dirty="0"/>
          </a:p>
        </p:txBody>
      </p:sp>
      <p:sp>
        <p:nvSpPr>
          <p:cNvPr id="13" name="Text 11"/>
          <p:cNvSpPr txBox="1"/>
          <p:nvPr/>
        </p:nvSpPr>
        <p:spPr>
          <a:xfrm>
            <a:off x="7973568" y="2304288"/>
            <a:ext cx="3438144" cy="1225296"/>
          </a:xfrm>
          <a:prstGeom prst="rect">
            <a:avLst/>
          </a:prstGeom>
          <a:noFill/>
          <a:ln/>
        </p:spPr>
        <p:txBody>
          <a:bodyPr wrap="square" lIns="0" tIns="0" rIns="0" bIns="0" rtlCol="0" anchor="t"/>
          <a:lstStyle/>
          <a:p>
            <a:pPr marL="0" indent="0" algn="l">
              <a:lnSpc>
                <a:spcPct val="112000"/>
              </a:lnSpc>
              <a:buNone/>
            </a:pPr>
            <a:r>
              <a:rPr lang="en-US" sz="1150" dirty="0">
                <a:solidFill>
                  <a:srgbClr val="3F546B"/>
                </a:solidFill>
                <a:latin typeface="Calibri" pitchFamily="34" charset="0"/>
                <a:ea typeface="Calibri" pitchFamily="34" charset="-122"/>
                <a:cs typeface="Calibri" pitchFamily="34" charset="-120"/>
              </a:rPr>
              <a:t>Une clé d’API collée dans un chat grand public, et le code client se retrouve chez un fournisseur que personne n’a choisi contractuellement.</a:t>
            </a:r>
            <a:endParaRPr lang="en-US" sz="1150" dirty="0"/>
          </a:p>
        </p:txBody>
      </p:sp>
      <p:sp>
        <p:nvSpPr>
          <p:cNvPr id="14" name="Shape 12"/>
          <p:cNvSpPr/>
          <p:nvPr/>
        </p:nvSpPr>
        <p:spPr>
          <a:xfrm>
            <a:off x="548640" y="3931920"/>
            <a:ext cx="11064240" cy="1965960"/>
          </a:xfrm>
          <a:prstGeom prst="roundRect">
            <a:avLst>
              <a:gd name="adj" fmla="val 2326"/>
            </a:avLst>
          </a:prstGeom>
          <a:solidFill>
            <a:srgbClr val="F3F6FA"/>
          </a:solidFill>
          <a:ln w="9525">
            <a:solidFill>
              <a:srgbClr val="D8E1EC"/>
            </a:solidFill>
            <a:prstDash val="solid"/>
          </a:ln>
        </p:spPr>
      </p:sp>
      <p:sp>
        <p:nvSpPr>
          <p:cNvPr id="15" name="Text 13"/>
          <p:cNvSpPr txBox="1"/>
          <p:nvPr/>
        </p:nvSpPr>
        <p:spPr>
          <a:xfrm>
            <a:off x="777240" y="4114800"/>
            <a:ext cx="10607040" cy="274320"/>
          </a:xfrm>
          <a:prstGeom prst="rect">
            <a:avLst/>
          </a:prstGeom>
          <a:noFill/>
          <a:ln/>
        </p:spPr>
        <p:txBody>
          <a:bodyPr wrap="square" lIns="0" tIns="0" rIns="0" bIns="0" rtlCol="0" anchor="t"/>
          <a:lstStyle/>
          <a:p>
            <a:pPr marL="0" indent="0" algn="l">
              <a:lnSpc>
                <a:spcPct val="108000"/>
              </a:lnSpc>
              <a:buNone/>
            </a:pPr>
            <a:r>
              <a:rPr lang="en-US" sz="1350" b="1" dirty="0">
                <a:solidFill>
                  <a:srgbClr val="10243E"/>
                </a:solidFill>
                <a:latin typeface="Calibri" pitchFamily="34" charset="0"/>
                <a:ea typeface="Calibri" pitchFamily="34" charset="-122"/>
                <a:cs typeface="Calibri" pitchFamily="34" charset="-120"/>
              </a:rPr>
              <a:t>La conséquence sur l’architecture</a:t>
            </a:r>
            <a:endParaRPr lang="en-US" sz="1350" dirty="0"/>
          </a:p>
        </p:txBody>
      </p:sp>
      <p:sp>
        <p:nvSpPr>
          <p:cNvPr id="16" name="Text 14"/>
          <p:cNvSpPr txBox="1"/>
          <p:nvPr/>
        </p:nvSpPr>
        <p:spPr>
          <a:xfrm>
            <a:off x="777240" y="4425696"/>
            <a:ext cx="4663440" cy="822960"/>
          </a:xfrm>
          <a:prstGeom prst="rect">
            <a:avLst/>
          </a:prstGeom>
          <a:noFill/>
          <a:ln/>
        </p:spPr>
        <p:txBody>
          <a:bodyPr wrap="square" lIns="0" tIns="0" rIns="0" bIns="0" rtlCol="0" anchor="t"/>
          <a:lstStyle/>
          <a:p>
            <a:pPr marL="0" indent="0" algn="l">
              <a:lnSpc>
                <a:spcPct val="114000"/>
              </a:lnSpc>
              <a:buNone/>
            </a:pPr>
            <a:r>
              <a:rPr lang="en-US" sz="1150" dirty="0">
                <a:solidFill>
                  <a:srgbClr val="3F546B"/>
                </a:solidFill>
                <a:latin typeface="Calibri" pitchFamily="34" charset="0"/>
                <a:ea typeface="Calibri" pitchFamily="34" charset="-122"/>
                <a:cs typeface="Calibri" pitchFamily="34" charset="-120"/>
              </a:rPr>
              <a:t>La souveraineté ne peut pas être une case à cocher ajoutée à la fin. Elle doit être un point de passage obligatoire, écrit avant l’interface.</a:t>
            </a:r>
            <a:endParaRPr lang="en-US" sz="1150" dirty="0"/>
          </a:p>
        </p:txBody>
      </p:sp>
      <p:sp>
        <p:nvSpPr>
          <p:cNvPr id="17" name="Shape 15"/>
          <p:cNvSpPr/>
          <p:nvPr/>
        </p:nvSpPr>
        <p:spPr>
          <a:xfrm>
            <a:off x="5669280" y="4636008"/>
            <a:ext cx="1371600" cy="512064"/>
          </a:xfrm>
          <a:prstGeom prst="roundRect">
            <a:avLst>
              <a:gd name="adj" fmla="val 8929"/>
            </a:avLst>
          </a:prstGeom>
          <a:solidFill>
            <a:srgbClr val="FFFFFF"/>
          </a:solidFill>
          <a:ln w="9525">
            <a:solidFill>
              <a:srgbClr val="D8E1EC"/>
            </a:solidFill>
            <a:prstDash val="solid"/>
          </a:ln>
        </p:spPr>
      </p:sp>
      <p:sp>
        <p:nvSpPr>
          <p:cNvPr id="18" name="Text 16"/>
          <p:cNvSpPr txBox="1"/>
          <p:nvPr/>
        </p:nvSpPr>
        <p:spPr>
          <a:xfrm>
            <a:off x="5742432" y="4636008"/>
            <a:ext cx="1225296" cy="512064"/>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Prompt</a:t>
            </a:r>
            <a:endParaRPr lang="en-US" sz="1100" dirty="0"/>
          </a:p>
        </p:txBody>
      </p:sp>
      <p:sp>
        <p:nvSpPr>
          <p:cNvPr id="19" name="Shape 17"/>
          <p:cNvSpPr/>
          <p:nvPr/>
        </p:nvSpPr>
        <p:spPr>
          <a:xfrm>
            <a:off x="7086600" y="4892040"/>
            <a:ext cx="411480" cy="0"/>
          </a:xfrm>
          <a:prstGeom prst="line">
            <a:avLst/>
          </a:prstGeom>
          <a:noFill/>
          <a:ln w="15875">
            <a:solidFill>
              <a:srgbClr val="9AACBF"/>
            </a:solidFill>
            <a:prstDash val="solid"/>
            <a:tailEnd type="triangle"/>
          </a:ln>
        </p:spPr>
      </p:sp>
      <p:sp>
        <p:nvSpPr>
          <p:cNvPr id="20" name="Shape 18"/>
          <p:cNvSpPr/>
          <p:nvPr/>
        </p:nvSpPr>
        <p:spPr>
          <a:xfrm>
            <a:off x="7543800" y="4599432"/>
            <a:ext cx="1691640" cy="585216"/>
          </a:xfrm>
          <a:prstGeom prst="roundRect">
            <a:avLst>
              <a:gd name="adj" fmla="val 7813"/>
            </a:avLst>
          </a:prstGeom>
          <a:solidFill>
            <a:srgbClr val="E6F4EF"/>
          </a:solidFill>
          <a:ln w="9525">
            <a:solidFill>
              <a:srgbClr val="0E8A6A"/>
            </a:solidFill>
            <a:prstDash val="solid"/>
          </a:ln>
        </p:spPr>
      </p:sp>
      <p:sp>
        <p:nvSpPr>
          <p:cNvPr id="21" name="Text 19"/>
          <p:cNvSpPr txBox="1"/>
          <p:nvPr/>
        </p:nvSpPr>
        <p:spPr>
          <a:xfrm>
            <a:off x="7616952" y="4599432"/>
            <a:ext cx="1545336" cy="585216"/>
          </a:xfrm>
          <a:prstGeom prst="rect">
            <a:avLst/>
          </a:prstGeom>
          <a:noFill/>
          <a:ln/>
        </p:spPr>
        <p:txBody>
          <a:bodyPr wrap="square" lIns="0" tIns="0" rIns="0" bIns="0" rtlCol="0" anchor="ctr"/>
          <a:lstStyle/>
          <a:p>
            <a:pPr marL="0" indent="0" algn="ctr">
              <a:lnSpc>
                <a:spcPct val="100000"/>
              </a:lnSpc>
              <a:buNone/>
            </a:pPr>
            <a:r>
              <a:rPr lang="en-US" sz="1100" b="1" dirty="0">
                <a:solidFill>
                  <a:srgbClr val="0E8A6A"/>
                </a:solidFill>
                <a:latin typeface="Calibri" pitchFamily="34" charset="0"/>
                <a:ea typeface="Calibri" pitchFamily="34" charset="-122"/>
                <a:cs typeface="Calibri" pitchFamily="34" charset="-120"/>
              </a:rPr>
              <a:t>PrivacyRouter</a:t>
            </a:r>
            <a:endParaRPr lang="en-US" sz="1100" dirty="0"/>
          </a:p>
        </p:txBody>
      </p:sp>
      <p:sp>
        <p:nvSpPr>
          <p:cNvPr id="22" name="Shape 20"/>
          <p:cNvSpPr/>
          <p:nvPr/>
        </p:nvSpPr>
        <p:spPr>
          <a:xfrm>
            <a:off x="9281160" y="4636008"/>
            <a:ext cx="411480" cy="0"/>
          </a:xfrm>
          <a:prstGeom prst="line">
            <a:avLst/>
          </a:prstGeom>
          <a:noFill/>
          <a:ln w="15875">
            <a:solidFill>
              <a:srgbClr val="9AACBF"/>
            </a:solidFill>
            <a:prstDash val="solid"/>
            <a:tailEnd type="triangle"/>
          </a:ln>
        </p:spPr>
      </p:sp>
      <p:sp>
        <p:nvSpPr>
          <p:cNvPr id="23" name="Shape 21"/>
          <p:cNvSpPr/>
          <p:nvPr/>
        </p:nvSpPr>
        <p:spPr>
          <a:xfrm>
            <a:off x="9738360" y="4361688"/>
            <a:ext cx="1600200" cy="457200"/>
          </a:xfrm>
          <a:prstGeom prst="roundRect">
            <a:avLst>
              <a:gd name="adj" fmla="val 10000"/>
            </a:avLst>
          </a:prstGeom>
          <a:solidFill>
            <a:srgbClr val="FFFFFF"/>
          </a:solidFill>
          <a:ln w="9525">
            <a:solidFill>
              <a:srgbClr val="D8E1EC"/>
            </a:solidFill>
            <a:prstDash val="solid"/>
          </a:ln>
        </p:spPr>
      </p:sp>
      <p:sp>
        <p:nvSpPr>
          <p:cNvPr id="24" name="Text 22"/>
          <p:cNvSpPr txBox="1"/>
          <p:nvPr/>
        </p:nvSpPr>
        <p:spPr>
          <a:xfrm>
            <a:off x="9811512" y="4361688"/>
            <a:ext cx="1453896" cy="457200"/>
          </a:xfrm>
          <a:prstGeom prst="rect">
            <a:avLst/>
          </a:prstGeom>
          <a:noFill/>
          <a:ln/>
        </p:spPr>
        <p:txBody>
          <a:bodyPr wrap="square" lIns="0" tIns="0" rIns="0" bIns="0" rtlCol="0" anchor="ctr"/>
          <a:lstStyle/>
          <a:p>
            <a:pPr marL="0" indent="0" algn="ctr">
              <a:lnSpc>
                <a:spcPct val="100000"/>
              </a:lnSpc>
              <a:buNone/>
            </a:pPr>
            <a:r>
              <a:rPr lang="en-US" sz="1000" b="1" dirty="0">
                <a:solidFill>
                  <a:srgbClr val="10243E"/>
                </a:solidFill>
                <a:latin typeface="Calibri" pitchFamily="34" charset="0"/>
                <a:ea typeface="Calibri" pitchFamily="34" charset="-122"/>
                <a:cs typeface="Calibri" pitchFamily="34" charset="-120"/>
              </a:rPr>
              <a:t>LLM cloud</a:t>
            </a:r>
            <a:endParaRPr lang="en-US" sz="1000" dirty="0"/>
          </a:p>
        </p:txBody>
      </p:sp>
      <p:sp>
        <p:nvSpPr>
          <p:cNvPr id="25" name="Shape 23"/>
          <p:cNvSpPr/>
          <p:nvPr/>
        </p:nvSpPr>
        <p:spPr>
          <a:xfrm>
            <a:off x="9281160" y="5148072"/>
            <a:ext cx="411480" cy="0"/>
          </a:xfrm>
          <a:prstGeom prst="line">
            <a:avLst/>
          </a:prstGeom>
          <a:noFill/>
          <a:ln w="15875">
            <a:solidFill>
              <a:srgbClr val="9AACBF"/>
            </a:solidFill>
            <a:prstDash val="solid"/>
            <a:tailEnd type="triangle"/>
          </a:ln>
        </p:spPr>
      </p:sp>
      <p:sp>
        <p:nvSpPr>
          <p:cNvPr id="26" name="Shape 24"/>
          <p:cNvSpPr/>
          <p:nvPr/>
        </p:nvSpPr>
        <p:spPr>
          <a:xfrm>
            <a:off x="9738360" y="4946904"/>
            <a:ext cx="1600200" cy="457200"/>
          </a:xfrm>
          <a:prstGeom prst="roundRect">
            <a:avLst>
              <a:gd name="adj" fmla="val 10000"/>
            </a:avLst>
          </a:prstGeom>
          <a:solidFill>
            <a:srgbClr val="FBF1DF"/>
          </a:solidFill>
          <a:ln w="9525">
            <a:solidFill>
              <a:srgbClr val="B07407"/>
            </a:solidFill>
            <a:prstDash val="solid"/>
          </a:ln>
        </p:spPr>
      </p:sp>
      <p:sp>
        <p:nvSpPr>
          <p:cNvPr id="27" name="Text 25"/>
          <p:cNvSpPr txBox="1"/>
          <p:nvPr/>
        </p:nvSpPr>
        <p:spPr>
          <a:xfrm>
            <a:off x="9811512" y="4946904"/>
            <a:ext cx="1453896" cy="457200"/>
          </a:xfrm>
          <a:prstGeom prst="rect">
            <a:avLst/>
          </a:prstGeom>
          <a:noFill/>
          <a:ln/>
        </p:spPr>
        <p:txBody>
          <a:bodyPr wrap="square" lIns="0" tIns="0" rIns="0" bIns="0" rtlCol="0" anchor="ctr"/>
          <a:lstStyle/>
          <a:p>
            <a:pPr marL="0" indent="0" algn="ctr">
              <a:lnSpc>
                <a:spcPct val="100000"/>
              </a:lnSpc>
              <a:buNone/>
            </a:pPr>
            <a:r>
              <a:rPr lang="en-US" sz="1000" b="1" dirty="0">
                <a:solidFill>
                  <a:srgbClr val="B07407"/>
                </a:solidFill>
                <a:latin typeface="Calibri" pitchFamily="34" charset="0"/>
                <a:ea typeface="Calibri" pitchFamily="34" charset="-122"/>
                <a:cs typeface="Calibri" pitchFamily="34" charset="-120"/>
              </a:rPr>
              <a:t>Mock local</a:t>
            </a:r>
            <a:endParaRPr lang="en-US" sz="1000" dirty="0"/>
          </a:p>
        </p:txBody>
      </p:sp>
      <p:sp>
        <p:nvSpPr>
          <p:cNvPr id="28" name="Text 26"/>
          <p:cNvSpPr txBox="1"/>
          <p:nvPr/>
        </p:nvSpPr>
        <p:spPr>
          <a:xfrm>
            <a:off x="566928" y="6291072"/>
            <a:ext cx="10424160" cy="292608"/>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Aucun chemin applicatif n’atteint un modèle cloud sans être passé par le routeur. C’est vérifiable dans le code, pas seulement dans le discours.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05</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LE SQUELETTE</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Neuf phases, neuf contrats de sortie — pas neuf onglets.</a:t>
            </a:r>
            <a:endParaRPr lang="en-US" sz="2700" dirty="0"/>
          </a:p>
        </p:txBody>
      </p:sp>
      <p:sp>
        <p:nvSpPr>
          <p:cNvPr id="5" name="Shape 3"/>
          <p:cNvSpPr/>
          <p:nvPr/>
        </p:nvSpPr>
        <p:spPr>
          <a:xfrm>
            <a:off x="548640" y="1691640"/>
            <a:ext cx="3547872" cy="1298448"/>
          </a:xfrm>
          <a:prstGeom prst="roundRect">
            <a:avLst>
              <a:gd name="adj" fmla="val 3521"/>
            </a:avLst>
          </a:prstGeom>
          <a:solidFill>
            <a:srgbClr val="F3F6FA"/>
          </a:solidFill>
          <a:ln w="9525">
            <a:solidFill>
              <a:srgbClr val="D8E1EC"/>
            </a:solidFill>
            <a:prstDash val="solid"/>
          </a:ln>
        </p:spPr>
      </p:sp>
      <p:sp>
        <p:nvSpPr>
          <p:cNvPr id="6" name="Text 4"/>
          <p:cNvSpPr txBox="1"/>
          <p:nvPr/>
        </p:nvSpPr>
        <p:spPr>
          <a:xfrm>
            <a:off x="749808" y="181965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01</a:t>
            </a:r>
            <a:endParaRPr lang="en-US" sz="1300" dirty="0"/>
          </a:p>
        </p:txBody>
      </p:sp>
      <p:sp>
        <p:nvSpPr>
          <p:cNvPr id="7" name="Text 5"/>
          <p:cNvSpPr txBox="1"/>
          <p:nvPr/>
        </p:nvSpPr>
        <p:spPr>
          <a:xfrm>
            <a:off x="1335024" y="181051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Expression du besoin</a:t>
            </a:r>
            <a:endParaRPr lang="en-US" sz="1300" dirty="0"/>
          </a:p>
        </p:txBody>
      </p:sp>
      <p:sp>
        <p:nvSpPr>
          <p:cNvPr id="8" name="Text 6"/>
          <p:cNvSpPr txBox="1"/>
          <p:nvPr/>
        </p:nvSpPr>
        <p:spPr>
          <a:xfrm>
            <a:off x="749808" y="220370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Personas, user stories, AC</a:t>
            </a:r>
            <a:endParaRPr lang="en-US" sz="1050" dirty="0"/>
          </a:p>
        </p:txBody>
      </p:sp>
      <p:sp>
        <p:nvSpPr>
          <p:cNvPr id="9" name="Shape 7"/>
          <p:cNvSpPr/>
          <p:nvPr/>
        </p:nvSpPr>
        <p:spPr>
          <a:xfrm>
            <a:off x="749808" y="2532888"/>
            <a:ext cx="292608" cy="32004"/>
          </a:xfrm>
          <a:prstGeom prst="rect">
            <a:avLst/>
          </a:prstGeom>
          <a:solidFill>
            <a:srgbClr val="0E8A6A"/>
          </a:solidFill>
          <a:ln w="12700">
            <a:solidFill>
              <a:srgbClr val="0E8A6A"/>
            </a:solidFill>
            <a:prstDash val="solid"/>
          </a:ln>
        </p:spPr>
      </p:sp>
      <p:sp>
        <p:nvSpPr>
          <p:cNvPr id="10" name="Text 8"/>
          <p:cNvSpPr txBox="1"/>
          <p:nvPr/>
        </p:nvSpPr>
        <p:spPr>
          <a:xfrm>
            <a:off x="749808" y="262432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CDC .docx</a:t>
            </a:r>
            <a:endParaRPr lang="en-US" sz="1050" dirty="0"/>
          </a:p>
        </p:txBody>
      </p:sp>
      <p:sp>
        <p:nvSpPr>
          <p:cNvPr id="11" name="Shape 9"/>
          <p:cNvSpPr/>
          <p:nvPr/>
        </p:nvSpPr>
        <p:spPr>
          <a:xfrm>
            <a:off x="4315968" y="1691640"/>
            <a:ext cx="3547872" cy="1298448"/>
          </a:xfrm>
          <a:prstGeom prst="roundRect">
            <a:avLst>
              <a:gd name="adj" fmla="val 3521"/>
            </a:avLst>
          </a:prstGeom>
          <a:solidFill>
            <a:srgbClr val="F3F6FA"/>
          </a:solidFill>
          <a:ln w="9525">
            <a:solidFill>
              <a:srgbClr val="D8E1EC"/>
            </a:solidFill>
            <a:prstDash val="solid"/>
          </a:ln>
        </p:spPr>
      </p:sp>
      <p:sp>
        <p:nvSpPr>
          <p:cNvPr id="12" name="Text 10"/>
          <p:cNvSpPr txBox="1"/>
          <p:nvPr/>
        </p:nvSpPr>
        <p:spPr>
          <a:xfrm>
            <a:off x="4517136" y="181965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02</a:t>
            </a:r>
            <a:endParaRPr lang="en-US" sz="1300" dirty="0"/>
          </a:p>
        </p:txBody>
      </p:sp>
      <p:sp>
        <p:nvSpPr>
          <p:cNvPr id="13" name="Text 11"/>
          <p:cNvSpPr txBox="1"/>
          <p:nvPr/>
        </p:nvSpPr>
        <p:spPr>
          <a:xfrm>
            <a:off x="5102352" y="181051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Analyse fonctionnelle</a:t>
            </a:r>
            <a:endParaRPr lang="en-US" sz="1300" dirty="0"/>
          </a:p>
        </p:txBody>
      </p:sp>
      <p:sp>
        <p:nvSpPr>
          <p:cNvPr id="14" name="Text 12"/>
          <p:cNvSpPr txBox="1"/>
          <p:nvPr/>
        </p:nvSpPr>
        <p:spPr>
          <a:xfrm>
            <a:off x="4517136" y="220370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FR-xx + features JSON</a:t>
            </a:r>
            <a:endParaRPr lang="en-US" sz="1050" dirty="0"/>
          </a:p>
        </p:txBody>
      </p:sp>
      <p:sp>
        <p:nvSpPr>
          <p:cNvPr id="15" name="Shape 13"/>
          <p:cNvSpPr/>
          <p:nvPr/>
        </p:nvSpPr>
        <p:spPr>
          <a:xfrm>
            <a:off x="4517136" y="2532888"/>
            <a:ext cx="292608" cy="32004"/>
          </a:xfrm>
          <a:prstGeom prst="rect">
            <a:avLst/>
          </a:prstGeom>
          <a:solidFill>
            <a:srgbClr val="0E8A6A"/>
          </a:solidFill>
          <a:ln w="12700">
            <a:solidFill>
              <a:srgbClr val="0E8A6A"/>
            </a:solidFill>
            <a:prstDash val="solid"/>
          </a:ln>
        </p:spPr>
      </p:sp>
      <p:sp>
        <p:nvSpPr>
          <p:cNvPr id="16" name="Text 14"/>
          <p:cNvSpPr txBox="1"/>
          <p:nvPr/>
        </p:nvSpPr>
        <p:spPr>
          <a:xfrm>
            <a:off x="4517136" y="262432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SFD</a:t>
            </a:r>
            <a:endParaRPr lang="en-US" sz="1050" dirty="0"/>
          </a:p>
        </p:txBody>
      </p:sp>
      <p:sp>
        <p:nvSpPr>
          <p:cNvPr id="17" name="Shape 15"/>
          <p:cNvSpPr/>
          <p:nvPr/>
        </p:nvSpPr>
        <p:spPr>
          <a:xfrm>
            <a:off x="8083296" y="1691640"/>
            <a:ext cx="3547872" cy="1298448"/>
          </a:xfrm>
          <a:prstGeom prst="roundRect">
            <a:avLst>
              <a:gd name="adj" fmla="val 3521"/>
            </a:avLst>
          </a:prstGeom>
          <a:solidFill>
            <a:srgbClr val="F3F6FA"/>
          </a:solidFill>
          <a:ln w="9525">
            <a:solidFill>
              <a:srgbClr val="D8E1EC"/>
            </a:solidFill>
            <a:prstDash val="solid"/>
          </a:ln>
        </p:spPr>
      </p:sp>
      <p:sp>
        <p:nvSpPr>
          <p:cNvPr id="18" name="Text 16"/>
          <p:cNvSpPr txBox="1"/>
          <p:nvPr/>
        </p:nvSpPr>
        <p:spPr>
          <a:xfrm>
            <a:off x="8284464" y="181965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03</a:t>
            </a:r>
            <a:endParaRPr lang="en-US" sz="1300" dirty="0"/>
          </a:p>
        </p:txBody>
      </p:sp>
      <p:sp>
        <p:nvSpPr>
          <p:cNvPr id="19" name="Text 17"/>
          <p:cNvSpPr txBox="1"/>
          <p:nvPr/>
        </p:nvSpPr>
        <p:spPr>
          <a:xfrm>
            <a:off x="8869680" y="181051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Architecture</a:t>
            </a:r>
            <a:endParaRPr lang="en-US" sz="1300" dirty="0"/>
          </a:p>
        </p:txBody>
      </p:sp>
      <p:sp>
        <p:nvSpPr>
          <p:cNvPr id="20" name="Text 18"/>
          <p:cNvSpPr txBox="1"/>
          <p:nvPr/>
        </p:nvSpPr>
        <p:spPr>
          <a:xfrm>
            <a:off x="8284464" y="220370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Mermaid obligatoire + ADR</a:t>
            </a:r>
            <a:endParaRPr lang="en-US" sz="1050" dirty="0"/>
          </a:p>
        </p:txBody>
      </p:sp>
      <p:sp>
        <p:nvSpPr>
          <p:cNvPr id="21" name="Shape 19"/>
          <p:cNvSpPr/>
          <p:nvPr/>
        </p:nvSpPr>
        <p:spPr>
          <a:xfrm>
            <a:off x="8284464" y="2532888"/>
            <a:ext cx="292608" cy="32004"/>
          </a:xfrm>
          <a:prstGeom prst="rect">
            <a:avLst/>
          </a:prstGeom>
          <a:solidFill>
            <a:srgbClr val="0E8A6A"/>
          </a:solidFill>
          <a:ln w="12700">
            <a:solidFill>
              <a:srgbClr val="0E8A6A"/>
            </a:solidFill>
            <a:prstDash val="solid"/>
          </a:ln>
        </p:spPr>
      </p:sp>
      <p:sp>
        <p:nvSpPr>
          <p:cNvPr id="22" name="Text 20"/>
          <p:cNvSpPr txBox="1"/>
          <p:nvPr/>
        </p:nvSpPr>
        <p:spPr>
          <a:xfrm>
            <a:off x="8284464" y="262432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DAT / .mermaid</a:t>
            </a:r>
            <a:endParaRPr lang="en-US" sz="1050" dirty="0"/>
          </a:p>
        </p:txBody>
      </p:sp>
      <p:sp>
        <p:nvSpPr>
          <p:cNvPr id="23" name="Shape 21"/>
          <p:cNvSpPr/>
          <p:nvPr/>
        </p:nvSpPr>
        <p:spPr>
          <a:xfrm>
            <a:off x="548640" y="3154680"/>
            <a:ext cx="3547872" cy="1298448"/>
          </a:xfrm>
          <a:prstGeom prst="roundRect">
            <a:avLst>
              <a:gd name="adj" fmla="val 3521"/>
            </a:avLst>
          </a:prstGeom>
          <a:solidFill>
            <a:srgbClr val="F3F6FA"/>
          </a:solidFill>
          <a:ln w="9525">
            <a:solidFill>
              <a:srgbClr val="D8E1EC"/>
            </a:solidFill>
            <a:prstDash val="solid"/>
          </a:ln>
        </p:spPr>
      </p:sp>
      <p:sp>
        <p:nvSpPr>
          <p:cNvPr id="24" name="Text 22"/>
          <p:cNvSpPr txBox="1"/>
          <p:nvPr/>
        </p:nvSpPr>
        <p:spPr>
          <a:xfrm>
            <a:off x="749808" y="328269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04</a:t>
            </a:r>
            <a:endParaRPr lang="en-US" sz="1300" dirty="0"/>
          </a:p>
        </p:txBody>
      </p:sp>
      <p:sp>
        <p:nvSpPr>
          <p:cNvPr id="25" name="Text 23"/>
          <p:cNvSpPr txBox="1"/>
          <p:nvPr/>
        </p:nvSpPr>
        <p:spPr>
          <a:xfrm>
            <a:off x="1335024" y="327355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Gestion de projet / PO</a:t>
            </a:r>
            <a:endParaRPr lang="en-US" sz="1300" dirty="0"/>
          </a:p>
        </p:txBody>
      </p:sp>
      <p:sp>
        <p:nvSpPr>
          <p:cNvPr id="26" name="Text 24"/>
          <p:cNvSpPr txBox="1"/>
          <p:nvPr/>
        </p:nvSpPr>
        <p:spPr>
          <a:xfrm>
            <a:off x="749808" y="366674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Backlog, Fibonacci</a:t>
            </a:r>
            <a:endParaRPr lang="en-US" sz="1050" dirty="0"/>
          </a:p>
        </p:txBody>
      </p:sp>
      <p:sp>
        <p:nvSpPr>
          <p:cNvPr id="27" name="Shape 25"/>
          <p:cNvSpPr/>
          <p:nvPr/>
        </p:nvSpPr>
        <p:spPr>
          <a:xfrm>
            <a:off x="749808" y="3995928"/>
            <a:ext cx="292608" cy="32004"/>
          </a:xfrm>
          <a:prstGeom prst="rect">
            <a:avLst/>
          </a:prstGeom>
          <a:solidFill>
            <a:srgbClr val="0E8A6A"/>
          </a:solidFill>
          <a:ln w="12700">
            <a:solidFill>
              <a:srgbClr val="0E8A6A"/>
            </a:solidFill>
            <a:prstDash val="solid"/>
          </a:ln>
        </p:spPr>
      </p:sp>
      <p:sp>
        <p:nvSpPr>
          <p:cNvPr id="28" name="Text 26"/>
          <p:cNvSpPr txBox="1"/>
          <p:nvPr/>
        </p:nvSpPr>
        <p:spPr>
          <a:xfrm>
            <a:off x="749808" y="408736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Plan de sprint</a:t>
            </a:r>
            <a:endParaRPr lang="en-US" sz="1050" dirty="0"/>
          </a:p>
        </p:txBody>
      </p:sp>
      <p:sp>
        <p:nvSpPr>
          <p:cNvPr id="29" name="Shape 27"/>
          <p:cNvSpPr/>
          <p:nvPr/>
        </p:nvSpPr>
        <p:spPr>
          <a:xfrm>
            <a:off x="4315968" y="3154680"/>
            <a:ext cx="3547872" cy="1298448"/>
          </a:xfrm>
          <a:prstGeom prst="roundRect">
            <a:avLst>
              <a:gd name="adj" fmla="val 3521"/>
            </a:avLst>
          </a:prstGeom>
          <a:solidFill>
            <a:srgbClr val="F3F6FA"/>
          </a:solidFill>
          <a:ln w="9525">
            <a:solidFill>
              <a:srgbClr val="D8E1EC"/>
            </a:solidFill>
            <a:prstDash val="solid"/>
          </a:ln>
        </p:spPr>
      </p:sp>
      <p:sp>
        <p:nvSpPr>
          <p:cNvPr id="30" name="Text 28"/>
          <p:cNvSpPr txBox="1"/>
          <p:nvPr/>
        </p:nvSpPr>
        <p:spPr>
          <a:xfrm>
            <a:off x="4517136" y="328269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05</a:t>
            </a:r>
            <a:endParaRPr lang="en-US" sz="1300" dirty="0"/>
          </a:p>
        </p:txBody>
      </p:sp>
      <p:sp>
        <p:nvSpPr>
          <p:cNvPr id="31" name="Text 29"/>
          <p:cNvSpPr txBox="1"/>
          <p:nvPr/>
        </p:nvSpPr>
        <p:spPr>
          <a:xfrm>
            <a:off x="5102352" y="327355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Développement</a:t>
            </a:r>
            <a:endParaRPr lang="en-US" sz="1300" dirty="0"/>
          </a:p>
        </p:txBody>
      </p:sp>
      <p:sp>
        <p:nvSpPr>
          <p:cNvPr id="32" name="Text 30"/>
          <p:cNvSpPr txBox="1"/>
          <p:nvPr/>
        </p:nvSpPr>
        <p:spPr>
          <a:xfrm>
            <a:off x="4517136" y="366674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Code complet, aucun TODO</a:t>
            </a:r>
            <a:endParaRPr lang="en-US" sz="1050" dirty="0"/>
          </a:p>
        </p:txBody>
      </p:sp>
      <p:sp>
        <p:nvSpPr>
          <p:cNvPr id="33" name="Shape 31"/>
          <p:cNvSpPr/>
          <p:nvPr/>
        </p:nvSpPr>
        <p:spPr>
          <a:xfrm>
            <a:off x="4517136" y="3995928"/>
            <a:ext cx="292608" cy="32004"/>
          </a:xfrm>
          <a:prstGeom prst="rect">
            <a:avLst/>
          </a:prstGeom>
          <a:solidFill>
            <a:srgbClr val="0E8A6A"/>
          </a:solidFill>
          <a:ln w="12700">
            <a:solidFill>
              <a:srgbClr val="0E8A6A"/>
            </a:solidFill>
            <a:prstDash val="solid"/>
          </a:ln>
        </p:spPr>
      </p:sp>
      <p:sp>
        <p:nvSpPr>
          <p:cNvPr id="34" name="Text 32"/>
          <p:cNvSpPr txBox="1"/>
          <p:nvPr/>
        </p:nvSpPr>
        <p:spPr>
          <a:xfrm>
            <a:off x="4517136" y="408736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ZIP src/</a:t>
            </a:r>
            <a:endParaRPr lang="en-US" sz="1050" dirty="0"/>
          </a:p>
        </p:txBody>
      </p:sp>
      <p:sp>
        <p:nvSpPr>
          <p:cNvPr id="35" name="Shape 33"/>
          <p:cNvSpPr/>
          <p:nvPr/>
        </p:nvSpPr>
        <p:spPr>
          <a:xfrm>
            <a:off x="8083296" y="3154680"/>
            <a:ext cx="3547872" cy="1298448"/>
          </a:xfrm>
          <a:prstGeom prst="roundRect">
            <a:avLst>
              <a:gd name="adj" fmla="val 3521"/>
            </a:avLst>
          </a:prstGeom>
          <a:solidFill>
            <a:srgbClr val="F3F6FA"/>
          </a:solidFill>
          <a:ln w="9525">
            <a:solidFill>
              <a:srgbClr val="D8E1EC"/>
            </a:solidFill>
            <a:prstDash val="solid"/>
          </a:ln>
        </p:spPr>
      </p:sp>
      <p:sp>
        <p:nvSpPr>
          <p:cNvPr id="36" name="Text 34"/>
          <p:cNvSpPr txBox="1"/>
          <p:nvPr/>
        </p:nvSpPr>
        <p:spPr>
          <a:xfrm>
            <a:off x="8284464" y="328269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06</a:t>
            </a:r>
            <a:endParaRPr lang="en-US" sz="1300" dirty="0"/>
          </a:p>
        </p:txBody>
      </p:sp>
      <p:sp>
        <p:nvSpPr>
          <p:cNvPr id="37" name="Text 35"/>
          <p:cNvSpPr txBox="1"/>
          <p:nvPr/>
        </p:nvSpPr>
        <p:spPr>
          <a:xfrm>
            <a:off x="8869680" y="327355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Tests &amp; QA</a:t>
            </a:r>
            <a:endParaRPr lang="en-US" sz="1300" dirty="0"/>
          </a:p>
        </p:txBody>
      </p:sp>
      <p:sp>
        <p:nvSpPr>
          <p:cNvPr id="38" name="Text 36"/>
          <p:cNvSpPr txBox="1"/>
          <p:nvPr/>
        </p:nvSpPr>
        <p:spPr>
          <a:xfrm>
            <a:off x="8284464" y="366674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Tables de cas + scripts</a:t>
            </a:r>
            <a:endParaRPr lang="en-US" sz="1050" dirty="0"/>
          </a:p>
        </p:txBody>
      </p:sp>
      <p:sp>
        <p:nvSpPr>
          <p:cNvPr id="39" name="Shape 37"/>
          <p:cNvSpPr/>
          <p:nvPr/>
        </p:nvSpPr>
        <p:spPr>
          <a:xfrm>
            <a:off x="8284464" y="3995928"/>
            <a:ext cx="292608" cy="32004"/>
          </a:xfrm>
          <a:prstGeom prst="rect">
            <a:avLst/>
          </a:prstGeom>
          <a:solidFill>
            <a:srgbClr val="0E8A6A"/>
          </a:solidFill>
          <a:ln w="12700">
            <a:solidFill>
              <a:srgbClr val="0E8A6A"/>
            </a:solidFill>
            <a:prstDash val="solid"/>
          </a:ln>
        </p:spPr>
      </p:sp>
      <p:sp>
        <p:nvSpPr>
          <p:cNvPr id="40" name="Text 38"/>
          <p:cNvSpPr txBox="1"/>
          <p:nvPr/>
        </p:nvSpPr>
        <p:spPr>
          <a:xfrm>
            <a:off x="8284464" y="408736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ZIP tests/</a:t>
            </a:r>
            <a:endParaRPr lang="en-US" sz="1050" dirty="0"/>
          </a:p>
        </p:txBody>
      </p:sp>
      <p:sp>
        <p:nvSpPr>
          <p:cNvPr id="41" name="Shape 39"/>
          <p:cNvSpPr/>
          <p:nvPr/>
        </p:nvSpPr>
        <p:spPr>
          <a:xfrm>
            <a:off x="548640" y="4617720"/>
            <a:ext cx="3547872" cy="1298448"/>
          </a:xfrm>
          <a:prstGeom prst="roundRect">
            <a:avLst>
              <a:gd name="adj" fmla="val 3521"/>
            </a:avLst>
          </a:prstGeom>
          <a:solidFill>
            <a:srgbClr val="F3F6FA"/>
          </a:solidFill>
          <a:ln w="9525">
            <a:solidFill>
              <a:srgbClr val="D8E1EC"/>
            </a:solidFill>
            <a:prstDash val="solid"/>
          </a:ln>
        </p:spPr>
      </p:sp>
      <p:sp>
        <p:nvSpPr>
          <p:cNvPr id="42" name="Text 40"/>
          <p:cNvSpPr txBox="1"/>
          <p:nvPr/>
        </p:nvSpPr>
        <p:spPr>
          <a:xfrm>
            <a:off x="749808" y="474573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07</a:t>
            </a:r>
            <a:endParaRPr lang="en-US" sz="1300" dirty="0"/>
          </a:p>
        </p:txBody>
      </p:sp>
      <p:sp>
        <p:nvSpPr>
          <p:cNvPr id="43" name="Text 41"/>
          <p:cNvSpPr txBox="1"/>
          <p:nvPr/>
        </p:nvSpPr>
        <p:spPr>
          <a:xfrm>
            <a:off x="1335024" y="473659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Recette</a:t>
            </a:r>
            <a:endParaRPr lang="en-US" sz="1300" dirty="0"/>
          </a:p>
        </p:txBody>
      </p:sp>
      <p:sp>
        <p:nvSpPr>
          <p:cNvPr id="44" name="Text 42"/>
          <p:cNvSpPr txBox="1"/>
          <p:nvPr/>
        </p:nvSpPr>
        <p:spPr>
          <a:xfrm>
            <a:off x="749808" y="512978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UAT Given/When/Then</a:t>
            </a:r>
            <a:endParaRPr lang="en-US" sz="1050" dirty="0"/>
          </a:p>
        </p:txBody>
      </p:sp>
      <p:sp>
        <p:nvSpPr>
          <p:cNvPr id="45" name="Shape 43"/>
          <p:cNvSpPr/>
          <p:nvPr/>
        </p:nvSpPr>
        <p:spPr>
          <a:xfrm>
            <a:off x="749808" y="5458968"/>
            <a:ext cx="292608" cy="32004"/>
          </a:xfrm>
          <a:prstGeom prst="rect">
            <a:avLst/>
          </a:prstGeom>
          <a:solidFill>
            <a:srgbClr val="0E8A6A"/>
          </a:solidFill>
          <a:ln w="12700">
            <a:solidFill>
              <a:srgbClr val="0E8A6A"/>
            </a:solidFill>
            <a:prstDash val="solid"/>
          </a:ln>
        </p:spPr>
      </p:sp>
      <p:sp>
        <p:nvSpPr>
          <p:cNvPr id="46" name="Text 44"/>
          <p:cNvSpPr txBox="1"/>
          <p:nvPr/>
        </p:nvSpPr>
        <p:spPr>
          <a:xfrm>
            <a:off x="749808" y="555040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Cahier de recette</a:t>
            </a:r>
            <a:endParaRPr lang="en-US" sz="1050" dirty="0"/>
          </a:p>
        </p:txBody>
      </p:sp>
      <p:sp>
        <p:nvSpPr>
          <p:cNvPr id="47" name="Shape 45"/>
          <p:cNvSpPr/>
          <p:nvPr/>
        </p:nvSpPr>
        <p:spPr>
          <a:xfrm>
            <a:off x="4315968" y="4617720"/>
            <a:ext cx="3547872" cy="1298448"/>
          </a:xfrm>
          <a:prstGeom prst="roundRect">
            <a:avLst>
              <a:gd name="adj" fmla="val 3521"/>
            </a:avLst>
          </a:prstGeom>
          <a:solidFill>
            <a:srgbClr val="F3F6FA"/>
          </a:solidFill>
          <a:ln w="9525">
            <a:solidFill>
              <a:srgbClr val="D8E1EC"/>
            </a:solidFill>
            <a:prstDash val="solid"/>
          </a:ln>
        </p:spPr>
      </p:sp>
      <p:sp>
        <p:nvSpPr>
          <p:cNvPr id="48" name="Text 46"/>
          <p:cNvSpPr txBox="1"/>
          <p:nvPr/>
        </p:nvSpPr>
        <p:spPr>
          <a:xfrm>
            <a:off x="4517136" y="474573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08</a:t>
            </a:r>
            <a:endParaRPr lang="en-US" sz="1300" dirty="0"/>
          </a:p>
        </p:txBody>
      </p:sp>
      <p:sp>
        <p:nvSpPr>
          <p:cNvPr id="49" name="Text 47"/>
          <p:cNvSpPr txBox="1"/>
          <p:nvPr/>
        </p:nvSpPr>
        <p:spPr>
          <a:xfrm>
            <a:off x="5102352" y="473659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DevOps / CI-CD</a:t>
            </a:r>
            <a:endParaRPr lang="en-US" sz="1300" dirty="0"/>
          </a:p>
        </p:txBody>
      </p:sp>
      <p:sp>
        <p:nvSpPr>
          <p:cNvPr id="50" name="Text 48"/>
          <p:cNvSpPr txBox="1"/>
          <p:nvPr/>
        </p:nvSpPr>
        <p:spPr>
          <a:xfrm>
            <a:off x="4517136" y="512978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YAML et Dockerfile complets</a:t>
            </a:r>
            <a:endParaRPr lang="en-US" sz="1050" dirty="0"/>
          </a:p>
        </p:txBody>
      </p:sp>
      <p:sp>
        <p:nvSpPr>
          <p:cNvPr id="51" name="Shape 49"/>
          <p:cNvSpPr/>
          <p:nvPr/>
        </p:nvSpPr>
        <p:spPr>
          <a:xfrm>
            <a:off x="4517136" y="5458968"/>
            <a:ext cx="292608" cy="32004"/>
          </a:xfrm>
          <a:prstGeom prst="rect">
            <a:avLst/>
          </a:prstGeom>
          <a:solidFill>
            <a:srgbClr val="0E8A6A"/>
          </a:solidFill>
          <a:ln w="12700">
            <a:solidFill>
              <a:srgbClr val="0E8A6A"/>
            </a:solidFill>
            <a:prstDash val="solid"/>
          </a:ln>
        </p:spPr>
      </p:sp>
      <p:sp>
        <p:nvSpPr>
          <p:cNvPr id="52" name="Text 50"/>
          <p:cNvSpPr txBox="1"/>
          <p:nvPr/>
        </p:nvSpPr>
        <p:spPr>
          <a:xfrm>
            <a:off x="4517136" y="555040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Pipeline</a:t>
            </a:r>
            <a:endParaRPr lang="en-US" sz="1050" dirty="0"/>
          </a:p>
        </p:txBody>
      </p:sp>
      <p:sp>
        <p:nvSpPr>
          <p:cNvPr id="53" name="Shape 51"/>
          <p:cNvSpPr/>
          <p:nvPr/>
        </p:nvSpPr>
        <p:spPr>
          <a:xfrm>
            <a:off x="8083296" y="4617720"/>
            <a:ext cx="3547872" cy="1298448"/>
          </a:xfrm>
          <a:prstGeom prst="roundRect">
            <a:avLst>
              <a:gd name="adj" fmla="val 3521"/>
            </a:avLst>
          </a:prstGeom>
          <a:solidFill>
            <a:srgbClr val="F3F6FA"/>
          </a:solidFill>
          <a:ln w="9525">
            <a:solidFill>
              <a:srgbClr val="D8E1EC"/>
            </a:solidFill>
            <a:prstDash val="solid"/>
          </a:ln>
        </p:spPr>
      </p:sp>
      <p:sp>
        <p:nvSpPr>
          <p:cNvPr id="54" name="Text 52"/>
          <p:cNvSpPr txBox="1"/>
          <p:nvPr/>
        </p:nvSpPr>
        <p:spPr>
          <a:xfrm>
            <a:off x="8284464" y="474573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09</a:t>
            </a:r>
            <a:endParaRPr lang="en-US" sz="1300" dirty="0"/>
          </a:p>
        </p:txBody>
      </p:sp>
      <p:sp>
        <p:nvSpPr>
          <p:cNvPr id="55" name="Text 53"/>
          <p:cNvSpPr txBox="1"/>
          <p:nvPr/>
        </p:nvSpPr>
        <p:spPr>
          <a:xfrm>
            <a:off x="8869680" y="473659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Mise en production</a:t>
            </a:r>
            <a:endParaRPr lang="en-US" sz="1300" dirty="0"/>
          </a:p>
        </p:txBody>
      </p:sp>
      <p:sp>
        <p:nvSpPr>
          <p:cNvPr id="56" name="Text 54"/>
          <p:cNvSpPr txBox="1"/>
          <p:nvPr/>
        </p:nvSpPr>
        <p:spPr>
          <a:xfrm>
            <a:off x="8284464" y="512978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Release, rollback, monitoring</a:t>
            </a:r>
            <a:endParaRPr lang="en-US" sz="1050" dirty="0"/>
          </a:p>
        </p:txBody>
      </p:sp>
      <p:sp>
        <p:nvSpPr>
          <p:cNvPr id="57" name="Shape 55"/>
          <p:cNvSpPr/>
          <p:nvPr/>
        </p:nvSpPr>
        <p:spPr>
          <a:xfrm>
            <a:off x="8284464" y="5458968"/>
            <a:ext cx="292608" cy="32004"/>
          </a:xfrm>
          <a:prstGeom prst="rect">
            <a:avLst/>
          </a:prstGeom>
          <a:solidFill>
            <a:srgbClr val="0E8A6A"/>
          </a:solidFill>
          <a:ln w="12700">
            <a:solidFill>
              <a:srgbClr val="0E8A6A"/>
            </a:solidFill>
            <a:prstDash val="solid"/>
          </a:ln>
        </p:spPr>
      </p:sp>
      <p:sp>
        <p:nvSpPr>
          <p:cNvPr id="58" name="Text 56"/>
          <p:cNvSpPr txBox="1"/>
          <p:nvPr/>
        </p:nvSpPr>
        <p:spPr>
          <a:xfrm>
            <a:off x="8284464" y="555040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Runbook</a:t>
            </a:r>
            <a:endParaRPr lang="en-US" sz="1050" dirty="0"/>
          </a:p>
        </p:txBody>
      </p:sp>
      <p:sp>
        <p:nvSpPr>
          <p:cNvPr id="59" name="Text 57"/>
          <p:cNvSpPr txBox="1"/>
          <p:nvPr/>
        </p:nvSpPr>
        <p:spPr>
          <a:xfrm>
            <a:off x="566928" y="6291072"/>
            <a:ext cx="10424160" cy="292608"/>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Le prompt système fixe la forme attendue. Le gatekeeper vérifie ensuite que le contrat a été tenu — c’est là que les deux briques se rejoignent.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06</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LE PARCOURS</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Du prompt au livrable en huit gestes, dont un seul est irréversible.</a:t>
            </a:r>
            <a:endParaRPr lang="en-US" sz="2700" dirty="0"/>
          </a:p>
        </p:txBody>
      </p:sp>
      <p:sp>
        <p:nvSpPr>
          <p:cNvPr id="5" name="Shape 3"/>
          <p:cNvSpPr/>
          <p:nvPr/>
        </p:nvSpPr>
        <p:spPr>
          <a:xfrm>
            <a:off x="548640" y="1920240"/>
            <a:ext cx="1234440" cy="1234440"/>
          </a:xfrm>
          <a:prstGeom prst="roundRect">
            <a:avLst>
              <a:gd name="adj" fmla="val 3704"/>
            </a:avLst>
          </a:prstGeom>
          <a:solidFill>
            <a:srgbClr val="F3F6FA"/>
          </a:solidFill>
          <a:ln w="9525">
            <a:solidFill>
              <a:srgbClr val="D8E1EC"/>
            </a:solidFill>
            <a:prstDash val="solid"/>
          </a:ln>
        </p:spPr>
      </p:sp>
      <p:sp>
        <p:nvSpPr>
          <p:cNvPr id="6" name="Text 4"/>
          <p:cNvSpPr txBox="1"/>
          <p:nvPr/>
        </p:nvSpPr>
        <p:spPr>
          <a:xfrm>
            <a:off x="548640" y="2103120"/>
            <a:ext cx="1234440" cy="237744"/>
          </a:xfrm>
          <a:prstGeom prst="rect">
            <a:avLst/>
          </a:prstGeom>
          <a:noFill/>
          <a:ln/>
        </p:spPr>
        <p:txBody>
          <a:bodyPr wrap="square" lIns="0" tIns="0" rIns="0" bIns="0" rtlCol="0" anchor="t"/>
          <a:lstStyle/>
          <a:p>
            <a:pPr marL="0" indent="0" algn="ctr">
              <a:lnSpc>
                <a:spcPct val="108000"/>
              </a:lnSpc>
              <a:buNone/>
            </a:pPr>
            <a:r>
              <a:rPr lang="en-US" sz="1050" b="1" dirty="0">
                <a:solidFill>
                  <a:srgbClr val="8697AB"/>
                </a:solidFill>
                <a:latin typeface="Courier New" pitchFamily="34" charset="0"/>
                <a:ea typeface="Courier New" pitchFamily="34" charset="-122"/>
                <a:cs typeface="Courier New" pitchFamily="34" charset="-120"/>
              </a:rPr>
              <a:t>01</a:t>
            </a:r>
            <a:endParaRPr lang="en-US" sz="1050" dirty="0"/>
          </a:p>
        </p:txBody>
      </p:sp>
      <p:sp>
        <p:nvSpPr>
          <p:cNvPr id="7" name="Text 5"/>
          <p:cNvSpPr txBox="1"/>
          <p:nvPr/>
        </p:nvSpPr>
        <p:spPr>
          <a:xfrm>
            <a:off x="603504" y="2377440"/>
            <a:ext cx="1124712" cy="274320"/>
          </a:xfrm>
          <a:prstGeom prst="rect">
            <a:avLst/>
          </a:prstGeom>
          <a:noFill/>
          <a:ln/>
        </p:spPr>
        <p:txBody>
          <a:bodyPr wrap="square" lIns="0" tIns="0" rIns="0" bIns="0" rtlCol="0" anchor="t"/>
          <a:lstStyle/>
          <a:p>
            <a:pPr marL="0" indent="0" algn="ctr">
              <a:lnSpc>
                <a:spcPct val="108000"/>
              </a:lnSpc>
              <a:buNone/>
            </a:pPr>
            <a:r>
              <a:rPr lang="en-US" sz="1250" b="1" dirty="0">
                <a:solidFill>
                  <a:srgbClr val="10243E"/>
                </a:solidFill>
                <a:latin typeface="Calibri" pitchFamily="34" charset="0"/>
                <a:ea typeface="Calibri" pitchFamily="34" charset="-122"/>
                <a:cs typeface="Calibri" pitchFamily="34" charset="-120"/>
              </a:rPr>
              <a:t>Auth</a:t>
            </a:r>
            <a:endParaRPr lang="en-US" sz="1250" dirty="0"/>
          </a:p>
        </p:txBody>
      </p:sp>
      <p:sp>
        <p:nvSpPr>
          <p:cNvPr id="8" name="Text 6"/>
          <p:cNvSpPr txBox="1"/>
          <p:nvPr/>
        </p:nvSpPr>
        <p:spPr>
          <a:xfrm>
            <a:off x="621792" y="2670048"/>
            <a:ext cx="1088136" cy="457200"/>
          </a:xfrm>
          <a:prstGeom prst="rect">
            <a:avLst/>
          </a:prstGeom>
          <a:noFill/>
          <a:ln/>
        </p:spPr>
        <p:txBody>
          <a:bodyPr wrap="square" lIns="0" tIns="0" rIns="0" bIns="0" rtlCol="0" anchor="t"/>
          <a:lstStyle/>
          <a:p>
            <a:pPr marL="0" indent="0" algn="ctr">
              <a:lnSpc>
                <a:spcPct val="105000"/>
              </a:lnSpc>
              <a:buNone/>
            </a:pPr>
            <a:r>
              <a:rPr lang="en-US" sz="850" dirty="0">
                <a:solidFill>
                  <a:srgbClr val="8697AB"/>
                </a:solidFill>
                <a:latin typeface="Calibri" pitchFamily="34" charset="0"/>
                <a:ea typeface="Calibri" pitchFamily="34" charset="-122"/>
                <a:cs typeface="Calibri" pitchFamily="34" charset="-120"/>
              </a:rPr>
              <a:t>Session JWT Supabase</a:t>
            </a:r>
            <a:endParaRPr lang="en-US" sz="850" dirty="0"/>
          </a:p>
        </p:txBody>
      </p:sp>
      <p:sp>
        <p:nvSpPr>
          <p:cNvPr id="9" name="Shape 7"/>
          <p:cNvSpPr/>
          <p:nvPr/>
        </p:nvSpPr>
        <p:spPr>
          <a:xfrm>
            <a:off x="1792224" y="2542032"/>
            <a:ext cx="155448" cy="0"/>
          </a:xfrm>
          <a:prstGeom prst="line">
            <a:avLst/>
          </a:prstGeom>
          <a:noFill/>
          <a:ln w="15875">
            <a:solidFill>
              <a:srgbClr val="9AACBF"/>
            </a:solidFill>
            <a:prstDash val="solid"/>
            <a:tailEnd type="triangle"/>
          </a:ln>
        </p:spPr>
      </p:sp>
      <p:sp>
        <p:nvSpPr>
          <p:cNvPr id="10" name="Shape 8"/>
          <p:cNvSpPr/>
          <p:nvPr/>
        </p:nvSpPr>
        <p:spPr>
          <a:xfrm>
            <a:off x="1965960" y="1920240"/>
            <a:ext cx="1234440" cy="1234440"/>
          </a:xfrm>
          <a:prstGeom prst="roundRect">
            <a:avLst>
              <a:gd name="adj" fmla="val 3704"/>
            </a:avLst>
          </a:prstGeom>
          <a:solidFill>
            <a:srgbClr val="F3F6FA"/>
          </a:solidFill>
          <a:ln w="9525">
            <a:solidFill>
              <a:srgbClr val="D8E1EC"/>
            </a:solidFill>
            <a:prstDash val="solid"/>
          </a:ln>
        </p:spPr>
      </p:sp>
      <p:sp>
        <p:nvSpPr>
          <p:cNvPr id="11" name="Text 9"/>
          <p:cNvSpPr txBox="1"/>
          <p:nvPr/>
        </p:nvSpPr>
        <p:spPr>
          <a:xfrm>
            <a:off x="1965960" y="2103120"/>
            <a:ext cx="1234440" cy="237744"/>
          </a:xfrm>
          <a:prstGeom prst="rect">
            <a:avLst/>
          </a:prstGeom>
          <a:noFill/>
          <a:ln/>
        </p:spPr>
        <p:txBody>
          <a:bodyPr wrap="square" lIns="0" tIns="0" rIns="0" bIns="0" rtlCol="0" anchor="t"/>
          <a:lstStyle/>
          <a:p>
            <a:pPr marL="0" indent="0" algn="ctr">
              <a:lnSpc>
                <a:spcPct val="108000"/>
              </a:lnSpc>
              <a:buNone/>
            </a:pPr>
            <a:r>
              <a:rPr lang="en-US" sz="1050" b="1" dirty="0">
                <a:solidFill>
                  <a:srgbClr val="8697AB"/>
                </a:solidFill>
                <a:latin typeface="Courier New" pitchFamily="34" charset="0"/>
                <a:ea typeface="Courier New" pitchFamily="34" charset="-122"/>
                <a:cs typeface="Courier New" pitchFamily="34" charset="-120"/>
              </a:rPr>
              <a:t>02</a:t>
            </a:r>
            <a:endParaRPr lang="en-US" sz="1050" dirty="0"/>
          </a:p>
        </p:txBody>
      </p:sp>
      <p:sp>
        <p:nvSpPr>
          <p:cNvPr id="12" name="Text 10"/>
          <p:cNvSpPr txBox="1"/>
          <p:nvPr/>
        </p:nvSpPr>
        <p:spPr>
          <a:xfrm>
            <a:off x="2020824" y="2377440"/>
            <a:ext cx="1124712" cy="274320"/>
          </a:xfrm>
          <a:prstGeom prst="rect">
            <a:avLst/>
          </a:prstGeom>
          <a:noFill/>
          <a:ln/>
        </p:spPr>
        <p:txBody>
          <a:bodyPr wrap="square" lIns="0" tIns="0" rIns="0" bIns="0" rtlCol="0" anchor="t"/>
          <a:lstStyle/>
          <a:p>
            <a:pPr marL="0" indent="0" algn="ctr">
              <a:lnSpc>
                <a:spcPct val="108000"/>
              </a:lnSpc>
              <a:buNone/>
            </a:pPr>
            <a:r>
              <a:rPr lang="en-US" sz="1250" b="1" dirty="0">
                <a:solidFill>
                  <a:srgbClr val="10243E"/>
                </a:solidFill>
                <a:latin typeface="Calibri" pitchFamily="34" charset="0"/>
                <a:ea typeface="Calibri" pitchFamily="34" charset="-122"/>
                <a:cs typeface="Calibri" pitchFamily="34" charset="-120"/>
              </a:rPr>
              <a:t>Projet</a:t>
            </a:r>
            <a:endParaRPr lang="en-US" sz="1250" dirty="0"/>
          </a:p>
        </p:txBody>
      </p:sp>
      <p:sp>
        <p:nvSpPr>
          <p:cNvPr id="13" name="Text 11"/>
          <p:cNvSpPr txBox="1"/>
          <p:nvPr/>
        </p:nvSpPr>
        <p:spPr>
          <a:xfrm>
            <a:off x="2039112" y="2670048"/>
            <a:ext cx="1088136" cy="457200"/>
          </a:xfrm>
          <a:prstGeom prst="rect">
            <a:avLst/>
          </a:prstGeom>
          <a:noFill/>
          <a:ln/>
        </p:spPr>
        <p:txBody>
          <a:bodyPr wrap="square" lIns="0" tIns="0" rIns="0" bIns="0" rtlCol="0" anchor="t"/>
          <a:lstStyle/>
          <a:p>
            <a:pPr marL="0" indent="0" algn="ctr">
              <a:lnSpc>
                <a:spcPct val="105000"/>
              </a:lnSpc>
              <a:buNone/>
            </a:pPr>
            <a:r>
              <a:rPr lang="en-US" sz="850" dirty="0">
                <a:solidFill>
                  <a:srgbClr val="8697AB"/>
                </a:solidFill>
                <a:latin typeface="Calibri" pitchFamily="34" charset="0"/>
                <a:ea typeface="Calibri" pitchFamily="34" charset="-122"/>
                <a:cs typeface="Calibri" pitchFamily="34" charset="-120"/>
              </a:rPr>
              <a:t>Stack, instructions, chemin hôte</a:t>
            </a:r>
            <a:endParaRPr lang="en-US" sz="850" dirty="0"/>
          </a:p>
        </p:txBody>
      </p:sp>
      <p:sp>
        <p:nvSpPr>
          <p:cNvPr id="14" name="Shape 12"/>
          <p:cNvSpPr/>
          <p:nvPr/>
        </p:nvSpPr>
        <p:spPr>
          <a:xfrm>
            <a:off x="3209544" y="2542032"/>
            <a:ext cx="155448" cy="0"/>
          </a:xfrm>
          <a:prstGeom prst="line">
            <a:avLst/>
          </a:prstGeom>
          <a:noFill/>
          <a:ln w="15875">
            <a:solidFill>
              <a:srgbClr val="9AACBF"/>
            </a:solidFill>
            <a:prstDash val="solid"/>
            <a:tailEnd type="triangle"/>
          </a:ln>
        </p:spPr>
      </p:sp>
      <p:sp>
        <p:nvSpPr>
          <p:cNvPr id="15" name="Shape 13"/>
          <p:cNvSpPr/>
          <p:nvPr/>
        </p:nvSpPr>
        <p:spPr>
          <a:xfrm>
            <a:off x="3383280" y="1920240"/>
            <a:ext cx="1234440" cy="1234440"/>
          </a:xfrm>
          <a:prstGeom prst="roundRect">
            <a:avLst>
              <a:gd name="adj" fmla="val 3704"/>
            </a:avLst>
          </a:prstGeom>
          <a:solidFill>
            <a:srgbClr val="F3F6FA"/>
          </a:solidFill>
          <a:ln w="9525">
            <a:solidFill>
              <a:srgbClr val="D8E1EC"/>
            </a:solidFill>
            <a:prstDash val="solid"/>
          </a:ln>
        </p:spPr>
      </p:sp>
      <p:sp>
        <p:nvSpPr>
          <p:cNvPr id="16" name="Text 14"/>
          <p:cNvSpPr txBox="1"/>
          <p:nvPr/>
        </p:nvSpPr>
        <p:spPr>
          <a:xfrm>
            <a:off x="3383280" y="2103120"/>
            <a:ext cx="1234440" cy="237744"/>
          </a:xfrm>
          <a:prstGeom prst="rect">
            <a:avLst/>
          </a:prstGeom>
          <a:noFill/>
          <a:ln/>
        </p:spPr>
        <p:txBody>
          <a:bodyPr wrap="square" lIns="0" tIns="0" rIns="0" bIns="0" rtlCol="0" anchor="t"/>
          <a:lstStyle/>
          <a:p>
            <a:pPr marL="0" indent="0" algn="ctr">
              <a:lnSpc>
                <a:spcPct val="108000"/>
              </a:lnSpc>
              <a:buNone/>
            </a:pPr>
            <a:r>
              <a:rPr lang="en-US" sz="1050" b="1" dirty="0">
                <a:solidFill>
                  <a:srgbClr val="8697AB"/>
                </a:solidFill>
                <a:latin typeface="Courier New" pitchFamily="34" charset="0"/>
                <a:ea typeface="Courier New" pitchFamily="34" charset="-122"/>
                <a:cs typeface="Courier New" pitchFamily="34" charset="-120"/>
              </a:rPr>
              <a:t>03</a:t>
            </a:r>
            <a:endParaRPr lang="en-US" sz="1050" dirty="0"/>
          </a:p>
        </p:txBody>
      </p:sp>
      <p:sp>
        <p:nvSpPr>
          <p:cNvPr id="17" name="Text 15"/>
          <p:cNvSpPr txBox="1"/>
          <p:nvPr/>
        </p:nvSpPr>
        <p:spPr>
          <a:xfrm>
            <a:off x="3438144" y="2377440"/>
            <a:ext cx="1124712" cy="274320"/>
          </a:xfrm>
          <a:prstGeom prst="rect">
            <a:avLst/>
          </a:prstGeom>
          <a:noFill/>
          <a:ln/>
        </p:spPr>
        <p:txBody>
          <a:bodyPr wrap="square" lIns="0" tIns="0" rIns="0" bIns="0" rtlCol="0" anchor="t"/>
          <a:lstStyle/>
          <a:p>
            <a:pPr marL="0" indent="0" algn="ctr">
              <a:lnSpc>
                <a:spcPct val="108000"/>
              </a:lnSpc>
              <a:buNone/>
            </a:pPr>
            <a:r>
              <a:rPr lang="en-US" sz="1250" b="1" dirty="0">
                <a:solidFill>
                  <a:srgbClr val="10243E"/>
                </a:solidFill>
                <a:latin typeface="Calibri" pitchFamily="34" charset="0"/>
                <a:ea typeface="Calibri" pitchFamily="34" charset="-122"/>
                <a:cs typeface="Calibri" pitchFamily="34" charset="-120"/>
              </a:rPr>
              <a:t>Phase</a:t>
            </a:r>
            <a:endParaRPr lang="en-US" sz="1250" dirty="0"/>
          </a:p>
        </p:txBody>
      </p:sp>
      <p:sp>
        <p:nvSpPr>
          <p:cNvPr id="18" name="Text 16"/>
          <p:cNvSpPr txBox="1"/>
          <p:nvPr/>
        </p:nvSpPr>
        <p:spPr>
          <a:xfrm>
            <a:off x="3456432" y="2670048"/>
            <a:ext cx="1088136" cy="457200"/>
          </a:xfrm>
          <a:prstGeom prst="rect">
            <a:avLst/>
          </a:prstGeom>
          <a:noFill/>
          <a:ln/>
        </p:spPr>
        <p:txBody>
          <a:bodyPr wrap="square" lIns="0" tIns="0" rIns="0" bIns="0" rtlCol="0" anchor="t"/>
          <a:lstStyle/>
          <a:p>
            <a:pPr marL="0" indent="0" algn="ctr">
              <a:lnSpc>
                <a:spcPct val="105000"/>
              </a:lnSpc>
              <a:buNone/>
            </a:pPr>
            <a:r>
              <a:rPr lang="en-US" sz="850" dirty="0">
                <a:solidFill>
                  <a:srgbClr val="8697AB"/>
                </a:solidFill>
                <a:latin typeface="Calibri" pitchFamily="34" charset="0"/>
                <a:ea typeface="Calibri" pitchFamily="34" charset="-122"/>
                <a:cs typeface="Calibri" pitchFamily="34" charset="-120"/>
              </a:rPr>
              <a:t>1 à 9, dans le composer</a:t>
            </a:r>
            <a:endParaRPr lang="en-US" sz="850" dirty="0"/>
          </a:p>
        </p:txBody>
      </p:sp>
      <p:sp>
        <p:nvSpPr>
          <p:cNvPr id="19" name="Shape 17"/>
          <p:cNvSpPr/>
          <p:nvPr/>
        </p:nvSpPr>
        <p:spPr>
          <a:xfrm>
            <a:off x="4626864" y="2542032"/>
            <a:ext cx="155448" cy="0"/>
          </a:xfrm>
          <a:prstGeom prst="line">
            <a:avLst/>
          </a:prstGeom>
          <a:noFill/>
          <a:ln w="15875">
            <a:solidFill>
              <a:srgbClr val="9AACBF"/>
            </a:solidFill>
            <a:prstDash val="solid"/>
            <a:tailEnd type="triangle"/>
          </a:ln>
        </p:spPr>
      </p:sp>
      <p:sp>
        <p:nvSpPr>
          <p:cNvPr id="20" name="Shape 18"/>
          <p:cNvSpPr/>
          <p:nvPr/>
        </p:nvSpPr>
        <p:spPr>
          <a:xfrm>
            <a:off x="4800600" y="1920240"/>
            <a:ext cx="1234440" cy="1234440"/>
          </a:xfrm>
          <a:prstGeom prst="roundRect">
            <a:avLst>
              <a:gd name="adj" fmla="val 3704"/>
            </a:avLst>
          </a:prstGeom>
          <a:solidFill>
            <a:srgbClr val="F3F6FA"/>
          </a:solidFill>
          <a:ln w="9525">
            <a:solidFill>
              <a:srgbClr val="D8E1EC"/>
            </a:solidFill>
            <a:prstDash val="solid"/>
          </a:ln>
        </p:spPr>
      </p:sp>
      <p:sp>
        <p:nvSpPr>
          <p:cNvPr id="21" name="Text 19"/>
          <p:cNvSpPr txBox="1"/>
          <p:nvPr/>
        </p:nvSpPr>
        <p:spPr>
          <a:xfrm>
            <a:off x="4800600" y="2103120"/>
            <a:ext cx="1234440" cy="237744"/>
          </a:xfrm>
          <a:prstGeom prst="rect">
            <a:avLst/>
          </a:prstGeom>
          <a:noFill/>
          <a:ln/>
        </p:spPr>
        <p:txBody>
          <a:bodyPr wrap="square" lIns="0" tIns="0" rIns="0" bIns="0" rtlCol="0" anchor="t"/>
          <a:lstStyle/>
          <a:p>
            <a:pPr marL="0" indent="0" algn="ctr">
              <a:lnSpc>
                <a:spcPct val="108000"/>
              </a:lnSpc>
              <a:buNone/>
            </a:pPr>
            <a:r>
              <a:rPr lang="en-US" sz="1050" b="1" dirty="0">
                <a:solidFill>
                  <a:srgbClr val="8697AB"/>
                </a:solidFill>
                <a:latin typeface="Courier New" pitchFamily="34" charset="0"/>
                <a:ea typeface="Courier New" pitchFamily="34" charset="-122"/>
                <a:cs typeface="Courier New" pitchFamily="34" charset="-120"/>
              </a:rPr>
              <a:t>04</a:t>
            </a:r>
            <a:endParaRPr lang="en-US" sz="1050" dirty="0"/>
          </a:p>
        </p:txBody>
      </p:sp>
      <p:sp>
        <p:nvSpPr>
          <p:cNvPr id="22" name="Text 20"/>
          <p:cNvSpPr txBox="1"/>
          <p:nvPr/>
        </p:nvSpPr>
        <p:spPr>
          <a:xfrm>
            <a:off x="4855464" y="2377440"/>
            <a:ext cx="1124712" cy="274320"/>
          </a:xfrm>
          <a:prstGeom prst="rect">
            <a:avLst/>
          </a:prstGeom>
          <a:noFill/>
          <a:ln/>
        </p:spPr>
        <p:txBody>
          <a:bodyPr wrap="square" lIns="0" tIns="0" rIns="0" bIns="0" rtlCol="0" anchor="t"/>
          <a:lstStyle/>
          <a:p>
            <a:pPr marL="0" indent="0" algn="ctr">
              <a:lnSpc>
                <a:spcPct val="108000"/>
              </a:lnSpc>
              <a:buNone/>
            </a:pPr>
            <a:r>
              <a:rPr lang="en-US" sz="1250" b="1" dirty="0">
                <a:solidFill>
                  <a:srgbClr val="10243E"/>
                </a:solidFill>
                <a:latin typeface="Calibri" pitchFamily="34" charset="0"/>
                <a:ea typeface="Calibri" pitchFamily="34" charset="-122"/>
                <a:cs typeface="Calibri" pitchFamily="34" charset="-120"/>
              </a:rPr>
              <a:t>Prompt</a:t>
            </a:r>
            <a:endParaRPr lang="en-US" sz="1250" dirty="0"/>
          </a:p>
        </p:txBody>
      </p:sp>
      <p:sp>
        <p:nvSpPr>
          <p:cNvPr id="23" name="Text 21"/>
          <p:cNvSpPr txBox="1"/>
          <p:nvPr/>
        </p:nvSpPr>
        <p:spPr>
          <a:xfrm>
            <a:off x="4873752" y="2670048"/>
            <a:ext cx="1088136" cy="457200"/>
          </a:xfrm>
          <a:prstGeom prst="rect">
            <a:avLst/>
          </a:prstGeom>
          <a:noFill/>
          <a:ln/>
        </p:spPr>
        <p:txBody>
          <a:bodyPr wrap="square" lIns="0" tIns="0" rIns="0" bIns="0" rtlCol="0" anchor="t"/>
          <a:lstStyle/>
          <a:p>
            <a:pPr marL="0" indent="0" algn="ctr">
              <a:lnSpc>
                <a:spcPct val="105000"/>
              </a:lnSpc>
              <a:buNone/>
            </a:pPr>
            <a:r>
              <a:rPr lang="en-US" sz="850" dirty="0">
                <a:solidFill>
                  <a:srgbClr val="8697AB"/>
                </a:solidFill>
                <a:latin typeface="Calibri" pitchFamily="34" charset="0"/>
                <a:ea typeface="Calibri" pitchFamily="34" charset="-122"/>
                <a:cs typeface="Calibri" pitchFamily="34" charset="-120"/>
              </a:rPr>
              <a:t>+ pièce jointe RAG</a:t>
            </a:r>
            <a:endParaRPr lang="en-US" sz="850" dirty="0"/>
          </a:p>
        </p:txBody>
      </p:sp>
      <p:sp>
        <p:nvSpPr>
          <p:cNvPr id="24" name="Shape 22"/>
          <p:cNvSpPr/>
          <p:nvPr/>
        </p:nvSpPr>
        <p:spPr>
          <a:xfrm>
            <a:off x="6044184" y="2542032"/>
            <a:ext cx="155448" cy="0"/>
          </a:xfrm>
          <a:prstGeom prst="line">
            <a:avLst/>
          </a:prstGeom>
          <a:noFill/>
          <a:ln w="15875">
            <a:solidFill>
              <a:srgbClr val="9AACBF"/>
            </a:solidFill>
            <a:prstDash val="solid"/>
            <a:tailEnd type="triangle"/>
          </a:ln>
        </p:spPr>
      </p:sp>
      <p:sp>
        <p:nvSpPr>
          <p:cNvPr id="25" name="Shape 23"/>
          <p:cNvSpPr/>
          <p:nvPr/>
        </p:nvSpPr>
        <p:spPr>
          <a:xfrm>
            <a:off x="6217920" y="1920240"/>
            <a:ext cx="1234440" cy="1234440"/>
          </a:xfrm>
          <a:prstGeom prst="roundRect">
            <a:avLst>
              <a:gd name="adj" fmla="val 3704"/>
            </a:avLst>
          </a:prstGeom>
          <a:solidFill>
            <a:srgbClr val="F3F6FA"/>
          </a:solidFill>
          <a:ln w="9525">
            <a:solidFill>
              <a:srgbClr val="D8E1EC"/>
            </a:solidFill>
            <a:prstDash val="solid"/>
          </a:ln>
        </p:spPr>
      </p:sp>
      <p:sp>
        <p:nvSpPr>
          <p:cNvPr id="26" name="Text 24"/>
          <p:cNvSpPr txBox="1"/>
          <p:nvPr/>
        </p:nvSpPr>
        <p:spPr>
          <a:xfrm>
            <a:off x="6217920" y="2103120"/>
            <a:ext cx="1234440" cy="237744"/>
          </a:xfrm>
          <a:prstGeom prst="rect">
            <a:avLst/>
          </a:prstGeom>
          <a:noFill/>
          <a:ln/>
        </p:spPr>
        <p:txBody>
          <a:bodyPr wrap="square" lIns="0" tIns="0" rIns="0" bIns="0" rtlCol="0" anchor="t"/>
          <a:lstStyle/>
          <a:p>
            <a:pPr marL="0" indent="0" algn="ctr">
              <a:lnSpc>
                <a:spcPct val="108000"/>
              </a:lnSpc>
              <a:buNone/>
            </a:pPr>
            <a:r>
              <a:rPr lang="en-US" sz="1050" b="1" dirty="0">
                <a:solidFill>
                  <a:srgbClr val="8697AB"/>
                </a:solidFill>
                <a:latin typeface="Courier New" pitchFamily="34" charset="0"/>
                <a:ea typeface="Courier New" pitchFamily="34" charset="-122"/>
                <a:cs typeface="Courier New" pitchFamily="34" charset="-120"/>
              </a:rPr>
              <a:t>05</a:t>
            </a:r>
            <a:endParaRPr lang="en-US" sz="1050" dirty="0"/>
          </a:p>
        </p:txBody>
      </p:sp>
      <p:sp>
        <p:nvSpPr>
          <p:cNvPr id="27" name="Text 25"/>
          <p:cNvSpPr txBox="1"/>
          <p:nvPr/>
        </p:nvSpPr>
        <p:spPr>
          <a:xfrm>
            <a:off x="6272784" y="2377440"/>
            <a:ext cx="1124712" cy="274320"/>
          </a:xfrm>
          <a:prstGeom prst="rect">
            <a:avLst/>
          </a:prstGeom>
          <a:noFill/>
          <a:ln/>
        </p:spPr>
        <p:txBody>
          <a:bodyPr wrap="square" lIns="0" tIns="0" rIns="0" bIns="0" rtlCol="0" anchor="t"/>
          <a:lstStyle/>
          <a:p>
            <a:pPr marL="0" indent="0" algn="ctr">
              <a:lnSpc>
                <a:spcPct val="108000"/>
              </a:lnSpc>
              <a:buNone/>
            </a:pPr>
            <a:r>
              <a:rPr lang="en-US" sz="1250" b="1" dirty="0">
                <a:solidFill>
                  <a:srgbClr val="10243E"/>
                </a:solidFill>
                <a:latin typeface="Calibri" pitchFamily="34" charset="0"/>
                <a:ea typeface="Calibri" pitchFamily="34" charset="-122"/>
                <a:cs typeface="Calibri" pitchFamily="34" charset="-120"/>
              </a:rPr>
              <a:t>SSE</a:t>
            </a:r>
            <a:endParaRPr lang="en-US" sz="1250" dirty="0"/>
          </a:p>
        </p:txBody>
      </p:sp>
      <p:sp>
        <p:nvSpPr>
          <p:cNvPr id="28" name="Text 26"/>
          <p:cNvSpPr txBox="1"/>
          <p:nvPr/>
        </p:nvSpPr>
        <p:spPr>
          <a:xfrm>
            <a:off x="6291072" y="2670048"/>
            <a:ext cx="1088136" cy="457200"/>
          </a:xfrm>
          <a:prstGeom prst="rect">
            <a:avLst/>
          </a:prstGeom>
          <a:noFill/>
          <a:ln/>
        </p:spPr>
        <p:txBody>
          <a:bodyPr wrap="square" lIns="0" tIns="0" rIns="0" bIns="0" rtlCol="0" anchor="t"/>
          <a:lstStyle/>
          <a:p>
            <a:pPr marL="0" indent="0" algn="ctr">
              <a:lnSpc>
                <a:spcPct val="105000"/>
              </a:lnSpc>
              <a:buNone/>
            </a:pPr>
            <a:r>
              <a:rPr lang="en-US" sz="850" dirty="0">
                <a:solidFill>
                  <a:srgbClr val="8697AB"/>
                </a:solidFill>
                <a:latin typeface="Calibri" pitchFamily="34" charset="0"/>
                <a:ea typeface="Calibri" pitchFamily="34" charset="-122"/>
                <a:cs typeface="Calibri" pitchFamily="34" charset="-120"/>
              </a:rPr>
              <a:t>routing · rag · token · quality</a:t>
            </a:r>
            <a:endParaRPr lang="en-US" sz="850" dirty="0"/>
          </a:p>
        </p:txBody>
      </p:sp>
      <p:sp>
        <p:nvSpPr>
          <p:cNvPr id="29" name="Shape 27"/>
          <p:cNvSpPr/>
          <p:nvPr/>
        </p:nvSpPr>
        <p:spPr>
          <a:xfrm>
            <a:off x="7461504" y="2542032"/>
            <a:ext cx="155448" cy="0"/>
          </a:xfrm>
          <a:prstGeom prst="line">
            <a:avLst/>
          </a:prstGeom>
          <a:noFill/>
          <a:ln w="15875">
            <a:solidFill>
              <a:srgbClr val="9AACBF"/>
            </a:solidFill>
            <a:prstDash val="solid"/>
            <a:tailEnd type="triangle"/>
          </a:ln>
        </p:spPr>
      </p:sp>
      <p:sp>
        <p:nvSpPr>
          <p:cNvPr id="30" name="Shape 28"/>
          <p:cNvSpPr/>
          <p:nvPr/>
        </p:nvSpPr>
        <p:spPr>
          <a:xfrm>
            <a:off x="7635240" y="1920240"/>
            <a:ext cx="1234440" cy="1234440"/>
          </a:xfrm>
          <a:prstGeom prst="roundRect">
            <a:avLst>
              <a:gd name="adj" fmla="val 3704"/>
            </a:avLst>
          </a:prstGeom>
          <a:solidFill>
            <a:srgbClr val="F3F6FA"/>
          </a:solidFill>
          <a:ln w="9525">
            <a:solidFill>
              <a:srgbClr val="D8E1EC"/>
            </a:solidFill>
            <a:prstDash val="solid"/>
          </a:ln>
        </p:spPr>
      </p:sp>
      <p:sp>
        <p:nvSpPr>
          <p:cNvPr id="31" name="Text 29"/>
          <p:cNvSpPr txBox="1"/>
          <p:nvPr/>
        </p:nvSpPr>
        <p:spPr>
          <a:xfrm>
            <a:off x="7635240" y="2103120"/>
            <a:ext cx="1234440" cy="237744"/>
          </a:xfrm>
          <a:prstGeom prst="rect">
            <a:avLst/>
          </a:prstGeom>
          <a:noFill/>
          <a:ln/>
        </p:spPr>
        <p:txBody>
          <a:bodyPr wrap="square" lIns="0" tIns="0" rIns="0" bIns="0" rtlCol="0" anchor="t"/>
          <a:lstStyle/>
          <a:p>
            <a:pPr marL="0" indent="0" algn="ctr">
              <a:lnSpc>
                <a:spcPct val="108000"/>
              </a:lnSpc>
              <a:buNone/>
            </a:pPr>
            <a:r>
              <a:rPr lang="en-US" sz="1050" b="1" dirty="0">
                <a:solidFill>
                  <a:srgbClr val="8697AB"/>
                </a:solidFill>
                <a:latin typeface="Courier New" pitchFamily="34" charset="0"/>
                <a:ea typeface="Courier New" pitchFamily="34" charset="-122"/>
                <a:cs typeface="Courier New" pitchFamily="34" charset="-120"/>
              </a:rPr>
              <a:t>06</a:t>
            </a:r>
            <a:endParaRPr lang="en-US" sz="1050" dirty="0"/>
          </a:p>
        </p:txBody>
      </p:sp>
      <p:sp>
        <p:nvSpPr>
          <p:cNvPr id="32" name="Text 30"/>
          <p:cNvSpPr txBox="1"/>
          <p:nvPr/>
        </p:nvSpPr>
        <p:spPr>
          <a:xfrm>
            <a:off x="7690104" y="2377440"/>
            <a:ext cx="1124712" cy="274320"/>
          </a:xfrm>
          <a:prstGeom prst="rect">
            <a:avLst/>
          </a:prstGeom>
          <a:noFill/>
          <a:ln/>
        </p:spPr>
        <p:txBody>
          <a:bodyPr wrap="square" lIns="0" tIns="0" rIns="0" bIns="0" rtlCol="0" anchor="t"/>
          <a:lstStyle/>
          <a:p>
            <a:pPr marL="0" indent="0" algn="ctr">
              <a:lnSpc>
                <a:spcPct val="108000"/>
              </a:lnSpc>
              <a:buNone/>
            </a:pPr>
            <a:r>
              <a:rPr lang="en-US" sz="1250" b="1" dirty="0">
                <a:solidFill>
                  <a:srgbClr val="10243E"/>
                </a:solidFill>
                <a:latin typeface="Calibri" pitchFamily="34" charset="0"/>
                <a:ea typeface="Calibri" pitchFamily="34" charset="-122"/>
                <a:cs typeface="Calibri" pitchFamily="34" charset="-120"/>
              </a:rPr>
              <a:t>Scan</a:t>
            </a:r>
            <a:endParaRPr lang="en-US" sz="1250" dirty="0"/>
          </a:p>
        </p:txBody>
      </p:sp>
      <p:sp>
        <p:nvSpPr>
          <p:cNvPr id="33" name="Text 31"/>
          <p:cNvSpPr txBox="1"/>
          <p:nvPr/>
        </p:nvSpPr>
        <p:spPr>
          <a:xfrm>
            <a:off x="7708392" y="2670048"/>
            <a:ext cx="1088136" cy="457200"/>
          </a:xfrm>
          <a:prstGeom prst="rect">
            <a:avLst/>
          </a:prstGeom>
          <a:noFill/>
          <a:ln/>
        </p:spPr>
        <p:txBody>
          <a:bodyPr wrap="square" lIns="0" tIns="0" rIns="0" bIns="0" rtlCol="0" anchor="t"/>
          <a:lstStyle/>
          <a:p>
            <a:pPr marL="0" indent="0" algn="ctr">
              <a:lnSpc>
                <a:spcPct val="105000"/>
              </a:lnSpc>
              <a:buNone/>
            </a:pPr>
            <a:r>
              <a:rPr lang="en-US" sz="850" dirty="0">
                <a:solidFill>
                  <a:srgbClr val="8697AB"/>
                </a:solidFill>
                <a:latin typeface="Calibri" pitchFamily="34" charset="0"/>
                <a:ea typeface="Calibri" pitchFamily="34" charset="-122"/>
                <a:cs typeface="Calibri" pitchFamily="34" charset="-120"/>
              </a:rPr>
              <a:t>Audit et % par phase</a:t>
            </a:r>
            <a:endParaRPr lang="en-US" sz="850" dirty="0"/>
          </a:p>
        </p:txBody>
      </p:sp>
      <p:sp>
        <p:nvSpPr>
          <p:cNvPr id="34" name="Shape 32"/>
          <p:cNvSpPr/>
          <p:nvPr/>
        </p:nvSpPr>
        <p:spPr>
          <a:xfrm>
            <a:off x="8878824" y="2542032"/>
            <a:ext cx="155448" cy="0"/>
          </a:xfrm>
          <a:prstGeom prst="line">
            <a:avLst/>
          </a:prstGeom>
          <a:noFill/>
          <a:ln w="15875">
            <a:solidFill>
              <a:srgbClr val="9AACBF"/>
            </a:solidFill>
            <a:prstDash val="solid"/>
            <a:tailEnd type="triangle"/>
          </a:ln>
        </p:spPr>
      </p:sp>
      <p:sp>
        <p:nvSpPr>
          <p:cNvPr id="35" name="Shape 33"/>
          <p:cNvSpPr/>
          <p:nvPr/>
        </p:nvSpPr>
        <p:spPr>
          <a:xfrm>
            <a:off x="9052560" y="1920240"/>
            <a:ext cx="1234440" cy="1234440"/>
          </a:xfrm>
          <a:prstGeom prst="roundRect">
            <a:avLst>
              <a:gd name="adj" fmla="val 3704"/>
            </a:avLst>
          </a:prstGeom>
          <a:solidFill>
            <a:srgbClr val="F3F6FA"/>
          </a:solidFill>
          <a:ln w="9525">
            <a:solidFill>
              <a:srgbClr val="D8E1EC"/>
            </a:solidFill>
            <a:prstDash val="solid"/>
          </a:ln>
        </p:spPr>
      </p:sp>
      <p:sp>
        <p:nvSpPr>
          <p:cNvPr id="36" name="Text 34"/>
          <p:cNvSpPr txBox="1"/>
          <p:nvPr/>
        </p:nvSpPr>
        <p:spPr>
          <a:xfrm>
            <a:off x="9052560" y="2103120"/>
            <a:ext cx="1234440" cy="237744"/>
          </a:xfrm>
          <a:prstGeom prst="rect">
            <a:avLst/>
          </a:prstGeom>
          <a:noFill/>
          <a:ln/>
        </p:spPr>
        <p:txBody>
          <a:bodyPr wrap="square" lIns="0" tIns="0" rIns="0" bIns="0" rtlCol="0" anchor="t"/>
          <a:lstStyle/>
          <a:p>
            <a:pPr marL="0" indent="0" algn="ctr">
              <a:lnSpc>
                <a:spcPct val="108000"/>
              </a:lnSpc>
              <a:buNone/>
            </a:pPr>
            <a:r>
              <a:rPr lang="en-US" sz="1050" b="1" dirty="0">
                <a:solidFill>
                  <a:srgbClr val="8697AB"/>
                </a:solidFill>
                <a:latin typeface="Courier New" pitchFamily="34" charset="0"/>
                <a:ea typeface="Courier New" pitchFamily="34" charset="-122"/>
                <a:cs typeface="Courier New" pitchFamily="34" charset="-120"/>
              </a:rPr>
              <a:t>07</a:t>
            </a:r>
            <a:endParaRPr lang="en-US" sz="1050" dirty="0"/>
          </a:p>
        </p:txBody>
      </p:sp>
      <p:sp>
        <p:nvSpPr>
          <p:cNvPr id="37" name="Text 35"/>
          <p:cNvSpPr txBox="1"/>
          <p:nvPr/>
        </p:nvSpPr>
        <p:spPr>
          <a:xfrm>
            <a:off x="9107424" y="2377440"/>
            <a:ext cx="1124712" cy="274320"/>
          </a:xfrm>
          <a:prstGeom prst="rect">
            <a:avLst/>
          </a:prstGeom>
          <a:noFill/>
          <a:ln/>
        </p:spPr>
        <p:txBody>
          <a:bodyPr wrap="square" lIns="0" tIns="0" rIns="0" bIns="0" rtlCol="0" anchor="t"/>
          <a:lstStyle/>
          <a:p>
            <a:pPr marL="0" indent="0" algn="ctr">
              <a:lnSpc>
                <a:spcPct val="108000"/>
              </a:lnSpc>
              <a:buNone/>
            </a:pPr>
            <a:r>
              <a:rPr lang="en-US" sz="1250" b="1" dirty="0">
                <a:solidFill>
                  <a:srgbClr val="10243E"/>
                </a:solidFill>
                <a:latin typeface="Calibri" pitchFamily="34" charset="0"/>
                <a:ea typeface="Calibri" pitchFamily="34" charset="-122"/>
                <a:cs typeface="Calibri" pitchFamily="34" charset="-120"/>
              </a:rPr>
              <a:t>Execute</a:t>
            </a:r>
            <a:endParaRPr lang="en-US" sz="1250" dirty="0"/>
          </a:p>
        </p:txBody>
      </p:sp>
      <p:sp>
        <p:nvSpPr>
          <p:cNvPr id="38" name="Text 36"/>
          <p:cNvSpPr txBox="1"/>
          <p:nvPr/>
        </p:nvSpPr>
        <p:spPr>
          <a:xfrm>
            <a:off x="9125712" y="2670048"/>
            <a:ext cx="1088136" cy="457200"/>
          </a:xfrm>
          <a:prstGeom prst="rect">
            <a:avLst/>
          </a:prstGeom>
          <a:noFill/>
          <a:ln/>
        </p:spPr>
        <p:txBody>
          <a:bodyPr wrap="square" lIns="0" tIns="0" rIns="0" bIns="0" rtlCol="0" anchor="t"/>
          <a:lstStyle/>
          <a:p>
            <a:pPr marL="0" indent="0" algn="ctr">
              <a:lnSpc>
                <a:spcPct val="105000"/>
              </a:lnSpc>
              <a:buNone/>
            </a:pPr>
            <a:r>
              <a:rPr lang="en-US" sz="850" dirty="0">
                <a:solidFill>
                  <a:srgbClr val="8697AB"/>
                </a:solidFill>
                <a:latin typeface="Calibri" pitchFamily="34" charset="0"/>
                <a:ea typeface="Calibri" pitchFamily="34" charset="-122"/>
                <a:cs typeface="Calibri" pitchFamily="34" charset="-120"/>
              </a:rPr>
              <a:t>Meta-prompt, envoi manuel</a:t>
            </a:r>
            <a:endParaRPr lang="en-US" sz="850" dirty="0"/>
          </a:p>
        </p:txBody>
      </p:sp>
      <p:sp>
        <p:nvSpPr>
          <p:cNvPr id="39" name="Shape 37"/>
          <p:cNvSpPr/>
          <p:nvPr/>
        </p:nvSpPr>
        <p:spPr>
          <a:xfrm>
            <a:off x="10296144" y="2542032"/>
            <a:ext cx="155448" cy="0"/>
          </a:xfrm>
          <a:prstGeom prst="line">
            <a:avLst/>
          </a:prstGeom>
          <a:noFill/>
          <a:ln w="15875">
            <a:solidFill>
              <a:srgbClr val="9AACBF"/>
            </a:solidFill>
            <a:prstDash val="solid"/>
            <a:tailEnd type="triangle"/>
          </a:ln>
        </p:spPr>
      </p:sp>
      <p:sp>
        <p:nvSpPr>
          <p:cNvPr id="40" name="Shape 38"/>
          <p:cNvSpPr/>
          <p:nvPr/>
        </p:nvSpPr>
        <p:spPr>
          <a:xfrm>
            <a:off x="10469880" y="1920240"/>
            <a:ext cx="1234440" cy="1234440"/>
          </a:xfrm>
          <a:prstGeom prst="roundRect">
            <a:avLst>
              <a:gd name="adj" fmla="val 3704"/>
            </a:avLst>
          </a:prstGeom>
          <a:solidFill>
            <a:srgbClr val="FBF1DF"/>
          </a:solidFill>
          <a:ln w="9525">
            <a:solidFill>
              <a:srgbClr val="B07407"/>
            </a:solidFill>
            <a:prstDash val="solid"/>
          </a:ln>
        </p:spPr>
      </p:sp>
      <p:sp>
        <p:nvSpPr>
          <p:cNvPr id="41" name="Text 39"/>
          <p:cNvSpPr txBox="1"/>
          <p:nvPr/>
        </p:nvSpPr>
        <p:spPr>
          <a:xfrm>
            <a:off x="10469880" y="2103120"/>
            <a:ext cx="1234440" cy="237744"/>
          </a:xfrm>
          <a:prstGeom prst="rect">
            <a:avLst/>
          </a:prstGeom>
          <a:noFill/>
          <a:ln/>
        </p:spPr>
        <p:txBody>
          <a:bodyPr wrap="square" lIns="0" tIns="0" rIns="0" bIns="0" rtlCol="0" anchor="t"/>
          <a:lstStyle/>
          <a:p>
            <a:pPr marL="0" indent="0" algn="ctr">
              <a:lnSpc>
                <a:spcPct val="108000"/>
              </a:lnSpc>
              <a:buNone/>
            </a:pPr>
            <a:r>
              <a:rPr lang="en-US" sz="1050" b="1" dirty="0">
                <a:solidFill>
                  <a:srgbClr val="B07407"/>
                </a:solidFill>
                <a:latin typeface="Courier New" pitchFamily="34" charset="0"/>
                <a:ea typeface="Courier New" pitchFamily="34" charset="-122"/>
                <a:cs typeface="Courier New" pitchFamily="34" charset="-120"/>
              </a:rPr>
              <a:t>08</a:t>
            </a:r>
            <a:endParaRPr lang="en-US" sz="1050" dirty="0"/>
          </a:p>
        </p:txBody>
      </p:sp>
      <p:sp>
        <p:nvSpPr>
          <p:cNvPr id="42" name="Text 40"/>
          <p:cNvSpPr txBox="1"/>
          <p:nvPr/>
        </p:nvSpPr>
        <p:spPr>
          <a:xfrm>
            <a:off x="10524744" y="2377440"/>
            <a:ext cx="1124712" cy="274320"/>
          </a:xfrm>
          <a:prstGeom prst="rect">
            <a:avLst/>
          </a:prstGeom>
          <a:noFill/>
          <a:ln/>
        </p:spPr>
        <p:txBody>
          <a:bodyPr wrap="square" lIns="0" tIns="0" rIns="0" bIns="0" rtlCol="0" anchor="t"/>
          <a:lstStyle/>
          <a:p>
            <a:pPr marL="0" indent="0" algn="ctr">
              <a:lnSpc>
                <a:spcPct val="108000"/>
              </a:lnSpc>
              <a:buNone/>
            </a:pPr>
            <a:r>
              <a:rPr lang="en-US" sz="1250" b="1" dirty="0">
                <a:solidFill>
                  <a:srgbClr val="10243E"/>
                </a:solidFill>
                <a:latin typeface="Calibri" pitchFamily="34" charset="0"/>
                <a:ea typeface="Calibri" pitchFamily="34" charset="-122"/>
                <a:cs typeface="Calibri" pitchFamily="34" charset="-120"/>
              </a:rPr>
              <a:t>Apply</a:t>
            </a:r>
            <a:endParaRPr lang="en-US" sz="1250" dirty="0"/>
          </a:p>
        </p:txBody>
      </p:sp>
      <p:sp>
        <p:nvSpPr>
          <p:cNvPr id="43" name="Text 41"/>
          <p:cNvSpPr txBox="1"/>
          <p:nvPr/>
        </p:nvSpPr>
        <p:spPr>
          <a:xfrm>
            <a:off x="10543032" y="2670048"/>
            <a:ext cx="1088136" cy="457200"/>
          </a:xfrm>
          <a:prstGeom prst="rect">
            <a:avLst/>
          </a:prstGeom>
          <a:noFill/>
          <a:ln/>
        </p:spPr>
        <p:txBody>
          <a:bodyPr wrap="square" lIns="0" tIns="0" rIns="0" bIns="0" rtlCol="0" anchor="t"/>
          <a:lstStyle/>
          <a:p>
            <a:pPr marL="0" indent="0" algn="ctr">
              <a:lnSpc>
                <a:spcPct val="105000"/>
              </a:lnSpc>
              <a:buNone/>
            </a:pPr>
            <a:r>
              <a:rPr lang="en-US" sz="850" dirty="0">
                <a:solidFill>
                  <a:srgbClr val="8697AB"/>
                </a:solidFill>
                <a:latin typeface="Calibri" pitchFamily="34" charset="0"/>
                <a:ea typeface="Calibri" pitchFamily="34" charset="-122"/>
                <a:cs typeface="Calibri" pitchFamily="34" charset="-120"/>
              </a:rPr>
              <a:t>Écriture sur le disque</a:t>
            </a:r>
            <a:endParaRPr lang="en-US" sz="850" dirty="0"/>
          </a:p>
        </p:txBody>
      </p:sp>
      <p:sp>
        <p:nvSpPr>
          <p:cNvPr id="44" name="Shape 42"/>
          <p:cNvSpPr/>
          <p:nvPr/>
        </p:nvSpPr>
        <p:spPr>
          <a:xfrm>
            <a:off x="548640" y="3520440"/>
            <a:ext cx="3547872" cy="1600200"/>
          </a:xfrm>
          <a:prstGeom prst="roundRect">
            <a:avLst>
              <a:gd name="adj" fmla="val 2857"/>
            </a:avLst>
          </a:prstGeom>
          <a:solidFill>
            <a:srgbClr val="FBF1DF"/>
          </a:solidFill>
          <a:ln w="9525">
            <a:solidFill>
              <a:srgbClr val="B07407"/>
            </a:solidFill>
            <a:prstDash val="solid"/>
          </a:ln>
        </p:spPr>
      </p:sp>
      <p:sp>
        <p:nvSpPr>
          <p:cNvPr id="45" name="Text 43"/>
          <p:cNvSpPr txBox="1"/>
          <p:nvPr/>
        </p:nvSpPr>
        <p:spPr>
          <a:xfrm>
            <a:off x="749808" y="3657600"/>
            <a:ext cx="3145536" cy="274320"/>
          </a:xfrm>
          <a:prstGeom prst="rect">
            <a:avLst/>
          </a:prstGeom>
          <a:noFill/>
          <a:ln/>
        </p:spPr>
        <p:txBody>
          <a:bodyPr wrap="square" lIns="0" tIns="0" rIns="0" bIns="0" rtlCol="0" anchor="t"/>
          <a:lstStyle/>
          <a:p>
            <a:pPr marL="0" indent="0" algn="l">
              <a:lnSpc>
                <a:spcPct val="108000"/>
              </a:lnSpc>
              <a:buNone/>
            </a:pPr>
            <a:r>
              <a:rPr lang="en-US" sz="1350" b="1" dirty="0">
                <a:solidFill>
                  <a:srgbClr val="B07407"/>
                </a:solidFill>
                <a:latin typeface="Calibri" pitchFamily="34" charset="0"/>
                <a:ea typeface="Calibri" pitchFamily="34" charset="-122"/>
                <a:cs typeface="Calibri" pitchFamily="34" charset="-120"/>
              </a:rPr>
              <a:t>Le geste irréversible</a:t>
            </a:r>
            <a:endParaRPr lang="en-US" sz="1350" dirty="0"/>
          </a:p>
        </p:txBody>
      </p:sp>
      <p:sp>
        <p:nvSpPr>
          <p:cNvPr id="46" name="Text 44"/>
          <p:cNvSpPr txBox="1"/>
          <p:nvPr/>
        </p:nvSpPr>
        <p:spPr>
          <a:xfrm>
            <a:off x="749808" y="3995928"/>
            <a:ext cx="3145536" cy="99669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Apply &amp; Sync to Host est le seul moment où l’assistant écrit sur un vrai projet. Allowlist docs/, src/, tests/, .github/ — et déclenchement humain obligatoire.</a:t>
            </a:r>
            <a:endParaRPr lang="en-US" sz="1100" dirty="0"/>
          </a:p>
        </p:txBody>
      </p:sp>
      <p:sp>
        <p:nvSpPr>
          <p:cNvPr id="47" name="Shape 45"/>
          <p:cNvSpPr/>
          <p:nvPr/>
        </p:nvSpPr>
        <p:spPr>
          <a:xfrm>
            <a:off x="4315968" y="3520440"/>
            <a:ext cx="3547872" cy="1600200"/>
          </a:xfrm>
          <a:prstGeom prst="roundRect">
            <a:avLst>
              <a:gd name="adj" fmla="val 2857"/>
            </a:avLst>
          </a:prstGeom>
          <a:solidFill>
            <a:srgbClr val="F3F6FA"/>
          </a:solidFill>
          <a:ln w="9525">
            <a:solidFill>
              <a:srgbClr val="D8E1EC"/>
            </a:solidFill>
            <a:prstDash val="solid"/>
          </a:ln>
        </p:spPr>
      </p:sp>
      <p:sp>
        <p:nvSpPr>
          <p:cNvPr id="48" name="Text 46"/>
          <p:cNvSpPr txBox="1"/>
          <p:nvPr/>
        </p:nvSpPr>
        <p:spPr>
          <a:xfrm>
            <a:off x="4517136" y="3657600"/>
            <a:ext cx="3145536" cy="274320"/>
          </a:xfrm>
          <a:prstGeom prst="rect">
            <a:avLst/>
          </a:prstGeom>
          <a:noFill/>
          <a:ln/>
        </p:spPr>
        <p:txBody>
          <a:bodyPr wrap="square" lIns="0" tIns="0" rIns="0" bIns="0" rtlCol="0" anchor="t"/>
          <a:lstStyle/>
          <a:p>
            <a:pPr marL="0" indent="0" algn="l">
              <a:lnSpc>
                <a:spcPct val="108000"/>
              </a:lnSpc>
              <a:buNone/>
            </a:pPr>
            <a:r>
              <a:rPr lang="en-US" sz="1350" b="1" dirty="0">
                <a:solidFill>
                  <a:srgbClr val="10243E"/>
                </a:solidFill>
                <a:latin typeface="Calibri" pitchFamily="34" charset="0"/>
                <a:ea typeface="Calibri" pitchFamily="34" charset="-122"/>
                <a:cs typeface="Calibri" pitchFamily="34" charset="-120"/>
              </a:rPr>
              <a:t>Le geste qu’on garde manuel</a:t>
            </a:r>
            <a:endParaRPr lang="en-US" sz="1350" dirty="0"/>
          </a:p>
        </p:txBody>
      </p:sp>
      <p:sp>
        <p:nvSpPr>
          <p:cNvPr id="49" name="Text 47"/>
          <p:cNvSpPr txBox="1"/>
          <p:nvPr/>
        </p:nvSpPr>
        <p:spPr>
          <a:xfrm>
            <a:off x="4517136" y="3995928"/>
            <a:ext cx="3145536" cy="99669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Execute Phase précharge le meta-prompt sans l’envoyer. L’utilisateur relit avant de générer — c’est la différence de qualité mesurée au benchmark.</a:t>
            </a:r>
            <a:endParaRPr lang="en-US" sz="1100" dirty="0"/>
          </a:p>
        </p:txBody>
      </p:sp>
      <p:sp>
        <p:nvSpPr>
          <p:cNvPr id="50" name="Shape 48"/>
          <p:cNvSpPr/>
          <p:nvPr/>
        </p:nvSpPr>
        <p:spPr>
          <a:xfrm>
            <a:off x="8083296" y="3520440"/>
            <a:ext cx="3547872" cy="1600200"/>
          </a:xfrm>
          <a:prstGeom prst="roundRect">
            <a:avLst>
              <a:gd name="adj" fmla="val 2857"/>
            </a:avLst>
          </a:prstGeom>
          <a:solidFill>
            <a:srgbClr val="E8EEF6"/>
          </a:solidFill>
          <a:ln w="9525">
            <a:solidFill>
              <a:srgbClr val="D8E1EC"/>
            </a:solidFill>
            <a:prstDash val="solid"/>
          </a:ln>
        </p:spPr>
      </p:sp>
      <p:sp>
        <p:nvSpPr>
          <p:cNvPr id="51" name="Text 49"/>
          <p:cNvSpPr txBox="1"/>
          <p:nvPr/>
        </p:nvSpPr>
        <p:spPr>
          <a:xfrm>
            <a:off x="8284464" y="3657600"/>
            <a:ext cx="3145536" cy="274320"/>
          </a:xfrm>
          <a:prstGeom prst="rect">
            <a:avLst/>
          </a:prstGeom>
          <a:noFill/>
          <a:ln/>
        </p:spPr>
        <p:txBody>
          <a:bodyPr wrap="square" lIns="0" tIns="0" rIns="0" bIns="0" rtlCol="0" anchor="t"/>
          <a:lstStyle/>
          <a:p>
            <a:pPr marL="0" indent="0" algn="l">
              <a:lnSpc>
                <a:spcPct val="108000"/>
              </a:lnSpc>
              <a:buNone/>
            </a:pPr>
            <a:r>
              <a:rPr lang="en-US" sz="1350" b="1" dirty="0">
                <a:solidFill>
                  <a:srgbClr val="10243E"/>
                </a:solidFill>
                <a:latin typeface="Calibri" pitchFamily="34" charset="0"/>
                <a:ea typeface="Calibri" pitchFamily="34" charset="-122"/>
                <a:cs typeface="Calibri" pitchFamily="34" charset="-120"/>
              </a:rPr>
              <a:t>Le geste qui rend le reste crédible</a:t>
            </a:r>
            <a:endParaRPr lang="en-US" sz="1350" dirty="0"/>
          </a:p>
        </p:txBody>
      </p:sp>
      <p:sp>
        <p:nvSpPr>
          <p:cNvPr id="52" name="Text 50"/>
          <p:cNvSpPr txBox="1"/>
          <p:nvPr/>
        </p:nvSpPr>
        <p:spPr>
          <a:xfrm>
            <a:off x="8284464" y="3995928"/>
            <a:ext cx="3145536" cy="99669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Scan project recalcule l’audit à partir du disque. Ce n’est pas l’assistant qui note son propre travail : c’est l’arborescence du projet.</a:t>
            </a:r>
            <a:endParaRPr lang="en-US" sz="1100" dirty="0"/>
          </a:p>
        </p:txBody>
      </p:sp>
      <p:sp>
        <p:nvSpPr>
          <p:cNvPr id="53" name="Shape 51"/>
          <p:cNvSpPr/>
          <p:nvPr/>
        </p:nvSpPr>
        <p:spPr>
          <a:xfrm>
            <a:off x="548640" y="5257800"/>
            <a:ext cx="11064240" cy="822960"/>
          </a:xfrm>
          <a:prstGeom prst="roundRect">
            <a:avLst>
              <a:gd name="adj" fmla="val 5556"/>
            </a:avLst>
          </a:prstGeom>
          <a:solidFill>
            <a:srgbClr val="F3F6FA"/>
          </a:solidFill>
          <a:ln w="9525">
            <a:solidFill>
              <a:srgbClr val="D8E1EC"/>
            </a:solidFill>
            <a:prstDash val="solid"/>
          </a:ln>
        </p:spPr>
      </p:sp>
      <p:sp>
        <p:nvSpPr>
          <p:cNvPr id="54" name="Text 52"/>
          <p:cNvSpPr txBox="1"/>
          <p:nvPr/>
        </p:nvSpPr>
        <p:spPr>
          <a:xfrm>
            <a:off x="749808" y="5394960"/>
            <a:ext cx="10661904" cy="274320"/>
          </a:xfrm>
          <a:prstGeom prst="rect">
            <a:avLst/>
          </a:prstGeom>
          <a:noFill/>
          <a:ln/>
        </p:spPr>
        <p:txBody>
          <a:bodyPr wrap="square" lIns="0" tIns="0" rIns="0" bIns="0" rtlCol="0" anchor="t"/>
          <a:lstStyle/>
          <a:p>
            <a:pPr marL="0" indent="0" algn="l">
              <a:lnSpc>
                <a:spcPct val="108000"/>
              </a:lnSpc>
              <a:buNone/>
            </a:pPr>
            <a:r>
              <a:rPr lang="en-US" sz="1250" b="1" dirty="0">
                <a:solidFill>
                  <a:srgbClr val="10243E"/>
                </a:solidFill>
                <a:latin typeface="Calibri" pitchFamily="34" charset="0"/>
                <a:ea typeface="Calibri" pitchFamily="34" charset="-122"/>
                <a:cs typeface="Calibri" pitchFamily="34" charset="-120"/>
              </a:rPr>
              <a:t>Le point de bascule de la démonstration</a:t>
            </a:r>
            <a:endParaRPr lang="en-US" sz="1250" dirty="0"/>
          </a:p>
        </p:txBody>
      </p:sp>
      <p:sp>
        <p:nvSpPr>
          <p:cNvPr id="55" name="Text 53"/>
          <p:cNvSpPr txBox="1"/>
          <p:nvPr/>
        </p:nvSpPr>
        <p:spPr>
          <a:xfrm>
            <a:off x="749808" y="5733288"/>
            <a:ext cx="10661904" cy="21945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Entre l’étape 5 et l’étape 6, on passe d’un chat à un outil de delivery : la réponse devient un fichier, et le fichier devient un pourcentage d’avancement.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07</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ARCHITECTURE</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Cinq couches, et une seule porte vers les modèles.</a:t>
            </a:r>
            <a:endParaRPr lang="en-US" sz="2700" dirty="0"/>
          </a:p>
        </p:txBody>
      </p:sp>
      <p:sp>
        <p:nvSpPr>
          <p:cNvPr id="5" name="Shape 3"/>
          <p:cNvSpPr/>
          <p:nvPr/>
        </p:nvSpPr>
        <p:spPr>
          <a:xfrm>
            <a:off x="548640" y="1737360"/>
            <a:ext cx="7680960" cy="713232"/>
          </a:xfrm>
          <a:prstGeom prst="roundRect">
            <a:avLst>
              <a:gd name="adj" fmla="val 6410"/>
            </a:avLst>
          </a:prstGeom>
          <a:solidFill>
            <a:srgbClr val="FFFFFF"/>
          </a:solidFill>
          <a:ln w="9525">
            <a:solidFill>
              <a:srgbClr val="D8E1EC"/>
            </a:solidFill>
            <a:prstDash val="solid"/>
          </a:ln>
        </p:spPr>
      </p:sp>
      <p:sp>
        <p:nvSpPr>
          <p:cNvPr id="6" name="Text 4"/>
          <p:cNvSpPr txBox="1"/>
          <p:nvPr/>
        </p:nvSpPr>
        <p:spPr>
          <a:xfrm>
            <a:off x="731520" y="1828800"/>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Interface — React 19 / Vite 6</a:t>
            </a:r>
            <a:endParaRPr lang="en-US" sz="1150" dirty="0"/>
          </a:p>
        </p:txBody>
      </p:sp>
      <p:sp>
        <p:nvSpPr>
          <p:cNvPr id="7" name="Shape 5"/>
          <p:cNvSpPr/>
          <p:nvPr/>
        </p:nvSpPr>
        <p:spPr>
          <a:xfrm>
            <a:off x="731520" y="2121408"/>
            <a:ext cx="1389888" cy="256032"/>
          </a:xfrm>
          <a:prstGeom prst="roundRect">
            <a:avLst>
              <a:gd name="adj" fmla="val 28571"/>
            </a:avLst>
          </a:prstGeom>
          <a:solidFill>
            <a:srgbClr val="F3F6FA"/>
          </a:solidFill>
          <a:ln w="9525">
            <a:solidFill>
              <a:srgbClr val="D8E1EC"/>
            </a:solidFill>
            <a:prstDash val="solid"/>
          </a:ln>
        </p:spPr>
      </p:sp>
      <p:sp>
        <p:nvSpPr>
          <p:cNvPr id="8" name="Text 6"/>
          <p:cNvSpPr txBox="1"/>
          <p:nvPr/>
        </p:nvSpPr>
        <p:spPr>
          <a:xfrm>
            <a:off x="777240" y="2121408"/>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Chat</a:t>
            </a:r>
            <a:endParaRPr lang="en-US" sz="850" dirty="0"/>
          </a:p>
        </p:txBody>
      </p:sp>
      <p:sp>
        <p:nvSpPr>
          <p:cNvPr id="9" name="Shape 7"/>
          <p:cNvSpPr/>
          <p:nvPr/>
        </p:nvSpPr>
        <p:spPr>
          <a:xfrm>
            <a:off x="2194560" y="2121408"/>
            <a:ext cx="1389888" cy="256032"/>
          </a:xfrm>
          <a:prstGeom prst="roundRect">
            <a:avLst>
              <a:gd name="adj" fmla="val 28571"/>
            </a:avLst>
          </a:prstGeom>
          <a:solidFill>
            <a:srgbClr val="F3F6FA"/>
          </a:solidFill>
          <a:ln w="9525">
            <a:solidFill>
              <a:srgbClr val="D8E1EC"/>
            </a:solidFill>
            <a:prstDash val="solid"/>
          </a:ln>
        </p:spPr>
      </p:sp>
      <p:sp>
        <p:nvSpPr>
          <p:cNvPr id="10" name="Text 8"/>
          <p:cNvSpPr txBox="1"/>
          <p:nvPr/>
        </p:nvSpPr>
        <p:spPr>
          <a:xfrm>
            <a:off x="2240280" y="2121408"/>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Dashboard</a:t>
            </a:r>
            <a:endParaRPr lang="en-US" sz="850" dirty="0"/>
          </a:p>
        </p:txBody>
      </p:sp>
      <p:sp>
        <p:nvSpPr>
          <p:cNvPr id="11" name="Shape 9"/>
          <p:cNvSpPr/>
          <p:nvPr/>
        </p:nvSpPr>
        <p:spPr>
          <a:xfrm>
            <a:off x="3657600" y="2121408"/>
            <a:ext cx="1389888" cy="256032"/>
          </a:xfrm>
          <a:prstGeom prst="roundRect">
            <a:avLst>
              <a:gd name="adj" fmla="val 28571"/>
            </a:avLst>
          </a:prstGeom>
          <a:solidFill>
            <a:srgbClr val="F3F6FA"/>
          </a:solidFill>
          <a:ln w="9525">
            <a:solidFill>
              <a:srgbClr val="D8E1EC"/>
            </a:solidFill>
            <a:prstDash val="solid"/>
          </a:ln>
        </p:spPr>
      </p:sp>
      <p:sp>
        <p:nvSpPr>
          <p:cNvPr id="12" name="Text 10"/>
          <p:cNvSpPr txBox="1"/>
          <p:nvPr/>
        </p:nvSpPr>
        <p:spPr>
          <a:xfrm>
            <a:off x="3703320" y="2121408"/>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Artifacts</a:t>
            </a:r>
            <a:endParaRPr lang="en-US" sz="850" dirty="0"/>
          </a:p>
        </p:txBody>
      </p:sp>
      <p:sp>
        <p:nvSpPr>
          <p:cNvPr id="13" name="Shape 11"/>
          <p:cNvSpPr/>
          <p:nvPr/>
        </p:nvSpPr>
        <p:spPr>
          <a:xfrm>
            <a:off x="5120640" y="2121408"/>
            <a:ext cx="1389888" cy="256032"/>
          </a:xfrm>
          <a:prstGeom prst="roundRect">
            <a:avLst>
              <a:gd name="adj" fmla="val 28571"/>
            </a:avLst>
          </a:prstGeom>
          <a:solidFill>
            <a:srgbClr val="F3F6FA"/>
          </a:solidFill>
          <a:ln w="9525">
            <a:solidFill>
              <a:srgbClr val="D8E1EC"/>
            </a:solidFill>
            <a:prstDash val="solid"/>
          </a:ln>
        </p:spPr>
      </p:sp>
      <p:sp>
        <p:nvSpPr>
          <p:cNvPr id="14" name="Text 12"/>
          <p:cNvSpPr txBox="1"/>
          <p:nvPr/>
        </p:nvSpPr>
        <p:spPr>
          <a:xfrm>
            <a:off x="5166360" y="2121408"/>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IDE</a:t>
            </a:r>
            <a:endParaRPr lang="en-US" sz="850" dirty="0"/>
          </a:p>
        </p:txBody>
      </p:sp>
      <p:sp>
        <p:nvSpPr>
          <p:cNvPr id="15" name="Shape 13"/>
          <p:cNvSpPr/>
          <p:nvPr/>
        </p:nvSpPr>
        <p:spPr>
          <a:xfrm>
            <a:off x="6583680" y="2121408"/>
            <a:ext cx="1389888" cy="256032"/>
          </a:xfrm>
          <a:prstGeom prst="roundRect">
            <a:avLst>
              <a:gd name="adj" fmla="val 28571"/>
            </a:avLst>
          </a:prstGeom>
          <a:solidFill>
            <a:srgbClr val="F3F6FA"/>
          </a:solidFill>
          <a:ln w="9525">
            <a:solidFill>
              <a:srgbClr val="D8E1EC"/>
            </a:solidFill>
            <a:prstDash val="solid"/>
          </a:ln>
        </p:spPr>
      </p:sp>
      <p:sp>
        <p:nvSpPr>
          <p:cNvPr id="16" name="Text 14"/>
          <p:cNvSpPr txBox="1"/>
          <p:nvPr/>
        </p:nvSpPr>
        <p:spPr>
          <a:xfrm>
            <a:off x="6629400" y="2121408"/>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Customize</a:t>
            </a:r>
            <a:endParaRPr lang="en-US" sz="850" dirty="0"/>
          </a:p>
        </p:txBody>
      </p:sp>
      <p:sp>
        <p:nvSpPr>
          <p:cNvPr id="17" name="Shape 15"/>
          <p:cNvSpPr/>
          <p:nvPr/>
        </p:nvSpPr>
        <p:spPr>
          <a:xfrm>
            <a:off x="4389120" y="2468880"/>
            <a:ext cx="0" cy="155448"/>
          </a:xfrm>
          <a:prstGeom prst="line">
            <a:avLst/>
          </a:prstGeom>
          <a:noFill/>
          <a:ln w="15875">
            <a:solidFill>
              <a:srgbClr val="9AACBF"/>
            </a:solidFill>
            <a:prstDash val="solid"/>
            <a:tailEnd type="triangle"/>
          </a:ln>
        </p:spPr>
      </p:sp>
      <p:sp>
        <p:nvSpPr>
          <p:cNvPr id="18" name="Shape 16"/>
          <p:cNvSpPr/>
          <p:nvPr/>
        </p:nvSpPr>
        <p:spPr>
          <a:xfrm>
            <a:off x="548640" y="2633472"/>
            <a:ext cx="7680960" cy="713232"/>
          </a:xfrm>
          <a:prstGeom prst="roundRect">
            <a:avLst>
              <a:gd name="adj" fmla="val 6410"/>
            </a:avLst>
          </a:prstGeom>
          <a:solidFill>
            <a:srgbClr val="FFFFFF"/>
          </a:solidFill>
          <a:ln w="9525">
            <a:solidFill>
              <a:srgbClr val="D8E1EC"/>
            </a:solidFill>
            <a:prstDash val="solid"/>
          </a:ln>
        </p:spPr>
      </p:sp>
      <p:sp>
        <p:nvSpPr>
          <p:cNvPr id="19" name="Text 17"/>
          <p:cNvSpPr txBox="1"/>
          <p:nvPr/>
        </p:nvSpPr>
        <p:spPr>
          <a:xfrm>
            <a:off x="731520" y="2724912"/>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API — FastAPI</a:t>
            </a:r>
            <a:endParaRPr lang="en-US" sz="1150" dirty="0"/>
          </a:p>
        </p:txBody>
      </p:sp>
      <p:sp>
        <p:nvSpPr>
          <p:cNvPr id="20" name="Shape 18"/>
          <p:cNvSpPr/>
          <p:nvPr/>
        </p:nvSpPr>
        <p:spPr>
          <a:xfrm>
            <a:off x="731520" y="3017520"/>
            <a:ext cx="1389888" cy="256032"/>
          </a:xfrm>
          <a:prstGeom prst="roundRect">
            <a:avLst>
              <a:gd name="adj" fmla="val 28571"/>
            </a:avLst>
          </a:prstGeom>
          <a:solidFill>
            <a:srgbClr val="F3F6FA"/>
          </a:solidFill>
          <a:ln w="9525">
            <a:solidFill>
              <a:srgbClr val="D8E1EC"/>
            </a:solidFill>
            <a:prstDash val="solid"/>
          </a:ln>
        </p:spPr>
      </p:sp>
      <p:sp>
        <p:nvSpPr>
          <p:cNvPr id="21" name="Text 19"/>
          <p:cNvSpPr txBox="1"/>
          <p:nvPr/>
        </p:nvSpPr>
        <p:spPr>
          <a:xfrm>
            <a:off x="777240" y="3017520"/>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/chat/completions (SSE)</a:t>
            </a:r>
            <a:endParaRPr lang="en-US" sz="850" dirty="0"/>
          </a:p>
        </p:txBody>
      </p:sp>
      <p:sp>
        <p:nvSpPr>
          <p:cNvPr id="22" name="Shape 20"/>
          <p:cNvSpPr/>
          <p:nvPr/>
        </p:nvSpPr>
        <p:spPr>
          <a:xfrm>
            <a:off x="2194560" y="3017520"/>
            <a:ext cx="1389888" cy="256032"/>
          </a:xfrm>
          <a:prstGeom prst="roundRect">
            <a:avLst>
              <a:gd name="adj" fmla="val 28571"/>
            </a:avLst>
          </a:prstGeom>
          <a:solidFill>
            <a:srgbClr val="F3F6FA"/>
          </a:solidFill>
          <a:ln w="9525">
            <a:solidFill>
              <a:srgbClr val="D8E1EC"/>
            </a:solidFill>
            <a:prstDash val="solid"/>
          </a:ln>
        </p:spPr>
      </p:sp>
      <p:sp>
        <p:nvSpPr>
          <p:cNvPr id="23" name="Text 21"/>
          <p:cNvSpPr txBox="1"/>
          <p:nvPr/>
        </p:nvSpPr>
        <p:spPr>
          <a:xfrm>
            <a:off x="2240280" y="3017520"/>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/workspaces</a:t>
            </a:r>
            <a:endParaRPr lang="en-US" sz="850" dirty="0"/>
          </a:p>
        </p:txBody>
      </p:sp>
      <p:sp>
        <p:nvSpPr>
          <p:cNvPr id="24" name="Shape 22"/>
          <p:cNvSpPr/>
          <p:nvPr/>
        </p:nvSpPr>
        <p:spPr>
          <a:xfrm>
            <a:off x="3657600" y="3017520"/>
            <a:ext cx="1389888" cy="256032"/>
          </a:xfrm>
          <a:prstGeom prst="roundRect">
            <a:avLst>
              <a:gd name="adj" fmla="val 28571"/>
            </a:avLst>
          </a:prstGeom>
          <a:solidFill>
            <a:srgbClr val="F3F6FA"/>
          </a:solidFill>
          <a:ln w="9525">
            <a:solidFill>
              <a:srgbClr val="D8E1EC"/>
            </a:solidFill>
            <a:prstDash val="solid"/>
          </a:ln>
        </p:spPr>
      </p:sp>
      <p:sp>
        <p:nvSpPr>
          <p:cNvPr id="25" name="Text 23"/>
          <p:cNvSpPr txBox="1"/>
          <p:nvPr/>
        </p:nvSpPr>
        <p:spPr>
          <a:xfrm>
            <a:off x="3703320" y="3017520"/>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/fs/*</a:t>
            </a:r>
            <a:endParaRPr lang="en-US" sz="850" dirty="0"/>
          </a:p>
        </p:txBody>
      </p:sp>
      <p:sp>
        <p:nvSpPr>
          <p:cNvPr id="26" name="Shape 24"/>
          <p:cNvSpPr/>
          <p:nvPr/>
        </p:nvSpPr>
        <p:spPr>
          <a:xfrm>
            <a:off x="5120640" y="3017520"/>
            <a:ext cx="1389888" cy="256032"/>
          </a:xfrm>
          <a:prstGeom prst="roundRect">
            <a:avLst>
              <a:gd name="adj" fmla="val 28571"/>
            </a:avLst>
          </a:prstGeom>
          <a:solidFill>
            <a:srgbClr val="F3F6FA"/>
          </a:solidFill>
          <a:ln w="9525">
            <a:solidFill>
              <a:srgbClr val="D8E1EC"/>
            </a:solidFill>
            <a:prstDash val="solid"/>
          </a:ln>
        </p:spPr>
      </p:sp>
      <p:sp>
        <p:nvSpPr>
          <p:cNvPr id="27" name="Text 25"/>
          <p:cNvSpPr txBox="1"/>
          <p:nvPr/>
        </p:nvSpPr>
        <p:spPr>
          <a:xfrm>
            <a:off x="5166360" y="3017520"/>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/deliverables</a:t>
            </a:r>
            <a:endParaRPr lang="en-US" sz="850" dirty="0"/>
          </a:p>
        </p:txBody>
      </p:sp>
      <p:sp>
        <p:nvSpPr>
          <p:cNvPr id="28" name="Shape 26"/>
          <p:cNvSpPr/>
          <p:nvPr/>
        </p:nvSpPr>
        <p:spPr>
          <a:xfrm>
            <a:off x="6583680" y="3017520"/>
            <a:ext cx="1389888" cy="256032"/>
          </a:xfrm>
          <a:prstGeom prst="roundRect">
            <a:avLst>
              <a:gd name="adj" fmla="val 28571"/>
            </a:avLst>
          </a:prstGeom>
          <a:solidFill>
            <a:srgbClr val="F3F6FA"/>
          </a:solidFill>
          <a:ln w="9525">
            <a:solidFill>
              <a:srgbClr val="D8E1EC"/>
            </a:solidFill>
            <a:prstDash val="solid"/>
          </a:ln>
        </p:spPr>
      </p:sp>
      <p:sp>
        <p:nvSpPr>
          <p:cNvPr id="29" name="Text 27"/>
          <p:cNvSpPr txBox="1"/>
          <p:nvPr/>
        </p:nvSpPr>
        <p:spPr>
          <a:xfrm>
            <a:off x="6629400" y="3017520"/>
            <a:ext cx="129844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/models</a:t>
            </a:r>
            <a:endParaRPr lang="en-US" sz="850" dirty="0"/>
          </a:p>
        </p:txBody>
      </p:sp>
      <p:sp>
        <p:nvSpPr>
          <p:cNvPr id="30" name="Shape 28"/>
          <p:cNvSpPr/>
          <p:nvPr/>
        </p:nvSpPr>
        <p:spPr>
          <a:xfrm>
            <a:off x="4389120" y="3364992"/>
            <a:ext cx="0" cy="155448"/>
          </a:xfrm>
          <a:prstGeom prst="line">
            <a:avLst/>
          </a:prstGeom>
          <a:noFill/>
          <a:ln w="15875">
            <a:solidFill>
              <a:srgbClr val="9AACBF"/>
            </a:solidFill>
            <a:prstDash val="solid"/>
            <a:tailEnd type="triangle"/>
          </a:ln>
        </p:spPr>
      </p:sp>
      <p:sp>
        <p:nvSpPr>
          <p:cNvPr id="31" name="Shape 29"/>
          <p:cNvSpPr/>
          <p:nvPr/>
        </p:nvSpPr>
        <p:spPr>
          <a:xfrm>
            <a:off x="548640" y="3529584"/>
            <a:ext cx="7680960" cy="713232"/>
          </a:xfrm>
          <a:prstGeom prst="roundRect">
            <a:avLst>
              <a:gd name="adj" fmla="val 6410"/>
            </a:avLst>
          </a:prstGeom>
          <a:solidFill>
            <a:srgbClr val="E6F4EF"/>
          </a:solidFill>
          <a:ln w="9525">
            <a:solidFill>
              <a:srgbClr val="0E8A6A"/>
            </a:solidFill>
            <a:prstDash val="solid"/>
          </a:ln>
        </p:spPr>
      </p:sp>
      <p:sp>
        <p:nvSpPr>
          <p:cNvPr id="32" name="Text 30"/>
          <p:cNvSpPr txBox="1"/>
          <p:nvPr/>
        </p:nvSpPr>
        <p:spPr>
          <a:xfrm>
            <a:off x="731520" y="3621024"/>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0E8A6A"/>
                </a:solidFill>
                <a:latin typeface="Calibri" pitchFamily="34" charset="0"/>
                <a:ea typeface="Calibri" pitchFamily="34" charset="-122"/>
                <a:cs typeface="Calibri" pitchFamily="34" charset="-120"/>
              </a:rPr>
              <a:t>Intelligence</a:t>
            </a:r>
            <a:endParaRPr lang="en-US" sz="1150" dirty="0"/>
          </a:p>
        </p:txBody>
      </p:sp>
      <p:sp>
        <p:nvSpPr>
          <p:cNvPr id="33" name="Shape 31"/>
          <p:cNvSpPr/>
          <p:nvPr/>
        </p:nvSpPr>
        <p:spPr>
          <a:xfrm>
            <a:off x="731520" y="3913632"/>
            <a:ext cx="1755648" cy="256032"/>
          </a:xfrm>
          <a:prstGeom prst="roundRect">
            <a:avLst>
              <a:gd name="adj" fmla="val 28571"/>
            </a:avLst>
          </a:prstGeom>
          <a:solidFill>
            <a:srgbClr val="FFFFFF"/>
          </a:solidFill>
          <a:ln w="9525">
            <a:solidFill>
              <a:srgbClr val="D8E1EC"/>
            </a:solidFill>
            <a:prstDash val="solid"/>
          </a:ln>
        </p:spPr>
      </p:sp>
      <p:sp>
        <p:nvSpPr>
          <p:cNvPr id="34" name="Text 32"/>
          <p:cNvSpPr txBox="1"/>
          <p:nvPr/>
        </p:nvSpPr>
        <p:spPr>
          <a:xfrm>
            <a:off x="777240" y="3913632"/>
            <a:ext cx="166420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PrivacyRouter</a:t>
            </a:r>
            <a:endParaRPr lang="en-US" sz="850" dirty="0"/>
          </a:p>
        </p:txBody>
      </p:sp>
      <p:sp>
        <p:nvSpPr>
          <p:cNvPr id="35" name="Shape 33"/>
          <p:cNvSpPr/>
          <p:nvPr/>
        </p:nvSpPr>
        <p:spPr>
          <a:xfrm>
            <a:off x="2560320" y="3913632"/>
            <a:ext cx="1755648" cy="256032"/>
          </a:xfrm>
          <a:prstGeom prst="roundRect">
            <a:avLst>
              <a:gd name="adj" fmla="val 28571"/>
            </a:avLst>
          </a:prstGeom>
          <a:solidFill>
            <a:srgbClr val="FFFFFF"/>
          </a:solidFill>
          <a:ln w="9525">
            <a:solidFill>
              <a:srgbClr val="D8E1EC"/>
            </a:solidFill>
            <a:prstDash val="solid"/>
          </a:ln>
        </p:spPr>
      </p:sp>
      <p:sp>
        <p:nvSpPr>
          <p:cNvPr id="36" name="Text 34"/>
          <p:cNvSpPr txBox="1"/>
          <p:nvPr/>
        </p:nvSpPr>
        <p:spPr>
          <a:xfrm>
            <a:off x="2606040" y="3913632"/>
            <a:ext cx="166420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RAG hybride</a:t>
            </a:r>
            <a:endParaRPr lang="en-US" sz="850" dirty="0"/>
          </a:p>
        </p:txBody>
      </p:sp>
      <p:sp>
        <p:nvSpPr>
          <p:cNvPr id="37" name="Shape 35"/>
          <p:cNvSpPr/>
          <p:nvPr/>
        </p:nvSpPr>
        <p:spPr>
          <a:xfrm>
            <a:off x="4389120" y="3913632"/>
            <a:ext cx="1755648" cy="256032"/>
          </a:xfrm>
          <a:prstGeom prst="roundRect">
            <a:avLst>
              <a:gd name="adj" fmla="val 28571"/>
            </a:avLst>
          </a:prstGeom>
          <a:solidFill>
            <a:srgbClr val="FFFFFF"/>
          </a:solidFill>
          <a:ln w="9525">
            <a:solidFill>
              <a:srgbClr val="D8E1EC"/>
            </a:solidFill>
            <a:prstDash val="solid"/>
          </a:ln>
        </p:spPr>
      </p:sp>
      <p:sp>
        <p:nvSpPr>
          <p:cNvPr id="38" name="Text 36"/>
          <p:cNvSpPr txBox="1"/>
          <p:nvPr/>
        </p:nvSpPr>
        <p:spPr>
          <a:xfrm>
            <a:off x="4434840" y="3913632"/>
            <a:ext cx="166420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Gatekeeper T1–T3</a:t>
            </a:r>
            <a:endParaRPr lang="en-US" sz="850" dirty="0"/>
          </a:p>
        </p:txBody>
      </p:sp>
      <p:sp>
        <p:nvSpPr>
          <p:cNvPr id="39" name="Shape 37"/>
          <p:cNvSpPr/>
          <p:nvPr/>
        </p:nvSpPr>
        <p:spPr>
          <a:xfrm>
            <a:off x="6217920" y="3913632"/>
            <a:ext cx="1755648" cy="256032"/>
          </a:xfrm>
          <a:prstGeom prst="roundRect">
            <a:avLst>
              <a:gd name="adj" fmla="val 28571"/>
            </a:avLst>
          </a:prstGeom>
          <a:solidFill>
            <a:srgbClr val="FFFFFF"/>
          </a:solidFill>
          <a:ln w="9525">
            <a:solidFill>
              <a:srgbClr val="D8E1EC"/>
            </a:solidFill>
            <a:prstDash val="solid"/>
          </a:ln>
        </p:spPr>
      </p:sp>
      <p:sp>
        <p:nvSpPr>
          <p:cNvPr id="40" name="Text 38"/>
          <p:cNvSpPr txBox="1"/>
          <p:nvPr/>
        </p:nvSpPr>
        <p:spPr>
          <a:xfrm>
            <a:off x="6263640" y="3913632"/>
            <a:ext cx="166420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RBAC</a:t>
            </a:r>
            <a:endParaRPr lang="en-US" sz="850" dirty="0"/>
          </a:p>
        </p:txBody>
      </p:sp>
      <p:sp>
        <p:nvSpPr>
          <p:cNvPr id="41" name="Shape 39"/>
          <p:cNvSpPr/>
          <p:nvPr/>
        </p:nvSpPr>
        <p:spPr>
          <a:xfrm>
            <a:off x="4389120" y="4261104"/>
            <a:ext cx="0" cy="155448"/>
          </a:xfrm>
          <a:prstGeom prst="line">
            <a:avLst/>
          </a:prstGeom>
          <a:noFill/>
          <a:ln w="15875">
            <a:solidFill>
              <a:srgbClr val="9AACBF"/>
            </a:solidFill>
            <a:prstDash val="solid"/>
            <a:tailEnd type="triangle"/>
          </a:ln>
        </p:spPr>
      </p:sp>
      <p:sp>
        <p:nvSpPr>
          <p:cNvPr id="42" name="Shape 40"/>
          <p:cNvSpPr/>
          <p:nvPr/>
        </p:nvSpPr>
        <p:spPr>
          <a:xfrm>
            <a:off x="548640" y="4425696"/>
            <a:ext cx="7680960" cy="713232"/>
          </a:xfrm>
          <a:prstGeom prst="roundRect">
            <a:avLst>
              <a:gd name="adj" fmla="val 6410"/>
            </a:avLst>
          </a:prstGeom>
          <a:solidFill>
            <a:srgbClr val="FFFFFF"/>
          </a:solidFill>
          <a:ln w="9525">
            <a:solidFill>
              <a:srgbClr val="D8E1EC"/>
            </a:solidFill>
            <a:prstDash val="solid"/>
          </a:ln>
        </p:spPr>
      </p:sp>
      <p:sp>
        <p:nvSpPr>
          <p:cNvPr id="43" name="Text 41"/>
          <p:cNvSpPr txBox="1"/>
          <p:nvPr/>
        </p:nvSpPr>
        <p:spPr>
          <a:xfrm>
            <a:off x="731520" y="4517136"/>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Modèles</a:t>
            </a:r>
            <a:endParaRPr lang="en-US" sz="1150" dirty="0"/>
          </a:p>
        </p:txBody>
      </p:sp>
      <p:sp>
        <p:nvSpPr>
          <p:cNvPr id="44" name="Shape 42"/>
          <p:cNvSpPr/>
          <p:nvPr/>
        </p:nvSpPr>
        <p:spPr>
          <a:xfrm>
            <a:off x="731520" y="4809744"/>
            <a:ext cx="971877" cy="256032"/>
          </a:xfrm>
          <a:prstGeom prst="roundRect">
            <a:avLst>
              <a:gd name="adj" fmla="val 28571"/>
            </a:avLst>
          </a:prstGeom>
          <a:solidFill>
            <a:srgbClr val="F3F6FA"/>
          </a:solidFill>
          <a:ln w="9525">
            <a:solidFill>
              <a:srgbClr val="D8E1EC"/>
            </a:solidFill>
            <a:prstDash val="solid"/>
          </a:ln>
        </p:spPr>
      </p:sp>
      <p:sp>
        <p:nvSpPr>
          <p:cNvPr id="45" name="Text 43"/>
          <p:cNvSpPr txBox="1"/>
          <p:nvPr/>
        </p:nvSpPr>
        <p:spPr>
          <a:xfrm>
            <a:off x="777240" y="4809744"/>
            <a:ext cx="880437" cy="256032"/>
          </a:xfrm>
          <a:prstGeom prst="rect">
            <a:avLst/>
          </a:prstGeom>
          <a:noFill/>
          <a:ln/>
        </p:spPr>
        <p:txBody>
          <a:bodyPr wrap="square" lIns="0" tIns="0" rIns="0" bIns="0" rtlCol="0" anchor="ctr"/>
          <a:lstStyle/>
          <a:p>
            <a:pPr marL="0" indent="0" algn="ctr">
              <a:lnSpc>
                <a:spcPct val="100000"/>
              </a:lnSpc>
              <a:buNone/>
            </a:pPr>
            <a:r>
              <a:rPr lang="en-US" sz="750" b="1" dirty="0">
                <a:solidFill>
                  <a:srgbClr val="3F546B"/>
                </a:solidFill>
                <a:latin typeface="Calibri" pitchFamily="34" charset="0"/>
                <a:ea typeface="Calibri" pitchFamily="34" charset="-122"/>
                <a:cs typeface="Calibri" pitchFamily="34" charset="-120"/>
              </a:rPr>
              <a:t>Gemini</a:t>
            </a:r>
            <a:endParaRPr lang="en-US" sz="750" dirty="0"/>
          </a:p>
        </p:txBody>
      </p:sp>
      <p:sp>
        <p:nvSpPr>
          <p:cNvPr id="46" name="Shape 44"/>
          <p:cNvSpPr/>
          <p:nvPr/>
        </p:nvSpPr>
        <p:spPr>
          <a:xfrm>
            <a:off x="1776549" y="4809744"/>
            <a:ext cx="971877" cy="256032"/>
          </a:xfrm>
          <a:prstGeom prst="roundRect">
            <a:avLst>
              <a:gd name="adj" fmla="val 28571"/>
            </a:avLst>
          </a:prstGeom>
          <a:solidFill>
            <a:srgbClr val="F3F6FA"/>
          </a:solidFill>
          <a:ln w="9525">
            <a:solidFill>
              <a:srgbClr val="D8E1EC"/>
            </a:solidFill>
            <a:prstDash val="solid"/>
          </a:ln>
        </p:spPr>
      </p:sp>
      <p:sp>
        <p:nvSpPr>
          <p:cNvPr id="47" name="Text 45"/>
          <p:cNvSpPr txBox="1"/>
          <p:nvPr/>
        </p:nvSpPr>
        <p:spPr>
          <a:xfrm>
            <a:off x="1822269" y="4809744"/>
            <a:ext cx="880437" cy="256032"/>
          </a:xfrm>
          <a:prstGeom prst="rect">
            <a:avLst/>
          </a:prstGeom>
          <a:noFill/>
          <a:ln/>
        </p:spPr>
        <p:txBody>
          <a:bodyPr wrap="square" lIns="0" tIns="0" rIns="0" bIns="0" rtlCol="0" anchor="ctr"/>
          <a:lstStyle/>
          <a:p>
            <a:pPr marL="0" indent="0" algn="ctr">
              <a:lnSpc>
                <a:spcPct val="100000"/>
              </a:lnSpc>
              <a:buNone/>
            </a:pPr>
            <a:r>
              <a:rPr lang="en-US" sz="750" b="1" dirty="0">
                <a:solidFill>
                  <a:srgbClr val="3F546B"/>
                </a:solidFill>
                <a:latin typeface="Calibri" pitchFamily="34" charset="0"/>
                <a:ea typeface="Calibri" pitchFamily="34" charset="-122"/>
                <a:cs typeface="Calibri" pitchFamily="34" charset="-120"/>
              </a:rPr>
              <a:t>Groq</a:t>
            </a:r>
            <a:endParaRPr lang="en-US" sz="750" dirty="0"/>
          </a:p>
        </p:txBody>
      </p:sp>
      <p:sp>
        <p:nvSpPr>
          <p:cNvPr id="48" name="Shape 46"/>
          <p:cNvSpPr/>
          <p:nvPr/>
        </p:nvSpPr>
        <p:spPr>
          <a:xfrm>
            <a:off x="2821577" y="4809744"/>
            <a:ext cx="971877" cy="256032"/>
          </a:xfrm>
          <a:prstGeom prst="roundRect">
            <a:avLst>
              <a:gd name="adj" fmla="val 28571"/>
            </a:avLst>
          </a:prstGeom>
          <a:solidFill>
            <a:srgbClr val="F3F6FA"/>
          </a:solidFill>
          <a:ln w="9525">
            <a:solidFill>
              <a:srgbClr val="D8E1EC"/>
            </a:solidFill>
            <a:prstDash val="solid"/>
          </a:ln>
        </p:spPr>
      </p:sp>
      <p:sp>
        <p:nvSpPr>
          <p:cNvPr id="49" name="Text 47"/>
          <p:cNvSpPr txBox="1"/>
          <p:nvPr/>
        </p:nvSpPr>
        <p:spPr>
          <a:xfrm>
            <a:off x="2867297" y="4809744"/>
            <a:ext cx="880437" cy="256032"/>
          </a:xfrm>
          <a:prstGeom prst="rect">
            <a:avLst/>
          </a:prstGeom>
          <a:noFill/>
          <a:ln/>
        </p:spPr>
        <p:txBody>
          <a:bodyPr wrap="square" lIns="0" tIns="0" rIns="0" bIns="0" rtlCol="0" anchor="ctr"/>
          <a:lstStyle/>
          <a:p>
            <a:pPr marL="0" indent="0" algn="ctr">
              <a:lnSpc>
                <a:spcPct val="100000"/>
              </a:lnSpc>
              <a:buNone/>
            </a:pPr>
            <a:r>
              <a:rPr lang="en-US" sz="750" b="1" dirty="0">
                <a:solidFill>
                  <a:srgbClr val="3F546B"/>
                </a:solidFill>
                <a:latin typeface="Calibri" pitchFamily="34" charset="0"/>
                <a:ea typeface="Calibri" pitchFamily="34" charset="-122"/>
                <a:cs typeface="Calibri" pitchFamily="34" charset="-120"/>
              </a:rPr>
              <a:t>Codestral</a:t>
            </a:r>
            <a:endParaRPr lang="en-US" sz="750" dirty="0"/>
          </a:p>
        </p:txBody>
      </p:sp>
      <p:sp>
        <p:nvSpPr>
          <p:cNvPr id="50" name="Shape 48"/>
          <p:cNvSpPr/>
          <p:nvPr/>
        </p:nvSpPr>
        <p:spPr>
          <a:xfrm>
            <a:off x="3866606" y="4809744"/>
            <a:ext cx="971877" cy="256032"/>
          </a:xfrm>
          <a:prstGeom prst="roundRect">
            <a:avLst>
              <a:gd name="adj" fmla="val 28571"/>
            </a:avLst>
          </a:prstGeom>
          <a:solidFill>
            <a:srgbClr val="F3F6FA"/>
          </a:solidFill>
          <a:ln w="9525">
            <a:solidFill>
              <a:srgbClr val="D8E1EC"/>
            </a:solidFill>
            <a:prstDash val="solid"/>
          </a:ln>
        </p:spPr>
      </p:sp>
      <p:sp>
        <p:nvSpPr>
          <p:cNvPr id="51" name="Text 49"/>
          <p:cNvSpPr txBox="1"/>
          <p:nvPr/>
        </p:nvSpPr>
        <p:spPr>
          <a:xfrm>
            <a:off x="3912326" y="4809744"/>
            <a:ext cx="880437" cy="256032"/>
          </a:xfrm>
          <a:prstGeom prst="rect">
            <a:avLst/>
          </a:prstGeom>
          <a:noFill/>
          <a:ln/>
        </p:spPr>
        <p:txBody>
          <a:bodyPr wrap="square" lIns="0" tIns="0" rIns="0" bIns="0" rtlCol="0" anchor="ctr"/>
          <a:lstStyle/>
          <a:p>
            <a:pPr marL="0" indent="0" algn="ctr">
              <a:lnSpc>
                <a:spcPct val="100000"/>
              </a:lnSpc>
              <a:buNone/>
            </a:pPr>
            <a:r>
              <a:rPr lang="en-US" sz="750" b="1" dirty="0">
                <a:solidFill>
                  <a:srgbClr val="3F546B"/>
                </a:solidFill>
                <a:latin typeface="Calibri" pitchFamily="34" charset="0"/>
                <a:ea typeface="Calibri" pitchFamily="34" charset="-122"/>
                <a:cs typeface="Calibri" pitchFamily="34" charset="-120"/>
              </a:rPr>
              <a:t>Cerebras</a:t>
            </a:r>
            <a:endParaRPr lang="en-US" sz="750" dirty="0"/>
          </a:p>
        </p:txBody>
      </p:sp>
      <p:sp>
        <p:nvSpPr>
          <p:cNvPr id="52" name="Shape 50"/>
          <p:cNvSpPr/>
          <p:nvPr/>
        </p:nvSpPr>
        <p:spPr>
          <a:xfrm>
            <a:off x="4911634" y="4809744"/>
            <a:ext cx="971877" cy="256032"/>
          </a:xfrm>
          <a:prstGeom prst="roundRect">
            <a:avLst>
              <a:gd name="adj" fmla="val 28571"/>
            </a:avLst>
          </a:prstGeom>
          <a:solidFill>
            <a:srgbClr val="F3F6FA"/>
          </a:solidFill>
          <a:ln w="9525">
            <a:solidFill>
              <a:srgbClr val="D8E1EC"/>
            </a:solidFill>
            <a:prstDash val="solid"/>
          </a:ln>
        </p:spPr>
      </p:sp>
      <p:sp>
        <p:nvSpPr>
          <p:cNvPr id="53" name="Text 51"/>
          <p:cNvSpPr txBox="1"/>
          <p:nvPr/>
        </p:nvSpPr>
        <p:spPr>
          <a:xfrm>
            <a:off x="4957354" y="4809744"/>
            <a:ext cx="880437" cy="256032"/>
          </a:xfrm>
          <a:prstGeom prst="rect">
            <a:avLst/>
          </a:prstGeom>
          <a:noFill/>
          <a:ln/>
        </p:spPr>
        <p:txBody>
          <a:bodyPr wrap="square" lIns="0" tIns="0" rIns="0" bIns="0" rtlCol="0" anchor="ctr"/>
          <a:lstStyle/>
          <a:p>
            <a:pPr marL="0" indent="0" algn="ctr">
              <a:lnSpc>
                <a:spcPct val="100000"/>
              </a:lnSpc>
              <a:buNone/>
            </a:pPr>
            <a:r>
              <a:rPr lang="en-US" sz="750" b="1" dirty="0">
                <a:solidFill>
                  <a:srgbClr val="3F546B"/>
                </a:solidFill>
                <a:latin typeface="Calibri" pitchFamily="34" charset="0"/>
                <a:ea typeface="Calibri" pitchFamily="34" charset="-122"/>
                <a:cs typeface="Calibri" pitchFamily="34" charset="-120"/>
              </a:rPr>
              <a:t>SambaNova</a:t>
            </a:r>
            <a:endParaRPr lang="en-US" sz="750" dirty="0"/>
          </a:p>
        </p:txBody>
      </p:sp>
      <p:sp>
        <p:nvSpPr>
          <p:cNvPr id="54" name="Shape 52"/>
          <p:cNvSpPr/>
          <p:nvPr/>
        </p:nvSpPr>
        <p:spPr>
          <a:xfrm>
            <a:off x="5956663" y="4809744"/>
            <a:ext cx="971877" cy="256032"/>
          </a:xfrm>
          <a:prstGeom prst="roundRect">
            <a:avLst>
              <a:gd name="adj" fmla="val 28571"/>
            </a:avLst>
          </a:prstGeom>
          <a:solidFill>
            <a:srgbClr val="F3F6FA"/>
          </a:solidFill>
          <a:ln w="9525">
            <a:solidFill>
              <a:srgbClr val="D8E1EC"/>
            </a:solidFill>
            <a:prstDash val="solid"/>
          </a:ln>
        </p:spPr>
      </p:sp>
      <p:sp>
        <p:nvSpPr>
          <p:cNvPr id="55" name="Text 53"/>
          <p:cNvSpPr txBox="1"/>
          <p:nvPr/>
        </p:nvSpPr>
        <p:spPr>
          <a:xfrm>
            <a:off x="6002383" y="4809744"/>
            <a:ext cx="880437" cy="256032"/>
          </a:xfrm>
          <a:prstGeom prst="rect">
            <a:avLst/>
          </a:prstGeom>
          <a:noFill/>
          <a:ln/>
        </p:spPr>
        <p:txBody>
          <a:bodyPr wrap="square" lIns="0" tIns="0" rIns="0" bIns="0" rtlCol="0" anchor="ctr"/>
          <a:lstStyle/>
          <a:p>
            <a:pPr marL="0" indent="0" algn="ctr">
              <a:lnSpc>
                <a:spcPct val="100000"/>
              </a:lnSpc>
              <a:buNone/>
            </a:pPr>
            <a:r>
              <a:rPr lang="en-US" sz="750" b="1" dirty="0">
                <a:solidFill>
                  <a:srgbClr val="3F546B"/>
                </a:solidFill>
                <a:latin typeface="Calibri" pitchFamily="34" charset="0"/>
                <a:ea typeface="Calibri" pitchFamily="34" charset="-122"/>
                <a:cs typeface="Calibri" pitchFamily="34" charset="-120"/>
              </a:rPr>
              <a:t>OpenRouter</a:t>
            </a:r>
            <a:endParaRPr lang="en-US" sz="750" dirty="0"/>
          </a:p>
        </p:txBody>
      </p:sp>
      <p:sp>
        <p:nvSpPr>
          <p:cNvPr id="56" name="Shape 54"/>
          <p:cNvSpPr/>
          <p:nvPr/>
        </p:nvSpPr>
        <p:spPr>
          <a:xfrm>
            <a:off x="7001691" y="4809744"/>
            <a:ext cx="971877" cy="256032"/>
          </a:xfrm>
          <a:prstGeom prst="roundRect">
            <a:avLst>
              <a:gd name="adj" fmla="val 28571"/>
            </a:avLst>
          </a:prstGeom>
          <a:solidFill>
            <a:srgbClr val="F3F6FA"/>
          </a:solidFill>
          <a:ln w="9525">
            <a:solidFill>
              <a:srgbClr val="B07407"/>
            </a:solidFill>
            <a:prstDash val="solid"/>
          </a:ln>
        </p:spPr>
      </p:sp>
      <p:sp>
        <p:nvSpPr>
          <p:cNvPr id="57" name="Text 55"/>
          <p:cNvSpPr txBox="1"/>
          <p:nvPr/>
        </p:nvSpPr>
        <p:spPr>
          <a:xfrm>
            <a:off x="7047411" y="4809744"/>
            <a:ext cx="880437" cy="256032"/>
          </a:xfrm>
          <a:prstGeom prst="rect">
            <a:avLst/>
          </a:prstGeom>
          <a:noFill/>
          <a:ln/>
        </p:spPr>
        <p:txBody>
          <a:bodyPr wrap="square" lIns="0" tIns="0" rIns="0" bIns="0" rtlCol="0" anchor="ctr"/>
          <a:lstStyle/>
          <a:p>
            <a:pPr marL="0" indent="0" algn="ctr">
              <a:lnSpc>
                <a:spcPct val="100000"/>
              </a:lnSpc>
              <a:buNone/>
            </a:pPr>
            <a:r>
              <a:rPr lang="en-US" sz="750" b="1" dirty="0">
                <a:solidFill>
                  <a:srgbClr val="B07407"/>
                </a:solidFill>
                <a:latin typeface="Calibri" pitchFamily="34" charset="0"/>
                <a:ea typeface="Calibri" pitchFamily="34" charset="-122"/>
                <a:cs typeface="Calibri" pitchFamily="34" charset="-120"/>
              </a:rPr>
              <a:t>Mock local</a:t>
            </a:r>
            <a:endParaRPr lang="en-US" sz="750" dirty="0"/>
          </a:p>
        </p:txBody>
      </p:sp>
      <p:sp>
        <p:nvSpPr>
          <p:cNvPr id="58" name="Shape 56"/>
          <p:cNvSpPr/>
          <p:nvPr/>
        </p:nvSpPr>
        <p:spPr>
          <a:xfrm>
            <a:off x="4389120" y="5157216"/>
            <a:ext cx="0" cy="155448"/>
          </a:xfrm>
          <a:prstGeom prst="line">
            <a:avLst/>
          </a:prstGeom>
          <a:noFill/>
          <a:ln w="15875">
            <a:solidFill>
              <a:srgbClr val="9AACBF"/>
            </a:solidFill>
            <a:prstDash val="solid"/>
            <a:tailEnd type="triangle"/>
          </a:ln>
        </p:spPr>
      </p:sp>
      <p:sp>
        <p:nvSpPr>
          <p:cNvPr id="59" name="Shape 57"/>
          <p:cNvSpPr/>
          <p:nvPr/>
        </p:nvSpPr>
        <p:spPr>
          <a:xfrm>
            <a:off x="548640" y="5321808"/>
            <a:ext cx="7680960" cy="713232"/>
          </a:xfrm>
          <a:prstGeom prst="roundRect">
            <a:avLst>
              <a:gd name="adj" fmla="val 6410"/>
            </a:avLst>
          </a:prstGeom>
          <a:solidFill>
            <a:srgbClr val="F3F6FA"/>
          </a:solidFill>
          <a:ln w="9525">
            <a:solidFill>
              <a:srgbClr val="D8E1EC"/>
            </a:solidFill>
            <a:prstDash val="solid"/>
          </a:ln>
        </p:spPr>
      </p:sp>
      <p:sp>
        <p:nvSpPr>
          <p:cNvPr id="60" name="Text 58"/>
          <p:cNvSpPr txBox="1"/>
          <p:nvPr/>
        </p:nvSpPr>
        <p:spPr>
          <a:xfrm>
            <a:off x="731520" y="5413248"/>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Persistance</a:t>
            </a:r>
            <a:endParaRPr lang="en-US" sz="1150" dirty="0"/>
          </a:p>
        </p:txBody>
      </p:sp>
      <p:sp>
        <p:nvSpPr>
          <p:cNvPr id="61" name="Shape 59"/>
          <p:cNvSpPr/>
          <p:nvPr/>
        </p:nvSpPr>
        <p:spPr>
          <a:xfrm>
            <a:off x="731520" y="5705856"/>
            <a:ext cx="2365248" cy="256032"/>
          </a:xfrm>
          <a:prstGeom prst="roundRect">
            <a:avLst>
              <a:gd name="adj" fmla="val 28571"/>
            </a:avLst>
          </a:prstGeom>
          <a:solidFill>
            <a:srgbClr val="F3F6FA"/>
          </a:solidFill>
          <a:ln w="9525">
            <a:solidFill>
              <a:srgbClr val="D8E1EC"/>
            </a:solidFill>
            <a:prstDash val="solid"/>
          </a:ln>
        </p:spPr>
      </p:sp>
      <p:sp>
        <p:nvSpPr>
          <p:cNvPr id="62" name="Text 60"/>
          <p:cNvSpPr txBox="1"/>
          <p:nvPr/>
        </p:nvSpPr>
        <p:spPr>
          <a:xfrm>
            <a:off x="777240" y="5705856"/>
            <a:ext cx="227380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Supabase Postgres + pgvector</a:t>
            </a:r>
            <a:endParaRPr lang="en-US" sz="850" dirty="0"/>
          </a:p>
        </p:txBody>
      </p:sp>
      <p:sp>
        <p:nvSpPr>
          <p:cNvPr id="63" name="Shape 61"/>
          <p:cNvSpPr/>
          <p:nvPr/>
        </p:nvSpPr>
        <p:spPr>
          <a:xfrm>
            <a:off x="3169920" y="5705856"/>
            <a:ext cx="2365248" cy="256032"/>
          </a:xfrm>
          <a:prstGeom prst="roundRect">
            <a:avLst>
              <a:gd name="adj" fmla="val 28571"/>
            </a:avLst>
          </a:prstGeom>
          <a:solidFill>
            <a:srgbClr val="F3F6FA"/>
          </a:solidFill>
          <a:ln w="9525">
            <a:solidFill>
              <a:srgbClr val="D8E1EC"/>
            </a:solidFill>
            <a:prstDash val="solid"/>
          </a:ln>
        </p:spPr>
      </p:sp>
      <p:sp>
        <p:nvSpPr>
          <p:cNvPr id="64" name="Text 62"/>
          <p:cNvSpPr txBox="1"/>
          <p:nvPr/>
        </p:nvSpPr>
        <p:spPr>
          <a:xfrm>
            <a:off x="3215640" y="5705856"/>
            <a:ext cx="227380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document_chunks</a:t>
            </a:r>
            <a:endParaRPr lang="en-US" sz="850" dirty="0"/>
          </a:p>
        </p:txBody>
      </p:sp>
      <p:sp>
        <p:nvSpPr>
          <p:cNvPr id="65" name="Shape 63"/>
          <p:cNvSpPr/>
          <p:nvPr/>
        </p:nvSpPr>
        <p:spPr>
          <a:xfrm>
            <a:off x="5608320" y="5705856"/>
            <a:ext cx="2365248" cy="256032"/>
          </a:xfrm>
          <a:prstGeom prst="roundRect">
            <a:avLst>
              <a:gd name="adj" fmla="val 28571"/>
            </a:avLst>
          </a:prstGeom>
          <a:solidFill>
            <a:srgbClr val="F3F6FA"/>
          </a:solidFill>
          <a:ln w="9525">
            <a:solidFill>
              <a:srgbClr val="D8E1EC"/>
            </a:solidFill>
            <a:prstDash val="solid"/>
          </a:ln>
        </p:spPr>
      </p:sp>
      <p:sp>
        <p:nvSpPr>
          <p:cNvPr id="66" name="Text 64"/>
          <p:cNvSpPr txBox="1"/>
          <p:nvPr/>
        </p:nvSpPr>
        <p:spPr>
          <a:xfrm>
            <a:off x="5654040" y="5705856"/>
            <a:ext cx="2273808" cy="256032"/>
          </a:xfrm>
          <a:prstGeom prst="rect">
            <a:avLst/>
          </a:prstGeom>
          <a:noFill/>
          <a:ln/>
        </p:spPr>
        <p:txBody>
          <a:bodyPr wrap="square" lIns="0" tIns="0" rIns="0" bIns="0" rtlCol="0" anchor="ctr"/>
          <a:lstStyle/>
          <a:p>
            <a:pPr marL="0" indent="0" algn="ctr">
              <a:lnSpc>
                <a:spcPct val="100000"/>
              </a:lnSpc>
              <a:buNone/>
            </a:pPr>
            <a:r>
              <a:rPr lang="en-US" sz="850" b="1" dirty="0">
                <a:solidFill>
                  <a:srgbClr val="3F546B"/>
                </a:solidFill>
                <a:latin typeface="Calibri" pitchFamily="34" charset="0"/>
                <a:ea typeface="Calibri" pitchFamily="34" charset="-122"/>
                <a:cs typeface="Calibri" pitchFamily="34" charset="-120"/>
              </a:rPr>
              <a:t>workspace_projects/</a:t>
            </a:r>
            <a:endParaRPr lang="en-US" sz="850" dirty="0"/>
          </a:p>
        </p:txBody>
      </p:sp>
      <p:sp>
        <p:nvSpPr>
          <p:cNvPr id="67" name="Shape 65"/>
          <p:cNvSpPr/>
          <p:nvPr/>
        </p:nvSpPr>
        <p:spPr>
          <a:xfrm>
            <a:off x="8458200" y="1737360"/>
            <a:ext cx="3154680" cy="1325880"/>
          </a:xfrm>
          <a:prstGeom prst="roundRect">
            <a:avLst>
              <a:gd name="adj" fmla="val 3448"/>
            </a:avLst>
          </a:prstGeom>
          <a:solidFill>
            <a:srgbClr val="F3F6FA"/>
          </a:solidFill>
          <a:ln w="9525">
            <a:solidFill>
              <a:srgbClr val="D8E1EC"/>
            </a:solidFill>
            <a:prstDash val="solid"/>
          </a:ln>
        </p:spPr>
      </p:sp>
      <p:sp>
        <p:nvSpPr>
          <p:cNvPr id="68" name="Text 66"/>
          <p:cNvSpPr txBox="1"/>
          <p:nvPr/>
        </p:nvSpPr>
        <p:spPr>
          <a:xfrm>
            <a:off x="8659368" y="1874520"/>
            <a:ext cx="2752344" cy="274320"/>
          </a:xfrm>
          <a:prstGeom prst="rect">
            <a:avLst/>
          </a:prstGeom>
          <a:noFill/>
          <a:ln/>
        </p:spPr>
        <p:txBody>
          <a:bodyPr wrap="square" lIns="0" tIns="0" rIns="0" bIns="0" rtlCol="0" anchor="t"/>
          <a:lstStyle/>
          <a:p>
            <a:pPr marL="0" indent="0" algn="l">
              <a:lnSpc>
                <a:spcPct val="108000"/>
              </a:lnSpc>
              <a:buNone/>
            </a:pPr>
            <a:r>
              <a:rPr lang="en-US" sz="1200" b="1" dirty="0">
                <a:solidFill>
                  <a:srgbClr val="10243E"/>
                </a:solidFill>
                <a:latin typeface="Calibri" pitchFamily="34" charset="0"/>
                <a:ea typeface="Calibri" pitchFamily="34" charset="-122"/>
                <a:cs typeface="Calibri" pitchFamily="34" charset="-120"/>
              </a:rPr>
              <a:t>Le routeur est la porte</a:t>
            </a:r>
            <a:endParaRPr lang="en-US" sz="1200" dirty="0"/>
          </a:p>
        </p:txBody>
      </p:sp>
      <p:sp>
        <p:nvSpPr>
          <p:cNvPr id="69" name="Text 67"/>
          <p:cNvSpPr txBox="1"/>
          <p:nvPr/>
        </p:nvSpPr>
        <p:spPr>
          <a:xfrm>
            <a:off x="8659368" y="2212848"/>
            <a:ext cx="2752344" cy="722376"/>
          </a:xfrm>
          <a:prstGeom prst="rect">
            <a:avLst/>
          </a:prstGeom>
          <a:noFill/>
          <a:ln/>
        </p:spPr>
        <p:txBody>
          <a:bodyPr wrap="square" lIns="0" tIns="0" rIns="0" bIns="0" rtlCol="0" anchor="t"/>
          <a:lstStyle/>
          <a:p>
            <a:pPr marL="0" indent="0" algn="l">
              <a:lnSpc>
                <a:spcPct val="112000"/>
              </a:lnSpc>
              <a:buNone/>
            </a:pPr>
            <a:r>
              <a:rPr lang="en-US" sz="1050" dirty="0">
                <a:solidFill>
                  <a:srgbClr val="3F546B"/>
                </a:solidFill>
                <a:latin typeface="Calibri" pitchFamily="34" charset="0"/>
                <a:ea typeface="Calibri" pitchFamily="34" charset="-122"/>
                <a:cs typeface="Calibri" pitchFamily="34" charset="-120"/>
              </a:rPr>
              <a:t>La couche Intelligence est traversée par tous les appels. Supprimer le routeur, c’est casser le chat — pas contourner une option.</a:t>
            </a:r>
            <a:endParaRPr lang="en-US" sz="1050" dirty="0"/>
          </a:p>
        </p:txBody>
      </p:sp>
      <p:sp>
        <p:nvSpPr>
          <p:cNvPr id="70" name="Shape 68"/>
          <p:cNvSpPr/>
          <p:nvPr/>
        </p:nvSpPr>
        <p:spPr>
          <a:xfrm>
            <a:off x="8458200" y="3218688"/>
            <a:ext cx="3154680" cy="1325880"/>
          </a:xfrm>
          <a:prstGeom prst="roundRect">
            <a:avLst>
              <a:gd name="adj" fmla="val 3448"/>
            </a:avLst>
          </a:prstGeom>
          <a:solidFill>
            <a:srgbClr val="F3F6FA"/>
          </a:solidFill>
          <a:ln w="9525">
            <a:solidFill>
              <a:srgbClr val="D8E1EC"/>
            </a:solidFill>
            <a:prstDash val="solid"/>
          </a:ln>
        </p:spPr>
      </p:sp>
      <p:sp>
        <p:nvSpPr>
          <p:cNvPr id="71" name="Text 69"/>
          <p:cNvSpPr txBox="1"/>
          <p:nvPr/>
        </p:nvSpPr>
        <p:spPr>
          <a:xfrm>
            <a:off x="8659368" y="3355848"/>
            <a:ext cx="2752344" cy="274320"/>
          </a:xfrm>
          <a:prstGeom prst="rect">
            <a:avLst/>
          </a:prstGeom>
          <a:noFill/>
          <a:ln/>
        </p:spPr>
        <p:txBody>
          <a:bodyPr wrap="square" lIns="0" tIns="0" rIns="0" bIns="0" rtlCol="0" anchor="t"/>
          <a:lstStyle/>
          <a:p>
            <a:pPr marL="0" indent="0" algn="l">
              <a:lnSpc>
                <a:spcPct val="108000"/>
              </a:lnSpc>
              <a:buNone/>
            </a:pPr>
            <a:r>
              <a:rPr lang="en-US" sz="1200" b="1" dirty="0">
                <a:solidFill>
                  <a:srgbClr val="10243E"/>
                </a:solidFill>
                <a:latin typeface="Calibri" pitchFamily="34" charset="0"/>
                <a:ea typeface="Calibri" pitchFamily="34" charset="-122"/>
                <a:cs typeface="Calibri" pitchFamily="34" charset="-120"/>
              </a:rPr>
              <a:t>Trois persistances assumées</a:t>
            </a:r>
            <a:endParaRPr lang="en-US" sz="1200" dirty="0"/>
          </a:p>
        </p:txBody>
      </p:sp>
      <p:sp>
        <p:nvSpPr>
          <p:cNvPr id="72" name="Text 70"/>
          <p:cNvSpPr txBox="1"/>
          <p:nvPr/>
        </p:nvSpPr>
        <p:spPr>
          <a:xfrm>
            <a:off x="8659368" y="3694176"/>
            <a:ext cx="2752344" cy="722376"/>
          </a:xfrm>
          <a:prstGeom prst="rect">
            <a:avLst/>
          </a:prstGeom>
          <a:noFill/>
          <a:ln/>
        </p:spPr>
        <p:txBody>
          <a:bodyPr wrap="square" lIns="0" tIns="0" rIns="0" bIns="0" rtlCol="0" anchor="t"/>
          <a:lstStyle/>
          <a:p>
            <a:pPr marL="0" indent="0" algn="l">
              <a:lnSpc>
                <a:spcPct val="112000"/>
              </a:lnSpc>
              <a:buNone/>
            </a:pPr>
            <a:r>
              <a:rPr lang="en-US" sz="1050" dirty="0">
                <a:solidFill>
                  <a:srgbClr val="3F546B"/>
                </a:solidFill>
                <a:latin typeface="Calibri" pitchFamily="34" charset="0"/>
                <a:ea typeface="Calibri" pitchFamily="34" charset="-122"/>
                <a:cs typeface="Calibri" pitchFamily="34" charset="-120"/>
              </a:rPr>
              <a:t>La base porte la mémoire sémantique et l’historique. Le disque porte le projet versionnable. Le navigateur ne porte que du confort.</a:t>
            </a:r>
            <a:endParaRPr lang="en-US" sz="1050" dirty="0"/>
          </a:p>
        </p:txBody>
      </p:sp>
      <p:sp>
        <p:nvSpPr>
          <p:cNvPr id="73" name="Shape 71"/>
          <p:cNvSpPr/>
          <p:nvPr/>
        </p:nvSpPr>
        <p:spPr>
          <a:xfrm>
            <a:off x="8458200" y="4700016"/>
            <a:ext cx="3154680" cy="1325880"/>
          </a:xfrm>
          <a:prstGeom prst="roundRect">
            <a:avLst>
              <a:gd name="adj" fmla="val 3448"/>
            </a:avLst>
          </a:prstGeom>
          <a:solidFill>
            <a:srgbClr val="F3F6FA"/>
          </a:solidFill>
          <a:ln w="9525">
            <a:solidFill>
              <a:srgbClr val="D8E1EC"/>
            </a:solidFill>
            <a:prstDash val="solid"/>
          </a:ln>
        </p:spPr>
      </p:sp>
      <p:sp>
        <p:nvSpPr>
          <p:cNvPr id="74" name="Text 72"/>
          <p:cNvSpPr txBox="1"/>
          <p:nvPr/>
        </p:nvSpPr>
        <p:spPr>
          <a:xfrm>
            <a:off x="8659368" y="4837176"/>
            <a:ext cx="2752344" cy="274320"/>
          </a:xfrm>
          <a:prstGeom prst="rect">
            <a:avLst/>
          </a:prstGeom>
          <a:noFill/>
          <a:ln/>
        </p:spPr>
        <p:txBody>
          <a:bodyPr wrap="square" lIns="0" tIns="0" rIns="0" bIns="0" rtlCol="0" anchor="t"/>
          <a:lstStyle/>
          <a:p>
            <a:pPr marL="0" indent="0" algn="l">
              <a:lnSpc>
                <a:spcPct val="108000"/>
              </a:lnSpc>
              <a:buNone/>
            </a:pPr>
            <a:r>
              <a:rPr lang="en-US" sz="1200" b="1" dirty="0">
                <a:solidFill>
                  <a:srgbClr val="10243E"/>
                </a:solidFill>
                <a:latin typeface="Calibri" pitchFamily="34" charset="0"/>
                <a:ea typeface="Calibri" pitchFamily="34" charset="-122"/>
                <a:cs typeface="Calibri" pitchFamily="34" charset="-120"/>
              </a:rPr>
              <a:t>Un seul viewMode</a:t>
            </a:r>
            <a:endParaRPr lang="en-US" sz="1200" dirty="0"/>
          </a:p>
        </p:txBody>
      </p:sp>
      <p:sp>
        <p:nvSpPr>
          <p:cNvPr id="75" name="Text 73"/>
          <p:cNvSpPr txBox="1"/>
          <p:nvPr/>
        </p:nvSpPr>
        <p:spPr>
          <a:xfrm>
            <a:off x="8659368" y="5175504"/>
            <a:ext cx="2752344" cy="722376"/>
          </a:xfrm>
          <a:prstGeom prst="rect">
            <a:avLst/>
          </a:prstGeom>
          <a:noFill/>
          <a:ln/>
        </p:spPr>
        <p:txBody>
          <a:bodyPr wrap="square" lIns="0" tIns="0" rIns="0" bIns="0" rtlCol="0" anchor="t"/>
          <a:lstStyle/>
          <a:p>
            <a:pPr marL="0" indent="0" algn="l">
              <a:lnSpc>
                <a:spcPct val="112000"/>
              </a:lnSpc>
              <a:buNone/>
            </a:pPr>
            <a:r>
              <a:rPr lang="en-US" sz="1050" dirty="0">
                <a:solidFill>
                  <a:srgbClr val="3F546B"/>
                </a:solidFill>
                <a:latin typeface="Calibri" pitchFamily="34" charset="0"/>
                <a:ea typeface="Calibri" pitchFamily="34" charset="-122"/>
                <a:cs typeface="Calibri" pitchFamily="34" charset="-120"/>
              </a:rPr>
              <a:t>chat · dashboard · artifacts · ide · customize. Quatre contextes d’état, pas de store monolithique.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08</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LE CONTRAT DE STREAMING</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Quatre événements typés, et l’utilisateur voit la décision avant le texte.</a:t>
            </a:r>
            <a:endParaRPr lang="en-US" sz="2700" dirty="0"/>
          </a:p>
        </p:txBody>
      </p:sp>
      <p:sp>
        <p:nvSpPr>
          <p:cNvPr id="5" name="Shape 3"/>
          <p:cNvSpPr/>
          <p:nvPr/>
        </p:nvSpPr>
        <p:spPr>
          <a:xfrm>
            <a:off x="777240" y="1737360"/>
            <a:ext cx="1920240" cy="457200"/>
          </a:xfrm>
          <a:prstGeom prst="roundRect">
            <a:avLst>
              <a:gd name="adj" fmla="val 10000"/>
            </a:avLst>
          </a:prstGeom>
          <a:solidFill>
            <a:srgbClr val="E8EEF6"/>
          </a:solidFill>
          <a:ln w="9525">
            <a:solidFill>
              <a:srgbClr val="D8E1EC"/>
            </a:solidFill>
            <a:prstDash val="solid"/>
          </a:ln>
        </p:spPr>
      </p:sp>
      <p:sp>
        <p:nvSpPr>
          <p:cNvPr id="6" name="Text 4"/>
          <p:cNvSpPr txBox="1"/>
          <p:nvPr/>
        </p:nvSpPr>
        <p:spPr>
          <a:xfrm>
            <a:off x="777240" y="1737360"/>
            <a:ext cx="1920240" cy="457200"/>
          </a:xfrm>
          <a:prstGeom prst="rect">
            <a:avLst/>
          </a:prstGeom>
          <a:noFill/>
          <a:ln/>
        </p:spPr>
        <p:txBody>
          <a:bodyPr wrap="square" lIns="0" tIns="0" rIns="0" bIns="0" rtlCol="0" anchor="ctr"/>
          <a:lstStyle/>
          <a:p>
            <a:pPr marL="0" indent="0" algn="ctr">
              <a:lnSpc>
                <a:spcPct val="108000"/>
              </a:lnSpc>
              <a:buNone/>
            </a:pPr>
            <a:r>
              <a:rPr lang="en-US" sz="1200" b="1" dirty="0">
                <a:solidFill>
                  <a:srgbClr val="10243E"/>
                </a:solidFill>
                <a:latin typeface="Calibri" pitchFamily="34" charset="0"/>
                <a:ea typeface="Calibri" pitchFamily="34" charset="-122"/>
                <a:cs typeface="Calibri" pitchFamily="34" charset="-120"/>
              </a:rPr>
              <a:t>Utilisateur</a:t>
            </a:r>
            <a:endParaRPr lang="en-US" sz="1200" dirty="0"/>
          </a:p>
        </p:txBody>
      </p:sp>
      <p:sp>
        <p:nvSpPr>
          <p:cNvPr id="7" name="Shape 5"/>
          <p:cNvSpPr/>
          <p:nvPr/>
        </p:nvSpPr>
        <p:spPr>
          <a:xfrm>
            <a:off x="1737360" y="2240280"/>
            <a:ext cx="0" cy="2971800"/>
          </a:xfrm>
          <a:prstGeom prst="line">
            <a:avLst/>
          </a:prstGeom>
          <a:noFill/>
          <a:ln w="12700">
            <a:solidFill>
              <a:srgbClr val="9AACBF"/>
            </a:solidFill>
            <a:prstDash val="dash"/>
          </a:ln>
        </p:spPr>
      </p:sp>
      <p:sp>
        <p:nvSpPr>
          <p:cNvPr id="8" name="Shape 6"/>
          <p:cNvSpPr/>
          <p:nvPr/>
        </p:nvSpPr>
        <p:spPr>
          <a:xfrm>
            <a:off x="4160520" y="1737360"/>
            <a:ext cx="1920240" cy="457200"/>
          </a:xfrm>
          <a:prstGeom prst="roundRect">
            <a:avLst>
              <a:gd name="adj" fmla="val 10000"/>
            </a:avLst>
          </a:prstGeom>
          <a:solidFill>
            <a:srgbClr val="E8EEF6"/>
          </a:solidFill>
          <a:ln w="9525">
            <a:solidFill>
              <a:srgbClr val="D8E1EC"/>
            </a:solidFill>
            <a:prstDash val="solid"/>
          </a:ln>
        </p:spPr>
      </p:sp>
      <p:sp>
        <p:nvSpPr>
          <p:cNvPr id="9" name="Text 7"/>
          <p:cNvSpPr txBox="1"/>
          <p:nvPr/>
        </p:nvSpPr>
        <p:spPr>
          <a:xfrm>
            <a:off x="4160520" y="1737360"/>
            <a:ext cx="1920240" cy="457200"/>
          </a:xfrm>
          <a:prstGeom prst="rect">
            <a:avLst/>
          </a:prstGeom>
          <a:noFill/>
          <a:ln/>
        </p:spPr>
        <p:txBody>
          <a:bodyPr wrap="square" lIns="0" tIns="0" rIns="0" bIns="0" rtlCol="0" anchor="ctr"/>
          <a:lstStyle/>
          <a:p>
            <a:pPr marL="0" indent="0" algn="ctr">
              <a:lnSpc>
                <a:spcPct val="108000"/>
              </a:lnSpc>
              <a:buNone/>
            </a:pPr>
            <a:r>
              <a:rPr lang="en-US" sz="1200" b="1" dirty="0">
                <a:solidFill>
                  <a:srgbClr val="10243E"/>
                </a:solidFill>
                <a:latin typeface="Calibri" pitchFamily="34" charset="0"/>
                <a:ea typeface="Calibri" pitchFamily="34" charset="-122"/>
                <a:cs typeface="Calibri" pitchFamily="34" charset="-120"/>
              </a:rPr>
              <a:t>Frontend</a:t>
            </a:r>
            <a:endParaRPr lang="en-US" sz="1200" dirty="0"/>
          </a:p>
        </p:txBody>
      </p:sp>
      <p:sp>
        <p:nvSpPr>
          <p:cNvPr id="10" name="Shape 8"/>
          <p:cNvSpPr/>
          <p:nvPr/>
        </p:nvSpPr>
        <p:spPr>
          <a:xfrm>
            <a:off x="5120640" y="2240280"/>
            <a:ext cx="0" cy="2971800"/>
          </a:xfrm>
          <a:prstGeom prst="line">
            <a:avLst/>
          </a:prstGeom>
          <a:noFill/>
          <a:ln w="12700">
            <a:solidFill>
              <a:srgbClr val="9AACBF"/>
            </a:solidFill>
            <a:prstDash val="dash"/>
          </a:ln>
        </p:spPr>
      </p:sp>
      <p:sp>
        <p:nvSpPr>
          <p:cNvPr id="11" name="Shape 9"/>
          <p:cNvSpPr/>
          <p:nvPr/>
        </p:nvSpPr>
        <p:spPr>
          <a:xfrm>
            <a:off x="7543800" y="1737360"/>
            <a:ext cx="1920240" cy="457200"/>
          </a:xfrm>
          <a:prstGeom prst="roundRect">
            <a:avLst>
              <a:gd name="adj" fmla="val 10000"/>
            </a:avLst>
          </a:prstGeom>
          <a:solidFill>
            <a:srgbClr val="E8EEF6"/>
          </a:solidFill>
          <a:ln w="9525">
            <a:solidFill>
              <a:srgbClr val="D8E1EC"/>
            </a:solidFill>
            <a:prstDash val="solid"/>
          </a:ln>
        </p:spPr>
      </p:sp>
      <p:sp>
        <p:nvSpPr>
          <p:cNvPr id="12" name="Text 10"/>
          <p:cNvSpPr txBox="1"/>
          <p:nvPr/>
        </p:nvSpPr>
        <p:spPr>
          <a:xfrm>
            <a:off x="7543800" y="1737360"/>
            <a:ext cx="1920240" cy="457200"/>
          </a:xfrm>
          <a:prstGeom prst="rect">
            <a:avLst/>
          </a:prstGeom>
          <a:noFill/>
          <a:ln/>
        </p:spPr>
        <p:txBody>
          <a:bodyPr wrap="square" lIns="0" tIns="0" rIns="0" bIns="0" rtlCol="0" anchor="ctr"/>
          <a:lstStyle/>
          <a:p>
            <a:pPr marL="0" indent="0" algn="ctr">
              <a:lnSpc>
                <a:spcPct val="108000"/>
              </a:lnSpc>
              <a:buNone/>
            </a:pPr>
            <a:r>
              <a:rPr lang="en-US" sz="1200" b="1" dirty="0">
                <a:solidFill>
                  <a:srgbClr val="10243E"/>
                </a:solidFill>
                <a:latin typeface="Calibri" pitchFamily="34" charset="0"/>
                <a:ea typeface="Calibri" pitchFamily="34" charset="-122"/>
                <a:cs typeface="Calibri" pitchFamily="34" charset="-120"/>
              </a:rPr>
              <a:t>FastAPI</a:t>
            </a:r>
            <a:endParaRPr lang="en-US" sz="1200" dirty="0"/>
          </a:p>
        </p:txBody>
      </p:sp>
      <p:sp>
        <p:nvSpPr>
          <p:cNvPr id="13" name="Shape 11"/>
          <p:cNvSpPr/>
          <p:nvPr/>
        </p:nvSpPr>
        <p:spPr>
          <a:xfrm>
            <a:off x="8503920" y="2240280"/>
            <a:ext cx="0" cy="2971800"/>
          </a:xfrm>
          <a:prstGeom prst="line">
            <a:avLst/>
          </a:prstGeom>
          <a:noFill/>
          <a:ln w="12700">
            <a:solidFill>
              <a:srgbClr val="9AACBF"/>
            </a:solidFill>
            <a:prstDash val="dash"/>
          </a:ln>
        </p:spPr>
      </p:sp>
      <p:sp>
        <p:nvSpPr>
          <p:cNvPr id="14" name="Shape 12"/>
          <p:cNvSpPr/>
          <p:nvPr/>
        </p:nvSpPr>
        <p:spPr>
          <a:xfrm>
            <a:off x="1737360" y="2606040"/>
            <a:ext cx="3383280" cy="0"/>
          </a:xfrm>
          <a:prstGeom prst="line">
            <a:avLst/>
          </a:prstGeom>
          <a:noFill/>
          <a:ln w="15875">
            <a:solidFill>
              <a:srgbClr val="2B6CB0"/>
            </a:solidFill>
            <a:prstDash val="solid"/>
            <a:headEnd type="none"/>
            <a:tailEnd type="triangle"/>
          </a:ln>
        </p:spPr>
      </p:sp>
      <p:sp>
        <p:nvSpPr>
          <p:cNvPr id="15" name="Text 13"/>
          <p:cNvSpPr txBox="1"/>
          <p:nvPr/>
        </p:nvSpPr>
        <p:spPr>
          <a:xfrm>
            <a:off x="1737360" y="2313432"/>
            <a:ext cx="3383280" cy="237744"/>
          </a:xfrm>
          <a:prstGeom prst="rect">
            <a:avLst/>
          </a:prstGeom>
          <a:noFill/>
          <a:ln/>
        </p:spPr>
        <p:txBody>
          <a:bodyPr wrap="square" lIns="0" tIns="0" rIns="0" bIns="0" rtlCol="0" anchor="t"/>
          <a:lstStyle/>
          <a:p>
            <a:pPr marL="0" indent="0" algn="ctr">
              <a:lnSpc>
                <a:spcPct val="108000"/>
              </a:lnSpc>
              <a:buNone/>
            </a:pPr>
            <a:r>
              <a:rPr lang="en-US" sz="950" dirty="0">
                <a:solidFill>
                  <a:srgbClr val="2B6CB0"/>
                </a:solidFill>
                <a:latin typeface="Courier New" pitchFamily="34" charset="0"/>
                <a:ea typeface="Courier New" pitchFamily="34" charset="-122"/>
                <a:cs typeface="Courier New" pitchFamily="34" charset="-120"/>
              </a:rPr>
              <a:t>Prompt</a:t>
            </a:r>
            <a:endParaRPr lang="en-US" sz="950" dirty="0"/>
          </a:p>
        </p:txBody>
      </p:sp>
      <p:sp>
        <p:nvSpPr>
          <p:cNvPr id="16" name="Shape 14"/>
          <p:cNvSpPr/>
          <p:nvPr/>
        </p:nvSpPr>
        <p:spPr>
          <a:xfrm>
            <a:off x="5120640" y="3063240"/>
            <a:ext cx="3383280" cy="0"/>
          </a:xfrm>
          <a:prstGeom prst="line">
            <a:avLst/>
          </a:prstGeom>
          <a:noFill/>
          <a:ln w="15875">
            <a:solidFill>
              <a:srgbClr val="2B6CB0"/>
            </a:solidFill>
            <a:prstDash val="solid"/>
            <a:headEnd type="none"/>
            <a:tailEnd type="triangle"/>
          </a:ln>
        </p:spPr>
      </p:sp>
      <p:sp>
        <p:nvSpPr>
          <p:cNvPr id="17" name="Text 15"/>
          <p:cNvSpPr txBox="1"/>
          <p:nvPr/>
        </p:nvSpPr>
        <p:spPr>
          <a:xfrm>
            <a:off x="5120640" y="2770632"/>
            <a:ext cx="3383280" cy="237744"/>
          </a:xfrm>
          <a:prstGeom prst="rect">
            <a:avLst/>
          </a:prstGeom>
          <a:noFill/>
          <a:ln/>
        </p:spPr>
        <p:txBody>
          <a:bodyPr wrap="square" lIns="0" tIns="0" rIns="0" bIns="0" rtlCol="0" anchor="t"/>
          <a:lstStyle/>
          <a:p>
            <a:pPr marL="0" indent="0" algn="ctr">
              <a:lnSpc>
                <a:spcPct val="108000"/>
              </a:lnSpc>
              <a:buNone/>
            </a:pPr>
            <a:r>
              <a:rPr lang="en-US" sz="950" dirty="0">
                <a:solidFill>
                  <a:srgbClr val="2B6CB0"/>
                </a:solidFill>
                <a:latin typeface="Courier New" pitchFamily="34" charset="0"/>
                <a:ea typeface="Courier New" pitchFamily="34" charset="-122"/>
                <a:cs typeface="Courier New" pitchFamily="34" charset="-120"/>
              </a:rPr>
              <a:t>POST /chat/completions</a:t>
            </a:r>
            <a:endParaRPr lang="en-US" sz="950" dirty="0"/>
          </a:p>
        </p:txBody>
      </p:sp>
      <p:sp>
        <p:nvSpPr>
          <p:cNvPr id="18" name="Shape 16"/>
          <p:cNvSpPr/>
          <p:nvPr/>
        </p:nvSpPr>
        <p:spPr>
          <a:xfrm flipH="1">
            <a:off x="5120640" y="3566160"/>
            <a:ext cx="3383280" cy="0"/>
          </a:xfrm>
          <a:prstGeom prst="line">
            <a:avLst/>
          </a:prstGeom>
          <a:noFill/>
          <a:ln w="15875">
            <a:solidFill>
              <a:srgbClr val="0E8A6A"/>
            </a:solidFill>
            <a:prstDash val="solid"/>
            <a:headEnd type="none"/>
            <a:tailEnd type="triangle"/>
          </a:ln>
        </p:spPr>
      </p:sp>
      <p:sp>
        <p:nvSpPr>
          <p:cNvPr id="19" name="Text 17"/>
          <p:cNvSpPr txBox="1"/>
          <p:nvPr/>
        </p:nvSpPr>
        <p:spPr>
          <a:xfrm>
            <a:off x="5120640" y="3273552"/>
            <a:ext cx="3383280" cy="237744"/>
          </a:xfrm>
          <a:prstGeom prst="rect">
            <a:avLst/>
          </a:prstGeom>
          <a:noFill/>
          <a:ln/>
        </p:spPr>
        <p:txBody>
          <a:bodyPr wrap="square" lIns="0" tIns="0" rIns="0" bIns="0" rtlCol="0" anchor="t"/>
          <a:lstStyle/>
          <a:p>
            <a:pPr marL="0" indent="0" algn="ctr">
              <a:lnSpc>
                <a:spcPct val="108000"/>
              </a:lnSpc>
              <a:buNone/>
            </a:pPr>
            <a:r>
              <a:rPr lang="en-US" sz="950" dirty="0">
                <a:solidFill>
                  <a:srgbClr val="0E8A6A"/>
                </a:solidFill>
                <a:latin typeface="Courier New" pitchFamily="34" charset="0"/>
                <a:ea typeface="Courier New" pitchFamily="34" charset="-122"/>
                <a:cs typeface="Courier New" pitchFamily="34" charset="-120"/>
              </a:rPr>
              <a:t>event routing — client, provider, sensibilité</a:t>
            </a:r>
            <a:endParaRPr lang="en-US" sz="950" dirty="0"/>
          </a:p>
        </p:txBody>
      </p:sp>
      <p:sp>
        <p:nvSpPr>
          <p:cNvPr id="20" name="Shape 18"/>
          <p:cNvSpPr/>
          <p:nvPr/>
        </p:nvSpPr>
        <p:spPr>
          <a:xfrm flipH="1">
            <a:off x="5120640" y="3977640"/>
            <a:ext cx="3383280" cy="0"/>
          </a:xfrm>
          <a:prstGeom prst="line">
            <a:avLst/>
          </a:prstGeom>
          <a:noFill/>
          <a:ln w="15875">
            <a:solidFill>
              <a:srgbClr val="0E8A6A"/>
            </a:solidFill>
            <a:prstDash val="solid"/>
            <a:headEnd type="none"/>
            <a:tailEnd type="triangle"/>
          </a:ln>
        </p:spPr>
      </p:sp>
      <p:sp>
        <p:nvSpPr>
          <p:cNvPr id="21" name="Text 19"/>
          <p:cNvSpPr txBox="1"/>
          <p:nvPr/>
        </p:nvSpPr>
        <p:spPr>
          <a:xfrm>
            <a:off x="5120640" y="3685032"/>
            <a:ext cx="3383280" cy="237744"/>
          </a:xfrm>
          <a:prstGeom prst="rect">
            <a:avLst/>
          </a:prstGeom>
          <a:noFill/>
          <a:ln/>
        </p:spPr>
        <p:txBody>
          <a:bodyPr wrap="square" lIns="0" tIns="0" rIns="0" bIns="0" rtlCol="0" anchor="t"/>
          <a:lstStyle/>
          <a:p>
            <a:pPr marL="0" indent="0" algn="ctr">
              <a:lnSpc>
                <a:spcPct val="108000"/>
              </a:lnSpc>
              <a:buNone/>
            </a:pPr>
            <a:r>
              <a:rPr lang="en-US" sz="950" dirty="0">
                <a:solidFill>
                  <a:srgbClr val="0E8A6A"/>
                </a:solidFill>
                <a:latin typeface="Courier New" pitchFamily="34" charset="0"/>
                <a:ea typeface="Courier New" pitchFamily="34" charset="-122"/>
                <a:cs typeface="Courier New" pitchFamily="34" charset="-120"/>
              </a:rPr>
              <a:t>event rag — hits retenus</a:t>
            </a:r>
            <a:endParaRPr lang="en-US" sz="950" dirty="0"/>
          </a:p>
        </p:txBody>
      </p:sp>
      <p:sp>
        <p:nvSpPr>
          <p:cNvPr id="22" name="Shape 20"/>
          <p:cNvSpPr/>
          <p:nvPr/>
        </p:nvSpPr>
        <p:spPr>
          <a:xfrm flipH="1">
            <a:off x="5120640" y="4389120"/>
            <a:ext cx="3383280" cy="0"/>
          </a:xfrm>
          <a:prstGeom prst="line">
            <a:avLst/>
          </a:prstGeom>
          <a:noFill/>
          <a:ln w="15875">
            <a:solidFill>
              <a:srgbClr val="0E8A6A"/>
            </a:solidFill>
            <a:prstDash val="solid"/>
            <a:headEnd type="none"/>
            <a:tailEnd type="triangle"/>
          </a:ln>
        </p:spPr>
      </p:sp>
      <p:sp>
        <p:nvSpPr>
          <p:cNvPr id="23" name="Text 21"/>
          <p:cNvSpPr txBox="1"/>
          <p:nvPr/>
        </p:nvSpPr>
        <p:spPr>
          <a:xfrm>
            <a:off x="5120640" y="4096512"/>
            <a:ext cx="3383280" cy="237744"/>
          </a:xfrm>
          <a:prstGeom prst="rect">
            <a:avLst/>
          </a:prstGeom>
          <a:noFill/>
          <a:ln/>
        </p:spPr>
        <p:txBody>
          <a:bodyPr wrap="square" lIns="0" tIns="0" rIns="0" bIns="0" rtlCol="0" anchor="t"/>
          <a:lstStyle/>
          <a:p>
            <a:pPr marL="0" indent="0" algn="ctr">
              <a:lnSpc>
                <a:spcPct val="108000"/>
              </a:lnSpc>
              <a:buNone/>
            </a:pPr>
            <a:r>
              <a:rPr lang="en-US" sz="950" dirty="0">
                <a:solidFill>
                  <a:srgbClr val="0E8A6A"/>
                </a:solidFill>
                <a:latin typeface="Courier New" pitchFamily="34" charset="0"/>
                <a:ea typeface="Courier New" pitchFamily="34" charset="-122"/>
                <a:cs typeface="Courier New" pitchFamily="34" charset="-120"/>
              </a:rPr>
              <a:t>event token — flux de la réponse</a:t>
            </a:r>
            <a:endParaRPr lang="en-US" sz="950" dirty="0"/>
          </a:p>
        </p:txBody>
      </p:sp>
      <p:sp>
        <p:nvSpPr>
          <p:cNvPr id="24" name="Shape 22"/>
          <p:cNvSpPr/>
          <p:nvPr/>
        </p:nvSpPr>
        <p:spPr>
          <a:xfrm flipH="1">
            <a:off x="5120640" y="4800600"/>
            <a:ext cx="3383280" cy="0"/>
          </a:xfrm>
          <a:prstGeom prst="line">
            <a:avLst/>
          </a:prstGeom>
          <a:noFill/>
          <a:ln w="15875">
            <a:solidFill>
              <a:srgbClr val="B07407"/>
            </a:solidFill>
            <a:prstDash val="solid"/>
            <a:headEnd type="none"/>
            <a:tailEnd type="triangle"/>
          </a:ln>
        </p:spPr>
      </p:sp>
      <p:sp>
        <p:nvSpPr>
          <p:cNvPr id="25" name="Text 23"/>
          <p:cNvSpPr txBox="1"/>
          <p:nvPr/>
        </p:nvSpPr>
        <p:spPr>
          <a:xfrm>
            <a:off x="5120640" y="4507992"/>
            <a:ext cx="3383280" cy="237744"/>
          </a:xfrm>
          <a:prstGeom prst="rect">
            <a:avLst/>
          </a:prstGeom>
          <a:noFill/>
          <a:ln/>
        </p:spPr>
        <p:txBody>
          <a:bodyPr wrap="square" lIns="0" tIns="0" rIns="0" bIns="0" rtlCol="0" anchor="t"/>
          <a:lstStyle/>
          <a:p>
            <a:pPr marL="0" indent="0" algn="ctr">
              <a:lnSpc>
                <a:spcPct val="108000"/>
              </a:lnSpc>
              <a:buNone/>
            </a:pPr>
            <a:r>
              <a:rPr lang="en-US" sz="950" dirty="0">
                <a:solidFill>
                  <a:srgbClr val="B07407"/>
                </a:solidFill>
                <a:latin typeface="Courier New" pitchFamily="34" charset="0"/>
                <a:ea typeface="Courier New" pitchFamily="34" charset="-122"/>
                <a:cs typeface="Courier New" pitchFamily="34" charset="-120"/>
              </a:rPr>
              <a:t>event quality — T1 / T2 / T3</a:t>
            </a:r>
            <a:endParaRPr lang="en-US" sz="950" dirty="0"/>
          </a:p>
        </p:txBody>
      </p:sp>
      <p:sp>
        <p:nvSpPr>
          <p:cNvPr id="26" name="Shape 24"/>
          <p:cNvSpPr/>
          <p:nvPr/>
        </p:nvSpPr>
        <p:spPr>
          <a:xfrm>
            <a:off x="548640" y="5349240"/>
            <a:ext cx="5440680" cy="868680"/>
          </a:xfrm>
          <a:prstGeom prst="roundRect">
            <a:avLst>
              <a:gd name="adj" fmla="val 5263"/>
            </a:avLst>
          </a:prstGeom>
          <a:solidFill>
            <a:srgbClr val="F3F6FA"/>
          </a:solidFill>
          <a:ln w="9525">
            <a:solidFill>
              <a:srgbClr val="D8E1EC"/>
            </a:solidFill>
            <a:prstDash val="solid"/>
          </a:ln>
        </p:spPr>
      </p:sp>
      <p:sp>
        <p:nvSpPr>
          <p:cNvPr id="27" name="Text 25"/>
          <p:cNvSpPr txBox="1"/>
          <p:nvPr/>
        </p:nvSpPr>
        <p:spPr>
          <a:xfrm>
            <a:off x="749808" y="5486400"/>
            <a:ext cx="5038344" cy="274320"/>
          </a:xfrm>
          <a:prstGeom prst="rect">
            <a:avLst/>
          </a:prstGeom>
          <a:noFill/>
          <a:ln/>
        </p:spPr>
        <p:txBody>
          <a:bodyPr wrap="square" lIns="0" tIns="0" rIns="0" bIns="0" rtlCol="0" anchor="t"/>
          <a:lstStyle/>
          <a:p>
            <a:pPr marL="0" indent="0" algn="l">
              <a:lnSpc>
                <a:spcPct val="108000"/>
              </a:lnSpc>
              <a:buNone/>
            </a:pPr>
            <a:r>
              <a:rPr lang="en-US" sz="1250" b="1" dirty="0">
                <a:solidFill>
                  <a:srgbClr val="10243E"/>
                </a:solidFill>
                <a:latin typeface="Calibri" pitchFamily="34" charset="0"/>
                <a:ea typeface="Calibri" pitchFamily="34" charset="-122"/>
                <a:cs typeface="Calibri" pitchFamily="34" charset="-120"/>
              </a:rPr>
              <a:t>Pourquoi SSE et pas WebSocket</a:t>
            </a:r>
            <a:endParaRPr lang="en-US" sz="1250" dirty="0"/>
          </a:p>
        </p:txBody>
      </p:sp>
      <p:sp>
        <p:nvSpPr>
          <p:cNvPr id="28" name="Text 26"/>
          <p:cNvSpPr txBox="1"/>
          <p:nvPr/>
        </p:nvSpPr>
        <p:spPr>
          <a:xfrm>
            <a:off x="749808" y="5824728"/>
            <a:ext cx="5038344" cy="26517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Des événements typés dans un seul sens, simples à proxifier derrière Vite. Le CDC demandait de la traçabilité, pas du duplex.</a:t>
            </a:r>
            <a:endParaRPr lang="en-US" sz="1100" dirty="0"/>
          </a:p>
        </p:txBody>
      </p:sp>
      <p:sp>
        <p:nvSpPr>
          <p:cNvPr id="29" name="Shape 27"/>
          <p:cNvSpPr/>
          <p:nvPr/>
        </p:nvSpPr>
        <p:spPr>
          <a:xfrm>
            <a:off x="6172200" y="5349240"/>
            <a:ext cx="5440680" cy="868680"/>
          </a:xfrm>
          <a:prstGeom prst="roundRect">
            <a:avLst>
              <a:gd name="adj" fmla="val 5263"/>
            </a:avLst>
          </a:prstGeom>
          <a:solidFill>
            <a:srgbClr val="E8EEF6"/>
          </a:solidFill>
          <a:ln w="9525">
            <a:solidFill>
              <a:srgbClr val="D8E1EC"/>
            </a:solidFill>
            <a:prstDash val="solid"/>
          </a:ln>
        </p:spPr>
      </p:sp>
      <p:sp>
        <p:nvSpPr>
          <p:cNvPr id="30" name="Text 28"/>
          <p:cNvSpPr txBox="1"/>
          <p:nvPr/>
        </p:nvSpPr>
        <p:spPr>
          <a:xfrm>
            <a:off x="6373368" y="5486400"/>
            <a:ext cx="5038344" cy="274320"/>
          </a:xfrm>
          <a:prstGeom prst="rect">
            <a:avLst/>
          </a:prstGeom>
          <a:noFill/>
          <a:ln/>
        </p:spPr>
        <p:txBody>
          <a:bodyPr wrap="square" lIns="0" tIns="0" rIns="0" bIns="0" rtlCol="0" anchor="t"/>
          <a:lstStyle/>
          <a:p>
            <a:pPr marL="0" indent="0" algn="l">
              <a:lnSpc>
                <a:spcPct val="108000"/>
              </a:lnSpc>
              <a:buNone/>
            </a:pPr>
            <a:r>
              <a:rPr lang="en-US" sz="1250" b="1" dirty="0">
                <a:solidFill>
                  <a:srgbClr val="10243E"/>
                </a:solidFill>
                <a:latin typeface="Calibri" pitchFamily="34" charset="0"/>
                <a:ea typeface="Calibri" pitchFamily="34" charset="-122"/>
                <a:cs typeface="Calibri" pitchFamily="34" charset="-120"/>
              </a:rPr>
              <a:t>Le cinquième événement</a:t>
            </a:r>
            <a:endParaRPr lang="en-US" sz="1250" dirty="0"/>
          </a:p>
        </p:txBody>
      </p:sp>
      <p:sp>
        <p:nvSpPr>
          <p:cNvPr id="31" name="Text 29"/>
          <p:cNvSpPr txBox="1"/>
          <p:nvPr/>
        </p:nvSpPr>
        <p:spPr>
          <a:xfrm>
            <a:off x="6373368" y="5824728"/>
            <a:ext cx="5038344" cy="26517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admin_restricted : l’intention réservée à l’admin est interceptée avant l’appel LLM. Le développeur reçoit une carte de verrouillage, pas un pipeline.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09</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CONFIDENTIALITÉ</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Quatre raisons de ne pas sortir, évaluées dans cet ordre.</a:t>
            </a:r>
            <a:endParaRPr lang="en-US" sz="2700" dirty="0"/>
          </a:p>
        </p:txBody>
      </p:sp>
      <p:sp>
        <p:nvSpPr>
          <p:cNvPr id="5" name="Shape 3"/>
          <p:cNvSpPr/>
          <p:nvPr/>
        </p:nvSpPr>
        <p:spPr>
          <a:xfrm>
            <a:off x="548640" y="1828800"/>
            <a:ext cx="6035040" cy="786384"/>
          </a:xfrm>
          <a:prstGeom prst="roundRect">
            <a:avLst>
              <a:gd name="adj" fmla="val 5814"/>
            </a:avLst>
          </a:prstGeom>
          <a:solidFill>
            <a:srgbClr val="F3F6FA"/>
          </a:solidFill>
          <a:ln w="9525">
            <a:solidFill>
              <a:srgbClr val="D8E1EC"/>
            </a:solidFill>
            <a:prstDash val="solid"/>
          </a:ln>
        </p:spPr>
      </p:sp>
      <p:sp>
        <p:nvSpPr>
          <p:cNvPr id="6" name="Text 4"/>
          <p:cNvSpPr txBox="1"/>
          <p:nvPr/>
        </p:nvSpPr>
        <p:spPr>
          <a:xfrm>
            <a:off x="749808" y="1920240"/>
            <a:ext cx="36576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1</a:t>
            </a:r>
            <a:endParaRPr lang="en-US" sz="1300" dirty="0"/>
          </a:p>
        </p:txBody>
      </p:sp>
      <p:sp>
        <p:nvSpPr>
          <p:cNvPr id="7" name="Text 5"/>
          <p:cNvSpPr txBox="1"/>
          <p:nvPr/>
        </p:nvSpPr>
        <p:spPr>
          <a:xfrm>
            <a:off x="1170432" y="1911096"/>
            <a:ext cx="5212080" cy="292608"/>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Bascule Confidential ou FORCE_LOCAL_MOCK</a:t>
            </a:r>
            <a:endParaRPr lang="en-US" sz="1150" dirty="0"/>
          </a:p>
        </p:txBody>
      </p:sp>
      <p:sp>
        <p:nvSpPr>
          <p:cNvPr id="8" name="Text 6"/>
          <p:cNvSpPr txBox="1"/>
          <p:nvPr/>
        </p:nvSpPr>
        <p:spPr>
          <a:xfrm>
            <a:off x="1170432" y="2231136"/>
            <a:ext cx="5212080" cy="274320"/>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Choix explicite de l’utilisateur</a:t>
            </a:r>
            <a:endParaRPr lang="en-US" sz="1000" dirty="0"/>
          </a:p>
        </p:txBody>
      </p:sp>
      <p:sp>
        <p:nvSpPr>
          <p:cNvPr id="9" name="Shape 7"/>
          <p:cNvSpPr/>
          <p:nvPr/>
        </p:nvSpPr>
        <p:spPr>
          <a:xfrm>
            <a:off x="6629400" y="2221992"/>
            <a:ext cx="640080" cy="0"/>
          </a:xfrm>
          <a:prstGeom prst="line">
            <a:avLst/>
          </a:prstGeom>
          <a:noFill/>
          <a:ln w="15875">
            <a:solidFill>
              <a:srgbClr val="B07407"/>
            </a:solidFill>
            <a:prstDash val="solid"/>
            <a:tailEnd type="triangle"/>
          </a:ln>
        </p:spPr>
      </p:sp>
      <p:sp>
        <p:nvSpPr>
          <p:cNvPr id="10" name="Shape 8"/>
          <p:cNvSpPr/>
          <p:nvPr/>
        </p:nvSpPr>
        <p:spPr>
          <a:xfrm>
            <a:off x="548640" y="2761488"/>
            <a:ext cx="6035040" cy="786384"/>
          </a:xfrm>
          <a:prstGeom prst="roundRect">
            <a:avLst>
              <a:gd name="adj" fmla="val 5814"/>
            </a:avLst>
          </a:prstGeom>
          <a:solidFill>
            <a:srgbClr val="F3F6FA"/>
          </a:solidFill>
          <a:ln w="9525">
            <a:solidFill>
              <a:srgbClr val="D8E1EC"/>
            </a:solidFill>
            <a:prstDash val="solid"/>
          </a:ln>
        </p:spPr>
      </p:sp>
      <p:sp>
        <p:nvSpPr>
          <p:cNvPr id="11" name="Text 9"/>
          <p:cNvSpPr txBox="1"/>
          <p:nvPr/>
        </p:nvSpPr>
        <p:spPr>
          <a:xfrm>
            <a:off x="749808" y="2852928"/>
            <a:ext cx="36576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2</a:t>
            </a:r>
            <a:endParaRPr lang="en-US" sz="1300" dirty="0"/>
          </a:p>
        </p:txBody>
      </p:sp>
      <p:sp>
        <p:nvSpPr>
          <p:cNvPr id="12" name="Text 10"/>
          <p:cNvSpPr txBox="1"/>
          <p:nvPr/>
        </p:nvSpPr>
        <p:spPr>
          <a:xfrm>
            <a:off x="1170432" y="2843784"/>
            <a:ext cx="5212080" cy="292608"/>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Regex de secrets : clés, IP, mots de passe, SSH, AKIA, Bearer</a:t>
            </a:r>
            <a:endParaRPr lang="en-US" sz="1150" dirty="0"/>
          </a:p>
        </p:txBody>
      </p:sp>
      <p:sp>
        <p:nvSpPr>
          <p:cNvPr id="13" name="Text 11"/>
          <p:cNvSpPr txBox="1"/>
          <p:nvPr/>
        </p:nvSpPr>
        <p:spPr>
          <a:xfrm>
            <a:off x="1170432" y="3163824"/>
            <a:ext cx="5212080" cy="274320"/>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Seul le label part au log, jamais la valeur</a:t>
            </a:r>
            <a:endParaRPr lang="en-US" sz="1000" dirty="0"/>
          </a:p>
        </p:txBody>
      </p:sp>
      <p:sp>
        <p:nvSpPr>
          <p:cNvPr id="14" name="Shape 12"/>
          <p:cNvSpPr/>
          <p:nvPr/>
        </p:nvSpPr>
        <p:spPr>
          <a:xfrm>
            <a:off x="6629400" y="3154680"/>
            <a:ext cx="640080" cy="0"/>
          </a:xfrm>
          <a:prstGeom prst="line">
            <a:avLst/>
          </a:prstGeom>
          <a:noFill/>
          <a:ln w="15875">
            <a:solidFill>
              <a:srgbClr val="B07407"/>
            </a:solidFill>
            <a:prstDash val="solid"/>
            <a:tailEnd type="triangle"/>
          </a:ln>
        </p:spPr>
      </p:sp>
      <p:sp>
        <p:nvSpPr>
          <p:cNvPr id="15" name="Shape 13"/>
          <p:cNvSpPr/>
          <p:nvPr/>
        </p:nvSpPr>
        <p:spPr>
          <a:xfrm>
            <a:off x="548640" y="3694176"/>
            <a:ext cx="6035040" cy="786384"/>
          </a:xfrm>
          <a:prstGeom prst="roundRect">
            <a:avLst>
              <a:gd name="adj" fmla="val 5814"/>
            </a:avLst>
          </a:prstGeom>
          <a:solidFill>
            <a:srgbClr val="F3F6FA"/>
          </a:solidFill>
          <a:ln w="9525">
            <a:solidFill>
              <a:srgbClr val="D8E1EC"/>
            </a:solidFill>
            <a:prstDash val="solid"/>
          </a:ln>
        </p:spPr>
      </p:sp>
      <p:sp>
        <p:nvSpPr>
          <p:cNvPr id="16" name="Text 14"/>
          <p:cNvSpPr txBox="1"/>
          <p:nvPr/>
        </p:nvSpPr>
        <p:spPr>
          <a:xfrm>
            <a:off x="749808" y="3785616"/>
            <a:ext cx="36576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3</a:t>
            </a:r>
            <a:endParaRPr lang="en-US" sz="1300" dirty="0"/>
          </a:p>
        </p:txBody>
      </p:sp>
      <p:sp>
        <p:nvSpPr>
          <p:cNvPr id="17" name="Text 15"/>
          <p:cNvSpPr txBox="1"/>
          <p:nvPr/>
        </p:nvSpPr>
        <p:spPr>
          <a:xfrm>
            <a:off x="1170432" y="3776472"/>
            <a:ext cx="5212080" cy="292608"/>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Score de sensibilité Cerebras &gt; 0,7</a:t>
            </a:r>
            <a:endParaRPr lang="en-US" sz="1150" dirty="0"/>
          </a:p>
        </p:txBody>
      </p:sp>
      <p:sp>
        <p:nvSpPr>
          <p:cNvPr id="18" name="Text 16"/>
          <p:cNvSpPr txBox="1"/>
          <p:nvPr/>
        </p:nvSpPr>
        <p:spPr>
          <a:xfrm>
            <a:off x="1170432" y="4096512"/>
            <a:ext cx="5212080" cy="274320"/>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Classification en moins de 150 ms</a:t>
            </a:r>
            <a:endParaRPr lang="en-US" sz="1000" dirty="0"/>
          </a:p>
        </p:txBody>
      </p:sp>
      <p:sp>
        <p:nvSpPr>
          <p:cNvPr id="19" name="Shape 17"/>
          <p:cNvSpPr/>
          <p:nvPr/>
        </p:nvSpPr>
        <p:spPr>
          <a:xfrm>
            <a:off x="6629400" y="4087368"/>
            <a:ext cx="640080" cy="0"/>
          </a:xfrm>
          <a:prstGeom prst="line">
            <a:avLst/>
          </a:prstGeom>
          <a:noFill/>
          <a:ln w="15875">
            <a:solidFill>
              <a:srgbClr val="B07407"/>
            </a:solidFill>
            <a:prstDash val="solid"/>
            <a:tailEnd type="triangle"/>
          </a:ln>
        </p:spPr>
      </p:sp>
      <p:sp>
        <p:nvSpPr>
          <p:cNvPr id="20" name="Shape 18"/>
          <p:cNvSpPr/>
          <p:nvPr/>
        </p:nvSpPr>
        <p:spPr>
          <a:xfrm>
            <a:off x="548640" y="4626864"/>
            <a:ext cx="6035040" cy="786384"/>
          </a:xfrm>
          <a:prstGeom prst="roundRect">
            <a:avLst>
              <a:gd name="adj" fmla="val 5814"/>
            </a:avLst>
          </a:prstGeom>
          <a:solidFill>
            <a:srgbClr val="FFFFFF"/>
          </a:solidFill>
          <a:ln w="9525">
            <a:solidFill>
              <a:srgbClr val="D8E1EC"/>
            </a:solidFill>
            <a:prstDash val="solid"/>
          </a:ln>
        </p:spPr>
      </p:sp>
      <p:sp>
        <p:nvSpPr>
          <p:cNvPr id="21" name="Text 19"/>
          <p:cNvSpPr txBox="1"/>
          <p:nvPr/>
        </p:nvSpPr>
        <p:spPr>
          <a:xfrm>
            <a:off x="749808" y="4718304"/>
            <a:ext cx="365760" cy="274320"/>
          </a:xfrm>
          <a:prstGeom prst="rect">
            <a:avLst/>
          </a:prstGeom>
          <a:noFill/>
          <a:ln/>
        </p:spPr>
        <p:txBody>
          <a:bodyPr wrap="square" lIns="0" tIns="0" rIns="0" bIns="0" rtlCol="0" anchor="t"/>
          <a:lstStyle/>
          <a:p>
            <a:pPr marL="0" indent="0" algn="l">
              <a:lnSpc>
                <a:spcPct val="108000"/>
              </a:lnSpc>
              <a:buNone/>
            </a:pPr>
            <a:r>
              <a:rPr lang="en-US" sz="1300" b="1" dirty="0">
                <a:solidFill>
                  <a:srgbClr val="8697AB"/>
                </a:solidFill>
                <a:latin typeface="Courier New" pitchFamily="34" charset="0"/>
                <a:ea typeface="Courier New" pitchFamily="34" charset="-122"/>
                <a:cs typeface="Courier New" pitchFamily="34" charset="-120"/>
              </a:rPr>
              <a:t>4</a:t>
            </a:r>
            <a:endParaRPr lang="en-US" sz="1300" dirty="0"/>
          </a:p>
        </p:txBody>
      </p:sp>
      <p:sp>
        <p:nvSpPr>
          <p:cNvPr id="22" name="Text 20"/>
          <p:cNvSpPr txBox="1"/>
          <p:nvPr/>
        </p:nvSpPr>
        <p:spPr>
          <a:xfrm>
            <a:off x="1170432" y="4709160"/>
            <a:ext cx="5212080" cy="292608"/>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Aucun des trois</a:t>
            </a:r>
            <a:endParaRPr lang="en-US" sz="1150" dirty="0"/>
          </a:p>
        </p:txBody>
      </p:sp>
      <p:sp>
        <p:nvSpPr>
          <p:cNvPr id="23" name="Text 21"/>
          <p:cNvSpPr txBox="1"/>
          <p:nvPr/>
        </p:nvSpPr>
        <p:spPr>
          <a:xfrm>
            <a:off x="1170432" y="5029200"/>
            <a:ext cx="5212080" cy="274320"/>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Mapping phase → fournisseur, ou override UI</a:t>
            </a:r>
            <a:endParaRPr lang="en-US" sz="1000" dirty="0"/>
          </a:p>
        </p:txBody>
      </p:sp>
      <p:sp>
        <p:nvSpPr>
          <p:cNvPr id="24" name="Shape 22"/>
          <p:cNvSpPr/>
          <p:nvPr/>
        </p:nvSpPr>
        <p:spPr>
          <a:xfrm>
            <a:off x="6629400" y="5020056"/>
            <a:ext cx="640080" cy="0"/>
          </a:xfrm>
          <a:prstGeom prst="line">
            <a:avLst/>
          </a:prstGeom>
          <a:noFill/>
          <a:ln w="15875">
            <a:solidFill>
              <a:srgbClr val="0E8A6A"/>
            </a:solidFill>
            <a:prstDash val="solid"/>
            <a:tailEnd type="triangle"/>
          </a:ln>
        </p:spPr>
      </p:sp>
      <p:sp>
        <p:nvSpPr>
          <p:cNvPr id="25" name="Shape 23"/>
          <p:cNvSpPr/>
          <p:nvPr/>
        </p:nvSpPr>
        <p:spPr>
          <a:xfrm>
            <a:off x="7360920" y="1874520"/>
            <a:ext cx="1920240" cy="2697480"/>
          </a:xfrm>
          <a:prstGeom prst="roundRect">
            <a:avLst>
              <a:gd name="adj" fmla="val 2381"/>
            </a:avLst>
          </a:prstGeom>
          <a:solidFill>
            <a:srgbClr val="FBF1DF"/>
          </a:solidFill>
          <a:ln w="9525">
            <a:solidFill>
              <a:srgbClr val="B07407"/>
            </a:solidFill>
            <a:prstDash val="solid"/>
          </a:ln>
        </p:spPr>
      </p:sp>
      <p:sp>
        <p:nvSpPr>
          <p:cNvPr id="26" name="Text 24"/>
          <p:cNvSpPr txBox="1"/>
          <p:nvPr/>
        </p:nvSpPr>
        <p:spPr>
          <a:xfrm>
            <a:off x="7434072" y="1874520"/>
            <a:ext cx="1773936" cy="2697480"/>
          </a:xfrm>
          <a:prstGeom prst="rect">
            <a:avLst/>
          </a:prstGeom>
          <a:noFill/>
          <a:ln/>
        </p:spPr>
        <p:txBody>
          <a:bodyPr wrap="square" lIns="0" tIns="0" rIns="0" bIns="0" rtlCol="0" anchor="ctr"/>
          <a:lstStyle/>
          <a:p>
            <a:pPr marL="0" indent="0" algn="ctr">
              <a:lnSpc>
                <a:spcPct val="100000"/>
              </a:lnSpc>
              <a:buNone/>
            </a:pPr>
            <a:r>
              <a:rPr lang="en-US" sz="1100" b="1" dirty="0">
                <a:solidFill>
                  <a:srgbClr val="B07407"/>
                </a:solidFill>
                <a:latin typeface="Calibri" pitchFamily="34" charset="0"/>
                <a:ea typeface="Calibri" pitchFamily="34" charset="-122"/>
                <a:cs typeface="Calibri" pitchFamily="34" charset="-120"/>
              </a:rPr>
              <a:t>Mock local</a:t>
            </a:r>
            <a:endParaRPr lang="en-US" sz="1100" dirty="0"/>
          </a:p>
          <a:p>
            <a:pPr marL="0" indent="0" algn="ctr">
              <a:lnSpc>
                <a:spcPct val="100000"/>
              </a:lnSpc>
              <a:buNone/>
            </a:pPr>
            <a:endParaRPr lang="en-US" sz="1100" dirty="0"/>
          </a:p>
          <a:p>
            <a:pPr marL="0" indent="0" algn="ctr">
              <a:lnSpc>
                <a:spcPct val="100000"/>
              </a:lnSpc>
              <a:buNone/>
            </a:pPr>
            <a:r>
              <a:rPr lang="en-US" sz="1100" b="1" dirty="0">
                <a:solidFill>
                  <a:srgbClr val="B07407"/>
                </a:solidFill>
                <a:latin typeface="Calibri" pitchFamily="34" charset="0"/>
                <a:ea typeface="Calibri" pitchFamily="34" charset="-122"/>
                <a:cs typeface="Calibri" pitchFamily="34" charset="-120"/>
              </a:rPr>
              <a:t>[LOCAL MOCK</a:t>
            </a:r>
            <a:endParaRPr lang="en-US" sz="1100" dirty="0"/>
          </a:p>
          <a:p>
            <a:pPr marL="0" indent="0" algn="ctr">
              <a:lnSpc>
                <a:spcPct val="100000"/>
              </a:lnSpc>
              <a:buNone/>
            </a:pPr>
            <a:r>
              <a:rPr lang="en-US" sz="1100" b="1" dirty="0">
                <a:solidFill>
                  <a:srgbClr val="B07407"/>
                </a:solidFill>
                <a:latin typeface="Calibri" pitchFamily="34" charset="0"/>
                <a:ea typeface="Calibri" pitchFamily="34" charset="-122"/>
                <a:cs typeface="Calibri" pitchFamily="34" charset="-120"/>
              </a:rPr>
              <a:t>EXECUTION]</a:t>
            </a:r>
            <a:endParaRPr lang="en-US" sz="1100" dirty="0"/>
          </a:p>
        </p:txBody>
      </p:sp>
      <p:sp>
        <p:nvSpPr>
          <p:cNvPr id="27" name="Shape 25"/>
          <p:cNvSpPr/>
          <p:nvPr/>
        </p:nvSpPr>
        <p:spPr>
          <a:xfrm>
            <a:off x="7360920" y="4681728"/>
            <a:ext cx="1920240" cy="786384"/>
          </a:xfrm>
          <a:prstGeom prst="roundRect">
            <a:avLst>
              <a:gd name="adj" fmla="val 5814"/>
            </a:avLst>
          </a:prstGeom>
          <a:solidFill>
            <a:srgbClr val="E6F4EF"/>
          </a:solidFill>
          <a:ln w="9525">
            <a:solidFill>
              <a:srgbClr val="0E8A6A"/>
            </a:solidFill>
            <a:prstDash val="solid"/>
          </a:ln>
        </p:spPr>
      </p:sp>
      <p:sp>
        <p:nvSpPr>
          <p:cNvPr id="28" name="Text 26"/>
          <p:cNvSpPr txBox="1"/>
          <p:nvPr/>
        </p:nvSpPr>
        <p:spPr>
          <a:xfrm>
            <a:off x="7434072" y="4681728"/>
            <a:ext cx="1773936" cy="786384"/>
          </a:xfrm>
          <a:prstGeom prst="rect">
            <a:avLst/>
          </a:prstGeom>
          <a:noFill/>
          <a:ln/>
        </p:spPr>
        <p:txBody>
          <a:bodyPr wrap="square" lIns="0" tIns="0" rIns="0" bIns="0" rtlCol="0" anchor="ctr"/>
          <a:lstStyle/>
          <a:p>
            <a:pPr marL="0" indent="0" algn="ctr">
              <a:lnSpc>
                <a:spcPct val="100000"/>
              </a:lnSpc>
              <a:buNone/>
            </a:pPr>
            <a:r>
              <a:rPr lang="en-US" sz="1100" b="1" dirty="0">
                <a:solidFill>
                  <a:srgbClr val="0E8A6A"/>
                </a:solidFill>
                <a:latin typeface="Calibri" pitchFamily="34" charset="0"/>
                <a:ea typeface="Calibri" pitchFamily="34" charset="-122"/>
                <a:cs typeface="Calibri" pitchFamily="34" charset="-120"/>
              </a:rPr>
              <a:t>Fournisseur cloud</a:t>
            </a:r>
            <a:endParaRPr lang="en-US" sz="1100" dirty="0"/>
          </a:p>
        </p:txBody>
      </p:sp>
      <p:sp>
        <p:nvSpPr>
          <p:cNvPr id="29" name="Shape 27"/>
          <p:cNvSpPr/>
          <p:nvPr/>
        </p:nvSpPr>
        <p:spPr>
          <a:xfrm>
            <a:off x="9464040" y="1874520"/>
            <a:ext cx="2148840" cy="1280160"/>
          </a:xfrm>
          <a:prstGeom prst="roundRect">
            <a:avLst>
              <a:gd name="adj" fmla="val 3571"/>
            </a:avLst>
          </a:prstGeom>
          <a:solidFill>
            <a:srgbClr val="F3F6FA"/>
          </a:solidFill>
          <a:ln w="9525">
            <a:solidFill>
              <a:srgbClr val="D8E1EC"/>
            </a:solidFill>
            <a:prstDash val="solid"/>
          </a:ln>
        </p:spPr>
      </p:sp>
      <p:sp>
        <p:nvSpPr>
          <p:cNvPr id="30" name="Text 28"/>
          <p:cNvSpPr txBox="1"/>
          <p:nvPr/>
        </p:nvSpPr>
        <p:spPr>
          <a:xfrm>
            <a:off x="9665208" y="2011680"/>
            <a:ext cx="1746504" cy="274320"/>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Fallback 429</a:t>
            </a:r>
            <a:endParaRPr lang="en-US" sz="1150" dirty="0"/>
          </a:p>
        </p:txBody>
      </p:sp>
      <p:sp>
        <p:nvSpPr>
          <p:cNvPr id="31" name="Text 29"/>
          <p:cNvSpPr txBox="1"/>
          <p:nvPr/>
        </p:nvSpPr>
        <p:spPr>
          <a:xfrm>
            <a:off x="9665208" y="2350008"/>
            <a:ext cx="1746504" cy="676656"/>
          </a:xfrm>
          <a:prstGeom prst="rect">
            <a:avLst/>
          </a:prstGeom>
          <a:noFill/>
          <a:ln/>
        </p:spPr>
        <p:txBody>
          <a:bodyPr wrap="square" lIns="0" tIns="0" rIns="0" bIns="0" rtlCol="0" anchor="t"/>
          <a:lstStyle/>
          <a:p>
            <a:pPr marL="0" indent="0" algn="l">
              <a:lnSpc>
                <a:spcPct val="112000"/>
              </a:lnSpc>
              <a:buNone/>
            </a:pPr>
            <a:r>
              <a:rPr lang="en-US" sz="1000" dirty="0">
                <a:solidFill>
                  <a:srgbClr val="3F546B"/>
                </a:solidFill>
                <a:latin typeface="Calibri" pitchFamily="34" charset="0"/>
                <a:ea typeface="Calibri" pitchFamily="34" charset="-122"/>
                <a:cs typeface="Calibri" pitchFamily="34" charset="-120"/>
              </a:rPr>
              <a:t>404 · 429 · 502 · 503 → OpenRouter, sans rien dire à l’utilisateur.</a:t>
            </a:r>
            <a:endParaRPr lang="en-US" sz="1000" dirty="0"/>
          </a:p>
        </p:txBody>
      </p:sp>
      <p:sp>
        <p:nvSpPr>
          <p:cNvPr id="32" name="Shape 30"/>
          <p:cNvSpPr/>
          <p:nvPr/>
        </p:nvSpPr>
        <p:spPr>
          <a:xfrm>
            <a:off x="9464040" y="3291840"/>
            <a:ext cx="2148840" cy="1280160"/>
          </a:xfrm>
          <a:prstGeom prst="roundRect">
            <a:avLst>
              <a:gd name="adj" fmla="val 3571"/>
            </a:avLst>
          </a:prstGeom>
          <a:solidFill>
            <a:srgbClr val="FBF1DF"/>
          </a:solidFill>
          <a:ln w="9525">
            <a:solidFill>
              <a:srgbClr val="B07407"/>
            </a:solidFill>
            <a:prstDash val="solid"/>
          </a:ln>
        </p:spPr>
      </p:sp>
      <p:sp>
        <p:nvSpPr>
          <p:cNvPr id="33" name="Text 31"/>
          <p:cNvSpPr txBox="1"/>
          <p:nvPr/>
        </p:nvSpPr>
        <p:spPr>
          <a:xfrm>
            <a:off x="9665208" y="3429000"/>
            <a:ext cx="1746504" cy="274320"/>
          </a:xfrm>
          <a:prstGeom prst="rect">
            <a:avLst/>
          </a:prstGeom>
          <a:noFill/>
          <a:ln/>
        </p:spPr>
        <p:txBody>
          <a:bodyPr wrap="square" lIns="0" tIns="0" rIns="0" bIns="0" rtlCol="0" anchor="t"/>
          <a:lstStyle/>
          <a:p>
            <a:pPr marL="0" indent="0" algn="l">
              <a:lnSpc>
                <a:spcPct val="108000"/>
              </a:lnSpc>
              <a:buNone/>
            </a:pPr>
            <a:r>
              <a:rPr lang="en-US" sz="1150" b="1" dirty="0">
                <a:solidFill>
                  <a:srgbClr val="B07407"/>
                </a:solidFill>
                <a:latin typeface="Calibri" pitchFamily="34" charset="0"/>
                <a:ea typeface="Calibri" pitchFamily="34" charset="-122"/>
                <a:cs typeface="Calibri" pitchFamily="34" charset="-120"/>
              </a:rPr>
              <a:t>Fallback 402</a:t>
            </a:r>
            <a:endParaRPr lang="en-US" sz="1150" dirty="0"/>
          </a:p>
        </p:txBody>
      </p:sp>
      <p:sp>
        <p:nvSpPr>
          <p:cNvPr id="34" name="Text 32"/>
          <p:cNvSpPr txBox="1"/>
          <p:nvPr/>
        </p:nvSpPr>
        <p:spPr>
          <a:xfrm>
            <a:off x="9665208" y="3767328"/>
            <a:ext cx="1746504" cy="676656"/>
          </a:xfrm>
          <a:prstGeom prst="rect">
            <a:avLst/>
          </a:prstGeom>
          <a:noFill/>
          <a:ln/>
        </p:spPr>
        <p:txBody>
          <a:bodyPr wrap="square" lIns="0" tIns="0" rIns="0" bIns="0" rtlCol="0" anchor="t"/>
          <a:lstStyle/>
          <a:p>
            <a:pPr marL="0" indent="0" algn="l">
              <a:lnSpc>
                <a:spcPct val="112000"/>
              </a:lnSpc>
              <a:buNone/>
            </a:pPr>
            <a:r>
              <a:rPr lang="en-US" sz="1000" dirty="0">
                <a:solidFill>
                  <a:srgbClr val="3F546B"/>
                </a:solidFill>
                <a:latin typeface="Calibri" pitchFamily="34" charset="0"/>
                <a:ea typeface="Calibri" pitchFamily="34" charset="-122"/>
                <a:cs typeface="Calibri" pitchFamily="34" charset="-120"/>
              </a:rPr>
              <a:t>Crédits épuisés → stub + bandeau. Distinguer 402 de 429 était nécessaire.</a:t>
            </a:r>
            <a:endParaRPr lang="en-US" sz="1000" dirty="0"/>
          </a:p>
        </p:txBody>
      </p:sp>
      <p:sp>
        <p:nvSpPr>
          <p:cNvPr id="35" name="Shape 33"/>
          <p:cNvSpPr/>
          <p:nvPr/>
        </p:nvSpPr>
        <p:spPr>
          <a:xfrm>
            <a:off x="9464040" y="4681728"/>
            <a:ext cx="2148840" cy="960120"/>
          </a:xfrm>
          <a:prstGeom prst="roundRect">
            <a:avLst>
              <a:gd name="adj" fmla="val 4762"/>
            </a:avLst>
          </a:prstGeom>
          <a:solidFill>
            <a:srgbClr val="E8EEF6"/>
          </a:solidFill>
          <a:ln w="9525">
            <a:solidFill>
              <a:srgbClr val="D8E1EC"/>
            </a:solidFill>
            <a:prstDash val="solid"/>
          </a:ln>
        </p:spPr>
      </p:sp>
      <p:sp>
        <p:nvSpPr>
          <p:cNvPr id="36" name="Text 34"/>
          <p:cNvSpPr txBox="1"/>
          <p:nvPr/>
        </p:nvSpPr>
        <p:spPr>
          <a:xfrm>
            <a:off x="9665208" y="4818888"/>
            <a:ext cx="1746504" cy="274320"/>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L’écart</a:t>
            </a:r>
            <a:endParaRPr lang="en-US" sz="1150" dirty="0"/>
          </a:p>
        </p:txBody>
      </p:sp>
      <p:sp>
        <p:nvSpPr>
          <p:cNvPr id="37" name="Text 35"/>
          <p:cNvSpPr txBox="1"/>
          <p:nvPr/>
        </p:nvSpPr>
        <p:spPr>
          <a:xfrm>
            <a:off x="9665208" y="5157216"/>
            <a:ext cx="1746504" cy="356616"/>
          </a:xfrm>
          <a:prstGeom prst="rect">
            <a:avLst/>
          </a:prstGeom>
          <a:noFill/>
          <a:ln/>
        </p:spPr>
        <p:txBody>
          <a:bodyPr wrap="square" lIns="0" tIns="0" rIns="0" bIns="0" rtlCol="0" anchor="t"/>
          <a:lstStyle/>
          <a:p>
            <a:pPr marL="0" indent="0" algn="l">
              <a:lnSpc>
                <a:spcPct val="112000"/>
              </a:lnSpc>
              <a:buNone/>
            </a:pPr>
            <a:r>
              <a:rPr lang="en-US" sz="1000" dirty="0">
                <a:solidFill>
                  <a:srgbClr val="3F546B"/>
                </a:solidFill>
                <a:latin typeface="Calibri" pitchFamily="34" charset="0"/>
                <a:ea typeface="Calibri" pitchFamily="34" charset="-122"/>
                <a:cs typeface="Calibri" pitchFamily="34" charset="-120"/>
              </a:rPr>
              <a:t>Le stub n’est pas un vrai LLM local.</a:t>
            </a:r>
            <a:endParaRPr lang="en-US" sz="1000" dirty="0"/>
          </a:p>
        </p:txBody>
      </p:sp>
      <p:sp>
        <p:nvSpPr>
          <p:cNvPr id="38" name="Text 36"/>
          <p:cNvSpPr txBox="1"/>
          <p:nvPr/>
        </p:nvSpPr>
        <p:spPr>
          <a:xfrm>
            <a:off x="566928" y="6291072"/>
            <a:ext cx="10424160" cy="292608"/>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Le premier critère satisfait décide. Comportement prévisible, testable — et impossible à contourner depuis l’interface.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10</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MÉMOIRE PROJET</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Deux recherches qui échouent différemment, fusionnées puis reclassées.</a:t>
            </a:r>
            <a:endParaRPr lang="en-US" sz="2700" dirty="0"/>
          </a:p>
        </p:txBody>
      </p:sp>
      <p:sp>
        <p:nvSpPr>
          <p:cNvPr id="5" name="Shape 3"/>
          <p:cNvSpPr/>
          <p:nvPr/>
        </p:nvSpPr>
        <p:spPr>
          <a:xfrm>
            <a:off x="548640" y="1828800"/>
            <a:ext cx="2514600" cy="1051560"/>
          </a:xfrm>
          <a:prstGeom prst="roundRect">
            <a:avLst>
              <a:gd name="adj" fmla="val 4348"/>
            </a:avLst>
          </a:prstGeom>
          <a:solidFill>
            <a:srgbClr val="F3F6FA"/>
          </a:solidFill>
          <a:ln w="9525">
            <a:solidFill>
              <a:srgbClr val="D8E1EC"/>
            </a:solidFill>
            <a:prstDash val="solid"/>
          </a:ln>
        </p:spPr>
      </p:sp>
      <p:sp>
        <p:nvSpPr>
          <p:cNvPr id="6" name="Text 4"/>
          <p:cNvSpPr txBox="1"/>
          <p:nvPr/>
        </p:nvSpPr>
        <p:spPr>
          <a:xfrm>
            <a:off x="713232" y="1947672"/>
            <a:ext cx="2194560" cy="256032"/>
          </a:xfrm>
          <a:prstGeom prst="rect">
            <a:avLst/>
          </a:prstGeom>
          <a:noFill/>
          <a:ln/>
        </p:spPr>
        <p:txBody>
          <a:bodyPr wrap="square" lIns="0" tIns="0" rIns="0" bIns="0" rtlCol="0" anchor="t"/>
          <a:lstStyle/>
          <a:p>
            <a:pPr marL="0" indent="0" algn="l">
              <a:lnSpc>
                <a:spcPct val="108000"/>
              </a:lnSpc>
              <a:buNone/>
            </a:pPr>
            <a:r>
              <a:rPr lang="en-US" sz="1250" b="1" dirty="0">
                <a:solidFill>
                  <a:srgbClr val="10243E"/>
                </a:solidFill>
                <a:latin typeface="Calibri" pitchFamily="34" charset="0"/>
                <a:ea typeface="Calibri" pitchFamily="34" charset="-122"/>
                <a:cs typeface="Calibri" pitchFamily="34" charset="-120"/>
              </a:rPr>
              <a:t>Ingestion</a:t>
            </a:r>
            <a:endParaRPr lang="en-US" sz="1250" dirty="0"/>
          </a:p>
        </p:txBody>
      </p:sp>
      <p:sp>
        <p:nvSpPr>
          <p:cNvPr id="7" name="Text 5"/>
          <p:cNvSpPr txBox="1"/>
          <p:nvPr/>
        </p:nvSpPr>
        <p:spPr>
          <a:xfrm>
            <a:off x="713232" y="2249424"/>
            <a:ext cx="2194560" cy="548640"/>
          </a:xfrm>
          <a:prstGeom prst="rect">
            <a:avLst/>
          </a:prstGeom>
          <a:noFill/>
          <a:ln/>
        </p:spPr>
        <p:txBody>
          <a:bodyPr wrap="square" lIns="0" tIns="0" rIns="0" bIns="0" rtlCol="0" anchor="t"/>
          <a:lstStyle/>
          <a:p>
            <a:pPr marL="0" indent="0" algn="l">
              <a:lnSpc>
                <a:spcPct val="110000"/>
              </a:lnSpc>
              <a:buNone/>
            </a:pPr>
            <a:r>
              <a:rPr lang="en-US" sz="950" dirty="0">
                <a:solidFill>
                  <a:srgbClr val="8697AB"/>
                </a:solidFill>
                <a:latin typeface="Calibri" pitchFamily="34" charset="0"/>
                <a:ea typeface="Calibri" pitchFamily="34" charset="-122"/>
                <a:cs typeface="Calibri" pitchFamily="34" charset="-120"/>
              </a:rPr>
              <a:t>PDF · DOCX · XLSX · MD</a:t>
            </a:r>
            <a:endParaRPr lang="en-US" sz="950" dirty="0"/>
          </a:p>
          <a:p>
            <a:pPr marL="0" indent="0" algn="l">
              <a:lnSpc>
                <a:spcPct val="110000"/>
              </a:lnSpc>
              <a:buNone/>
            </a:pPr>
            <a:r>
              <a:rPr lang="en-US" sz="950" dirty="0">
                <a:solidFill>
                  <a:srgbClr val="8697AB"/>
                </a:solidFill>
                <a:latin typeface="Calibri" pitchFamily="34" charset="0"/>
                <a:ea typeface="Calibri" pitchFamily="34" charset="-122"/>
                <a:cs typeface="Calibri" pitchFamily="34" charset="-120"/>
              </a:rPr>
              <a:t>chunk + métadonnée de phase</a:t>
            </a:r>
            <a:endParaRPr lang="en-US" sz="950" dirty="0"/>
          </a:p>
        </p:txBody>
      </p:sp>
      <p:sp>
        <p:nvSpPr>
          <p:cNvPr id="8" name="Shape 6"/>
          <p:cNvSpPr/>
          <p:nvPr/>
        </p:nvSpPr>
        <p:spPr>
          <a:xfrm>
            <a:off x="3081528" y="2350008"/>
            <a:ext cx="201168" cy="0"/>
          </a:xfrm>
          <a:prstGeom prst="line">
            <a:avLst/>
          </a:prstGeom>
          <a:noFill/>
          <a:ln w="15875">
            <a:solidFill>
              <a:srgbClr val="9AACBF"/>
            </a:solidFill>
            <a:prstDash val="solid"/>
            <a:tailEnd type="triangle"/>
          </a:ln>
        </p:spPr>
      </p:sp>
      <p:sp>
        <p:nvSpPr>
          <p:cNvPr id="9" name="Shape 7"/>
          <p:cNvSpPr/>
          <p:nvPr/>
        </p:nvSpPr>
        <p:spPr>
          <a:xfrm>
            <a:off x="3291840" y="1828800"/>
            <a:ext cx="2514600" cy="1051560"/>
          </a:xfrm>
          <a:prstGeom prst="roundRect">
            <a:avLst>
              <a:gd name="adj" fmla="val 4348"/>
            </a:avLst>
          </a:prstGeom>
          <a:solidFill>
            <a:srgbClr val="F3F6FA"/>
          </a:solidFill>
          <a:ln w="9525">
            <a:solidFill>
              <a:srgbClr val="D8E1EC"/>
            </a:solidFill>
            <a:prstDash val="solid"/>
          </a:ln>
        </p:spPr>
      </p:sp>
      <p:sp>
        <p:nvSpPr>
          <p:cNvPr id="10" name="Text 8"/>
          <p:cNvSpPr txBox="1"/>
          <p:nvPr/>
        </p:nvSpPr>
        <p:spPr>
          <a:xfrm>
            <a:off x="3456432" y="1947672"/>
            <a:ext cx="2194560" cy="256032"/>
          </a:xfrm>
          <a:prstGeom prst="rect">
            <a:avLst/>
          </a:prstGeom>
          <a:noFill/>
          <a:ln/>
        </p:spPr>
        <p:txBody>
          <a:bodyPr wrap="square" lIns="0" tIns="0" rIns="0" bIns="0" rtlCol="0" anchor="t"/>
          <a:lstStyle/>
          <a:p>
            <a:pPr marL="0" indent="0" algn="l">
              <a:lnSpc>
                <a:spcPct val="108000"/>
              </a:lnSpc>
              <a:buNone/>
            </a:pPr>
            <a:r>
              <a:rPr lang="en-US" sz="1250" b="1" dirty="0">
                <a:solidFill>
                  <a:srgbClr val="10243E"/>
                </a:solidFill>
                <a:latin typeface="Calibri" pitchFamily="34" charset="0"/>
                <a:ea typeface="Calibri" pitchFamily="34" charset="-122"/>
                <a:cs typeface="Calibri" pitchFamily="34" charset="-120"/>
              </a:rPr>
              <a:t>Embeddings</a:t>
            </a:r>
            <a:endParaRPr lang="en-US" sz="1250" dirty="0"/>
          </a:p>
        </p:txBody>
      </p:sp>
      <p:sp>
        <p:nvSpPr>
          <p:cNvPr id="11" name="Text 9"/>
          <p:cNvSpPr txBox="1"/>
          <p:nvPr/>
        </p:nvSpPr>
        <p:spPr>
          <a:xfrm>
            <a:off x="3456432" y="2249424"/>
            <a:ext cx="2194560" cy="548640"/>
          </a:xfrm>
          <a:prstGeom prst="rect">
            <a:avLst/>
          </a:prstGeom>
          <a:noFill/>
          <a:ln/>
        </p:spPr>
        <p:txBody>
          <a:bodyPr wrap="square" lIns="0" tIns="0" rIns="0" bIns="0" rtlCol="0" anchor="t"/>
          <a:lstStyle/>
          <a:p>
            <a:pPr marL="0" indent="0" algn="l">
              <a:lnSpc>
                <a:spcPct val="110000"/>
              </a:lnSpc>
              <a:buNone/>
            </a:pPr>
            <a:r>
              <a:rPr lang="en-US" sz="950" dirty="0">
                <a:solidFill>
                  <a:srgbClr val="8697AB"/>
                </a:solidFill>
                <a:latin typeface="Calibri" pitchFamily="34" charset="0"/>
                <a:ea typeface="Calibri" pitchFamily="34" charset="-122"/>
                <a:cs typeface="Calibri" pitchFamily="34" charset="-120"/>
              </a:rPr>
              <a:t>Cohere embed-v4</a:t>
            </a:r>
            <a:endParaRPr lang="en-US" sz="950" dirty="0"/>
          </a:p>
          <a:p>
            <a:pPr marL="0" indent="0" algn="l">
              <a:lnSpc>
                <a:spcPct val="110000"/>
              </a:lnSpc>
              <a:buNone/>
            </a:pPr>
            <a:r>
              <a:rPr lang="en-US" sz="950" dirty="0">
                <a:solidFill>
                  <a:srgbClr val="8697AB"/>
                </a:solidFill>
                <a:latin typeface="Calibri" pitchFamily="34" charset="0"/>
                <a:ea typeface="Calibri" pitchFamily="34" charset="-122"/>
                <a:cs typeface="Calibri" pitchFamily="34" charset="-120"/>
              </a:rPr>
              <a:t>document_chunks.embedding</a:t>
            </a:r>
            <a:endParaRPr lang="en-US" sz="950" dirty="0"/>
          </a:p>
        </p:txBody>
      </p:sp>
      <p:sp>
        <p:nvSpPr>
          <p:cNvPr id="12" name="Shape 10"/>
          <p:cNvSpPr/>
          <p:nvPr/>
        </p:nvSpPr>
        <p:spPr>
          <a:xfrm>
            <a:off x="5824728" y="2350008"/>
            <a:ext cx="201168" cy="0"/>
          </a:xfrm>
          <a:prstGeom prst="line">
            <a:avLst/>
          </a:prstGeom>
          <a:noFill/>
          <a:ln w="15875">
            <a:solidFill>
              <a:srgbClr val="9AACBF"/>
            </a:solidFill>
            <a:prstDash val="solid"/>
            <a:tailEnd type="triangle"/>
          </a:ln>
        </p:spPr>
      </p:sp>
      <p:sp>
        <p:nvSpPr>
          <p:cNvPr id="13" name="Shape 11"/>
          <p:cNvSpPr/>
          <p:nvPr/>
        </p:nvSpPr>
        <p:spPr>
          <a:xfrm>
            <a:off x="6035040" y="1719072"/>
            <a:ext cx="3017520" cy="1298448"/>
          </a:xfrm>
          <a:prstGeom prst="roundRect">
            <a:avLst>
              <a:gd name="adj" fmla="val 3521"/>
            </a:avLst>
          </a:prstGeom>
          <a:solidFill>
            <a:srgbClr val="FFFFFF"/>
          </a:solidFill>
          <a:ln w="9525">
            <a:solidFill>
              <a:srgbClr val="0E8A6A"/>
            </a:solidFill>
            <a:prstDash val="solid"/>
          </a:ln>
        </p:spPr>
      </p:sp>
      <p:sp>
        <p:nvSpPr>
          <p:cNvPr id="14" name="Text 12"/>
          <p:cNvSpPr txBox="1"/>
          <p:nvPr/>
        </p:nvSpPr>
        <p:spPr>
          <a:xfrm>
            <a:off x="6199632" y="1792224"/>
            <a:ext cx="2651760" cy="237744"/>
          </a:xfrm>
          <a:prstGeom prst="rect">
            <a:avLst/>
          </a:prstGeom>
          <a:noFill/>
          <a:ln/>
        </p:spPr>
        <p:txBody>
          <a:bodyPr wrap="square" lIns="0" tIns="0" rIns="0" bIns="0" rtlCol="0" anchor="t"/>
          <a:lstStyle/>
          <a:p>
            <a:pPr marL="0" indent="0" algn="l">
              <a:lnSpc>
                <a:spcPct val="108000"/>
              </a:lnSpc>
              <a:buNone/>
            </a:pPr>
            <a:r>
              <a:rPr lang="en-US" sz="1100" b="1" dirty="0">
                <a:solidFill>
                  <a:srgbClr val="0E8A6A"/>
                </a:solidFill>
                <a:latin typeface="Courier New" pitchFamily="34" charset="0"/>
                <a:ea typeface="Courier New" pitchFamily="34" charset="-122"/>
                <a:cs typeface="Courier New" pitchFamily="34" charset="-120"/>
              </a:rPr>
              <a:t>hybrid_search_rrf</a:t>
            </a:r>
            <a:endParaRPr lang="en-US" sz="1100" dirty="0"/>
          </a:p>
        </p:txBody>
      </p:sp>
      <p:sp>
        <p:nvSpPr>
          <p:cNvPr id="15" name="Shape 13"/>
          <p:cNvSpPr/>
          <p:nvPr/>
        </p:nvSpPr>
        <p:spPr>
          <a:xfrm>
            <a:off x="6199632" y="2084832"/>
            <a:ext cx="1234440" cy="292608"/>
          </a:xfrm>
          <a:prstGeom prst="roundRect">
            <a:avLst>
              <a:gd name="adj" fmla="val 25000"/>
            </a:avLst>
          </a:prstGeom>
          <a:solidFill>
            <a:srgbClr val="F3F6FA"/>
          </a:solidFill>
          <a:ln w="9525">
            <a:solidFill>
              <a:srgbClr val="D8E1EC"/>
            </a:solidFill>
            <a:prstDash val="solid"/>
          </a:ln>
        </p:spPr>
      </p:sp>
      <p:sp>
        <p:nvSpPr>
          <p:cNvPr id="16" name="Text 14"/>
          <p:cNvSpPr txBox="1"/>
          <p:nvPr/>
        </p:nvSpPr>
        <p:spPr>
          <a:xfrm>
            <a:off x="6245352" y="2084832"/>
            <a:ext cx="1143000"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3F546B"/>
                </a:solidFill>
                <a:latin typeface="Calibri" pitchFamily="34" charset="0"/>
                <a:ea typeface="Calibri" pitchFamily="34" charset="-122"/>
                <a:cs typeface="Calibri" pitchFamily="34" charset="-120"/>
              </a:rPr>
              <a:t>pgvector</a:t>
            </a:r>
            <a:endParaRPr lang="en-US" sz="900" dirty="0"/>
          </a:p>
        </p:txBody>
      </p:sp>
      <p:sp>
        <p:nvSpPr>
          <p:cNvPr id="17" name="Shape 15"/>
          <p:cNvSpPr/>
          <p:nvPr/>
        </p:nvSpPr>
        <p:spPr>
          <a:xfrm>
            <a:off x="6199632" y="2432304"/>
            <a:ext cx="1234440" cy="292608"/>
          </a:xfrm>
          <a:prstGeom prst="roundRect">
            <a:avLst>
              <a:gd name="adj" fmla="val 25000"/>
            </a:avLst>
          </a:prstGeom>
          <a:solidFill>
            <a:srgbClr val="F3F6FA"/>
          </a:solidFill>
          <a:ln w="9525">
            <a:solidFill>
              <a:srgbClr val="D8E1EC"/>
            </a:solidFill>
            <a:prstDash val="solid"/>
          </a:ln>
        </p:spPr>
      </p:sp>
      <p:sp>
        <p:nvSpPr>
          <p:cNvPr id="18" name="Text 16"/>
          <p:cNvSpPr txBox="1"/>
          <p:nvPr/>
        </p:nvSpPr>
        <p:spPr>
          <a:xfrm>
            <a:off x="6245352" y="2432304"/>
            <a:ext cx="1143000"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3F546B"/>
                </a:solidFill>
                <a:latin typeface="Calibri" pitchFamily="34" charset="0"/>
                <a:ea typeface="Calibri" pitchFamily="34" charset="-122"/>
                <a:cs typeface="Calibri" pitchFamily="34" charset="-120"/>
              </a:rPr>
              <a:t>full-text</a:t>
            </a:r>
            <a:endParaRPr lang="en-US" sz="900" dirty="0"/>
          </a:p>
        </p:txBody>
      </p:sp>
      <p:sp>
        <p:nvSpPr>
          <p:cNvPr id="19" name="Shape 17"/>
          <p:cNvSpPr/>
          <p:nvPr/>
        </p:nvSpPr>
        <p:spPr>
          <a:xfrm>
            <a:off x="7479792" y="2231136"/>
            <a:ext cx="320040" cy="0"/>
          </a:xfrm>
          <a:prstGeom prst="line">
            <a:avLst/>
          </a:prstGeom>
          <a:noFill/>
          <a:ln w="15875">
            <a:solidFill>
              <a:srgbClr val="0E8A6A"/>
            </a:solidFill>
            <a:prstDash val="solid"/>
            <a:tailEnd type="triangle"/>
          </a:ln>
        </p:spPr>
      </p:sp>
      <p:sp>
        <p:nvSpPr>
          <p:cNvPr id="20" name="Shape 18"/>
          <p:cNvSpPr/>
          <p:nvPr/>
        </p:nvSpPr>
        <p:spPr>
          <a:xfrm>
            <a:off x="7479792" y="2578608"/>
            <a:ext cx="320040" cy="0"/>
          </a:xfrm>
          <a:prstGeom prst="line">
            <a:avLst/>
          </a:prstGeom>
          <a:noFill/>
          <a:ln w="15875">
            <a:solidFill>
              <a:srgbClr val="0E8A6A"/>
            </a:solidFill>
            <a:prstDash val="solid"/>
            <a:tailEnd type="triangle"/>
          </a:ln>
        </p:spPr>
      </p:sp>
      <p:sp>
        <p:nvSpPr>
          <p:cNvPr id="21" name="Shape 19"/>
          <p:cNvSpPr/>
          <p:nvPr/>
        </p:nvSpPr>
        <p:spPr>
          <a:xfrm>
            <a:off x="7863840" y="2084832"/>
            <a:ext cx="1051560" cy="640080"/>
          </a:xfrm>
          <a:prstGeom prst="roundRect">
            <a:avLst>
              <a:gd name="adj" fmla="val 7143"/>
            </a:avLst>
          </a:prstGeom>
          <a:solidFill>
            <a:srgbClr val="E6F4EF"/>
          </a:solidFill>
          <a:ln w="9525">
            <a:solidFill>
              <a:srgbClr val="0E8A6A"/>
            </a:solidFill>
            <a:prstDash val="solid"/>
          </a:ln>
        </p:spPr>
      </p:sp>
      <p:sp>
        <p:nvSpPr>
          <p:cNvPr id="22" name="Text 20"/>
          <p:cNvSpPr txBox="1"/>
          <p:nvPr/>
        </p:nvSpPr>
        <p:spPr>
          <a:xfrm>
            <a:off x="7936992" y="2084832"/>
            <a:ext cx="905256" cy="640080"/>
          </a:xfrm>
          <a:prstGeom prst="rect">
            <a:avLst/>
          </a:prstGeom>
          <a:noFill/>
          <a:ln/>
        </p:spPr>
        <p:txBody>
          <a:bodyPr wrap="square" lIns="0" tIns="0" rIns="0" bIns="0" rtlCol="0" anchor="ctr"/>
          <a:lstStyle/>
          <a:p>
            <a:pPr marL="0" indent="0" algn="ctr">
              <a:lnSpc>
                <a:spcPct val="100000"/>
              </a:lnSpc>
              <a:buNone/>
            </a:pPr>
            <a:r>
              <a:rPr lang="en-US" sz="1100" b="1" dirty="0">
                <a:solidFill>
                  <a:srgbClr val="0E8A6A"/>
                </a:solidFill>
                <a:latin typeface="Calibri" pitchFamily="34" charset="0"/>
                <a:ea typeface="Calibri" pitchFamily="34" charset="-122"/>
                <a:cs typeface="Calibri" pitchFamily="34" charset="-120"/>
              </a:rPr>
              <a:t>RRF</a:t>
            </a:r>
            <a:endParaRPr lang="en-US" sz="1100" dirty="0"/>
          </a:p>
        </p:txBody>
      </p:sp>
      <p:sp>
        <p:nvSpPr>
          <p:cNvPr id="23" name="Shape 21"/>
          <p:cNvSpPr/>
          <p:nvPr/>
        </p:nvSpPr>
        <p:spPr>
          <a:xfrm>
            <a:off x="9098280" y="2377440"/>
            <a:ext cx="201168" cy="0"/>
          </a:xfrm>
          <a:prstGeom prst="line">
            <a:avLst/>
          </a:prstGeom>
          <a:noFill/>
          <a:ln w="15875">
            <a:solidFill>
              <a:srgbClr val="9AACBF"/>
            </a:solidFill>
            <a:prstDash val="solid"/>
            <a:tailEnd type="triangle"/>
          </a:ln>
        </p:spPr>
      </p:sp>
      <p:sp>
        <p:nvSpPr>
          <p:cNvPr id="24" name="Shape 22"/>
          <p:cNvSpPr/>
          <p:nvPr/>
        </p:nvSpPr>
        <p:spPr>
          <a:xfrm>
            <a:off x="9326880" y="1828800"/>
            <a:ext cx="2286000" cy="1051560"/>
          </a:xfrm>
          <a:prstGeom prst="roundRect">
            <a:avLst>
              <a:gd name="adj" fmla="val 4348"/>
            </a:avLst>
          </a:prstGeom>
          <a:solidFill>
            <a:srgbClr val="F3F6FA"/>
          </a:solidFill>
          <a:ln w="9525">
            <a:solidFill>
              <a:srgbClr val="D8E1EC"/>
            </a:solidFill>
            <a:prstDash val="solid"/>
          </a:ln>
        </p:spPr>
      </p:sp>
      <p:sp>
        <p:nvSpPr>
          <p:cNvPr id="25" name="Text 23"/>
          <p:cNvSpPr txBox="1"/>
          <p:nvPr/>
        </p:nvSpPr>
        <p:spPr>
          <a:xfrm>
            <a:off x="9491472" y="1947672"/>
            <a:ext cx="1965960" cy="256032"/>
          </a:xfrm>
          <a:prstGeom prst="rect">
            <a:avLst/>
          </a:prstGeom>
          <a:noFill/>
          <a:ln/>
        </p:spPr>
        <p:txBody>
          <a:bodyPr wrap="square" lIns="0" tIns="0" rIns="0" bIns="0" rtlCol="0" anchor="t"/>
          <a:lstStyle/>
          <a:p>
            <a:pPr marL="0" indent="0" algn="l">
              <a:lnSpc>
                <a:spcPct val="108000"/>
              </a:lnSpc>
              <a:buNone/>
            </a:pPr>
            <a:r>
              <a:rPr lang="en-US" sz="1250" b="1" dirty="0">
                <a:solidFill>
                  <a:srgbClr val="10243E"/>
                </a:solidFill>
                <a:latin typeface="Calibri" pitchFamily="34" charset="0"/>
                <a:ea typeface="Calibri" pitchFamily="34" charset="-122"/>
                <a:cs typeface="Calibri" pitchFamily="34" charset="-120"/>
              </a:rPr>
              <a:t>Rerank CPU</a:t>
            </a:r>
            <a:endParaRPr lang="en-US" sz="1250" dirty="0"/>
          </a:p>
        </p:txBody>
      </p:sp>
      <p:sp>
        <p:nvSpPr>
          <p:cNvPr id="26" name="Text 24"/>
          <p:cNvSpPr txBox="1"/>
          <p:nvPr/>
        </p:nvSpPr>
        <p:spPr>
          <a:xfrm>
            <a:off x="9491472" y="2249424"/>
            <a:ext cx="1965960" cy="548640"/>
          </a:xfrm>
          <a:prstGeom prst="rect">
            <a:avLst/>
          </a:prstGeom>
          <a:noFill/>
          <a:ln/>
        </p:spPr>
        <p:txBody>
          <a:bodyPr wrap="square" lIns="0" tIns="0" rIns="0" bIns="0" rtlCol="0" anchor="t"/>
          <a:lstStyle/>
          <a:p>
            <a:pPr marL="0" indent="0" algn="l">
              <a:lnSpc>
                <a:spcPct val="110000"/>
              </a:lnSpc>
              <a:buNone/>
            </a:pPr>
            <a:r>
              <a:rPr lang="en-US" sz="950" dirty="0">
                <a:solidFill>
                  <a:srgbClr val="8697AB"/>
                </a:solidFill>
                <a:latin typeface="Calibri" pitchFamily="34" charset="0"/>
                <a:ea typeface="Calibri" pitchFamily="34" charset="-122"/>
                <a:cs typeface="Calibri" pitchFamily="34" charset="-120"/>
              </a:rPr>
              <a:t>FlashRank, sans GPU</a:t>
            </a:r>
            <a:endParaRPr lang="en-US" sz="950" dirty="0"/>
          </a:p>
          <a:p>
            <a:pPr marL="0" indent="0" algn="l">
              <a:lnSpc>
                <a:spcPct val="110000"/>
              </a:lnSpc>
              <a:buNone/>
            </a:pPr>
            <a:r>
              <a:rPr lang="en-US" sz="950" dirty="0">
                <a:solidFill>
                  <a:srgbClr val="8697AB"/>
                </a:solidFill>
                <a:latin typeface="Calibri" pitchFamily="34" charset="0"/>
                <a:ea typeface="Calibri" pitchFamily="34" charset="-122"/>
                <a:cs typeface="Calibri" pitchFamily="34" charset="-120"/>
              </a:rPr>
              <a:t>avant injection au prompt</a:t>
            </a:r>
            <a:endParaRPr lang="en-US" sz="950" dirty="0"/>
          </a:p>
        </p:txBody>
      </p:sp>
      <p:sp>
        <p:nvSpPr>
          <p:cNvPr id="27" name="Shape 25"/>
          <p:cNvSpPr/>
          <p:nvPr/>
        </p:nvSpPr>
        <p:spPr>
          <a:xfrm>
            <a:off x="548640" y="3291840"/>
            <a:ext cx="5440680" cy="1371600"/>
          </a:xfrm>
          <a:prstGeom prst="roundRect">
            <a:avLst>
              <a:gd name="adj" fmla="val 3333"/>
            </a:avLst>
          </a:prstGeom>
          <a:solidFill>
            <a:srgbClr val="F3F6FA"/>
          </a:solidFill>
          <a:ln w="9525">
            <a:solidFill>
              <a:srgbClr val="D8E1EC"/>
            </a:solidFill>
            <a:prstDash val="solid"/>
          </a:ln>
        </p:spPr>
      </p:sp>
      <p:sp>
        <p:nvSpPr>
          <p:cNvPr id="28" name="Text 26"/>
          <p:cNvSpPr txBox="1"/>
          <p:nvPr/>
        </p:nvSpPr>
        <p:spPr>
          <a:xfrm>
            <a:off x="749808" y="3429000"/>
            <a:ext cx="5038344" cy="274320"/>
          </a:xfrm>
          <a:prstGeom prst="rect">
            <a:avLst/>
          </a:prstGeom>
          <a:noFill/>
          <a:ln/>
        </p:spPr>
        <p:txBody>
          <a:bodyPr wrap="square" lIns="0" tIns="0" rIns="0" bIns="0" rtlCol="0" anchor="t"/>
          <a:lstStyle/>
          <a:p>
            <a:pPr marL="0" indent="0" algn="l">
              <a:lnSpc>
                <a:spcPct val="108000"/>
              </a:lnSpc>
              <a:buNone/>
            </a:pPr>
            <a:r>
              <a:rPr lang="en-US" sz="1350" b="1" dirty="0">
                <a:solidFill>
                  <a:srgbClr val="10243E"/>
                </a:solidFill>
                <a:latin typeface="Calibri" pitchFamily="34" charset="0"/>
                <a:ea typeface="Calibri" pitchFamily="34" charset="-122"/>
                <a:cs typeface="Calibri" pitchFamily="34" charset="-120"/>
              </a:rPr>
              <a:t>Pourquoi fusionner</a:t>
            </a:r>
            <a:endParaRPr lang="en-US" sz="1350" dirty="0"/>
          </a:p>
        </p:txBody>
      </p:sp>
      <p:sp>
        <p:nvSpPr>
          <p:cNvPr id="29" name="Text 27"/>
          <p:cNvSpPr txBox="1"/>
          <p:nvPr/>
        </p:nvSpPr>
        <p:spPr>
          <a:xfrm>
            <a:off x="749808" y="3767328"/>
            <a:ext cx="5038344" cy="768096"/>
          </a:xfrm>
          <a:prstGeom prst="rect">
            <a:avLst/>
          </a:prstGeom>
          <a:noFill/>
          <a:ln/>
        </p:spPr>
        <p:txBody>
          <a:bodyPr wrap="square" lIns="0" tIns="0" rIns="0" bIns="0" rtlCol="0" anchor="t"/>
          <a:lstStyle/>
          <a:p>
            <a:pPr marL="0" indent="0" algn="l">
              <a:lnSpc>
                <a:spcPct val="112000"/>
              </a:lnSpc>
              <a:buNone/>
            </a:pPr>
            <a:r>
              <a:rPr lang="en-US" sz="1150" dirty="0">
                <a:solidFill>
                  <a:srgbClr val="3F546B"/>
                </a:solidFill>
                <a:latin typeface="Calibri" pitchFamily="34" charset="0"/>
                <a:ea typeface="Calibri" pitchFamily="34" charset="-122"/>
                <a:cs typeface="Calibri" pitchFamily="34" charset="-120"/>
              </a:rPr>
              <a:t>La recherche vectorielle rate les identifiants exacts : FR-12, un nom de fichier. La recherche plein texte rate les reformulations. RRF couvre les deux trous. Le rerank corrige le bruit que la fusion ajoute.</a:t>
            </a:r>
            <a:endParaRPr lang="en-US" sz="1150" dirty="0"/>
          </a:p>
        </p:txBody>
      </p:sp>
      <p:sp>
        <p:nvSpPr>
          <p:cNvPr id="30" name="Shape 28"/>
          <p:cNvSpPr/>
          <p:nvPr/>
        </p:nvSpPr>
        <p:spPr>
          <a:xfrm>
            <a:off x="6172200" y="3291840"/>
            <a:ext cx="5440680" cy="1371600"/>
          </a:xfrm>
          <a:prstGeom prst="roundRect">
            <a:avLst>
              <a:gd name="adj" fmla="val 3333"/>
            </a:avLst>
          </a:prstGeom>
          <a:solidFill>
            <a:srgbClr val="E8EEF6"/>
          </a:solidFill>
          <a:ln w="9525">
            <a:solidFill>
              <a:srgbClr val="D8E1EC"/>
            </a:solidFill>
            <a:prstDash val="solid"/>
          </a:ln>
        </p:spPr>
      </p:sp>
      <p:sp>
        <p:nvSpPr>
          <p:cNvPr id="31" name="Text 29"/>
          <p:cNvSpPr txBox="1"/>
          <p:nvPr/>
        </p:nvSpPr>
        <p:spPr>
          <a:xfrm>
            <a:off x="6373368" y="3429000"/>
            <a:ext cx="5038344" cy="274320"/>
          </a:xfrm>
          <a:prstGeom prst="rect">
            <a:avLst/>
          </a:prstGeom>
          <a:noFill/>
          <a:ln/>
        </p:spPr>
        <p:txBody>
          <a:bodyPr wrap="square" lIns="0" tIns="0" rIns="0" bIns="0" rtlCol="0" anchor="t"/>
          <a:lstStyle/>
          <a:p>
            <a:pPr marL="0" indent="0" algn="l">
              <a:lnSpc>
                <a:spcPct val="108000"/>
              </a:lnSpc>
              <a:buNone/>
            </a:pPr>
            <a:r>
              <a:rPr lang="en-US" sz="1350" b="1" dirty="0">
                <a:solidFill>
                  <a:srgbClr val="10243E"/>
                </a:solidFill>
                <a:latin typeface="Calibri" pitchFamily="34" charset="0"/>
                <a:ea typeface="Calibri" pitchFamily="34" charset="-122"/>
                <a:cs typeface="Calibri" pitchFamily="34" charset="-120"/>
              </a:rPr>
              <a:t>Ce qui part réellement au modèle</a:t>
            </a:r>
            <a:endParaRPr lang="en-US" sz="1350" dirty="0"/>
          </a:p>
        </p:txBody>
      </p:sp>
      <p:sp>
        <p:nvSpPr>
          <p:cNvPr id="32" name="Text 30"/>
          <p:cNvSpPr txBox="1"/>
          <p:nvPr/>
        </p:nvSpPr>
        <p:spPr>
          <a:xfrm>
            <a:off x="6373368" y="3767328"/>
            <a:ext cx="5038344" cy="768096"/>
          </a:xfrm>
          <a:prstGeom prst="rect">
            <a:avLst/>
          </a:prstGeom>
          <a:noFill/>
          <a:ln/>
        </p:spPr>
        <p:txBody>
          <a:bodyPr wrap="square" lIns="0" tIns="0" rIns="0" bIns="0" rtlCol="0" anchor="t"/>
          <a:lstStyle/>
          <a:p>
            <a:pPr marL="0" indent="0" algn="l">
              <a:lnSpc>
                <a:spcPct val="112000"/>
              </a:lnSpc>
              <a:buNone/>
            </a:pPr>
            <a:r>
              <a:rPr lang="en-US" sz="1150" dirty="0">
                <a:solidFill>
                  <a:srgbClr val="3F546B"/>
                </a:solidFill>
                <a:latin typeface="Calibri" pitchFamily="34" charset="0"/>
                <a:ea typeface="Calibri" pitchFamily="34" charset="-122"/>
                <a:cs typeface="Calibri" pitchFamily="34" charset="-120"/>
              </a:rPr>
              <a:t>Historique du thread borné par history_window. Extraits RAG rerankés. Prompt système de la phase. Préfixe de skill si un mode Cowork est actif. Rien d’autre.</a:t>
            </a:r>
            <a:endParaRPr lang="en-US" sz="1150" dirty="0"/>
          </a:p>
        </p:txBody>
      </p:sp>
      <p:sp>
        <p:nvSpPr>
          <p:cNvPr id="33" name="Shape 31"/>
          <p:cNvSpPr/>
          <p:nvPr/>
        </p:nvSpPr>
        <p:spPr>
          <a:xfrm>
            <a:off x="548640" y="4892040"/>
            <a:ext cx="11064240" cy="1188720"/>
          </a:xfrm>
          <a:prstGeom prst="roundRect">
            <a:avLst>
              <a:gd name="adj" fmla="val 3846"/>
            </a:avLst>
          </a:prstGeom>
          <a:solidFill>
            <a:srgbClr val="F3F6FA"/>
          </a:solidFill>
          <a:ln w="9525">
            <a:solidFill>
              <a:srgbClr val="D8E1EC"/>
            </a:solidFill>
            <a:prstDash val="solid"/>
          </a:ln>
        </p:spPr>
      </p:sp>
      <p:sp>
        <p:nvSpPr>
          <p:cNvPr id="34" name="Text 32"/>
          <p:cNvSpPr txBox="1"/>
          <p:nvPr/>
        </p:nvSpPr>
        <p:spPr>
          <a:xfrm>
            <a:off x="777240" y="5029200"/>
            <a:ext cx="3200400" cy="256032"/>
          </a:xfrm>
          <a:prstGeom prst="rect">
            <a:avLst/>
          </a:prstGeom>
          <a:noFill/>
          <a:ln/>
        </p:spPr>
        <p:txBody>
          <a:bodyPr wrap="square" lIns="0" tIns="0" rIns="0" bIns="0" rtlCol="0" anchor="t"/>
          <a:lstStyle/>
          <a:p>
            <a:pPr marL="0" indent="0" algn="l">
              <a:lnSpc>
                <a:spcPct val="108000"/>
              </a:lnSpc>
              <a:buNone/>
            </a:pPr>
            <a:r>
              <a:rPr lang="en-US" sz="1250" b="1" dirty="0">
                <a:solidFill>
                  <a:srgbClr val="10243E"/>
                </a:solidFill>
                <a:latin typeface="Calibri" pitchFamily="34" charset="0"/>
                <a:ea typeface="Calibri" pitchFamily="34" charset="-122"/>
                <a:cs typeface="Calibri" pitchFamily="34" charset="-120"/>
              </a:rPr>
              <a:t>Puis le gatekeeper, trois niveaux</a:t>
            </a:r>
            <a:endParaRPr lang="en-US" sz="1250" dirty="0"/>
          </a:p>
        </p:txBody>
      </p:sp>
      <p:sp>
        <p:nvSpPr>
          <p:cNvPr id="35" name="Shape 33"/>
          <p:cNvSpPr/>
          <p:nvPr/>
        </p:nvSpPr>
        <p:spPr>
          <a:xfrm>
            <a:off x="4206240" y="5029200"/>
            <a:ext cx="2286000" cy="868680"/>
          </a:xfrm>
          <a:prstGeom prst="roundRect">
            <a:avLst>
              <a:gd name="adj" fmla="val 5263"/>
            </a:avLst>
          </a:prstGeom>
          <a:solidFill>
            <a:srgbClr val="FFFFFF"/>
          </a:solidFill>
          <a:ln w="9525">
            <a:solidFill>
              <a:srgbClr val="0E8A6A"/>
            </a:solidFill>
            <a:prstDash val="solid"/>
          </a:ln>
        </p:spPr>
      </p:sp>
      <p:sp>
        <p:nvSpPr>
          <p:cNvPr id="36" name="Text 34"/>
          <p:cNvSpPr txBox="1"/>
          <p:nvPr/>
        </p:nvSpPr>
        <p:spPr>
          <a:xfrm>
            <a:off x="4343400" y="5102352"/>
            <a:ext cx="457200" cy="237744"/>
          </a:xfrm>
          <a:prstGeom prst="rect">
            <a:avLst/>
          </a:prstGeom>
          <a:noFill/>
          <a:ln/>
        </p:spPr>
        <p:txBody>
          <a:bodyPr wrap="square" lIns="0" tIns="0" rIns="0" bIns="0" rtlCol="0" anchor="t"/>
          <a:lstStyle/>
          <a:p>
            <a:pPr marL="0" indent="0" algn="l">
              <a:lnSpc>
                <a:spcPct val="108000"/>
              </a:lnSpc>
              <a:buNone/>
            </a:pPr>
            <a:r>
              <a:rPr lang="en-US" sz="1150" b="1" dirty="0">
                <a:solidFill>
                  <a:srgbClr val="0E8A6A"/>
                </a:solidFill>
                <a:latin typeface="Courier New" pitchFamily="34" charset="0"/>
                <a:ea typeface="Courier New" pitchFamily="34" charset="-122"/>
                <a:cs typeface="Courier New" pitchFamily="34" charset="-120"/>
              </a:rPr>
              <a:t>T1</a:t>
            </a:r>
            <a:endParaRPr lang="en-US" sz="1150" dirty="0"/>
          </a:p>
        </p:txBody>
      </p:sp>
      <p:sp>
        <p:nvSpPr>
          <p:cNvPr id="37" name="Text 35"/>
          <p:cNvSpPr txBox="1"/>
          <p:nvPr/>
        </p:nvSpPr>
        <p:spPr>
          <a:xfrm>
            <a:off x="4343400" y="5358384"/>
            <a:ext cx="2011680" cy="475488"/>
          </a:xfrm>
          <a:prstGeom prst="rect">
            <a:avLst/>
          </a:prstGeom>
          <a:noFill/>
          <a:ln/>
        </p:spPr>
        <p:txBody>
          <a:bodyPr wrap="square" lIns="0" tIns="0" rIns="0" bIns="0" rtlCol="0" anchor="t"/>
          <a:lstStyle/>
          <a:p>
            <a:pPr marL="0" indent="0" algn="l">
              <a:lnSpc>
                <a:spcPct val="108000"/>
              </a:lnSpc>
              <a:buNone/>
            </a:pPr>
            <a:r>
              <a:rPr lang="en-US" sz="950" dirty="0">
                <a:solidFill>
                  <a:srgbClr val="3F546B"/>
                </a:solidFill>
                <a:latin typeface="Calibri" pitchFamily="34" charset="0"/>
                <a:ea typeface="Calibri" pitchFamily="34" charset="-122"/>
                <a:cs typeface="Calibri" pitchFamily="34" charset="-120"/>
              </a:rPr>
              <a:t>Fences, JSON, tables</a:t>
            </a:r>
            <a:endParaRPr lang="en-US" sz="950" dirty="0"/>
          </a:p>
        </p:txBody>
      </p:sp>
      <p:sp>
        <p:nvSpPr>
          <p:cNvPr id="38" name="Shape 36"/>
          <p:cNvSpPr/>
          <p:nvPr/>
        </p:nvSpPr>
        <p:spPr>
          <a:xfrm>
            <a:off x="6510528" y="5458968"/>
            <a:ext cx="146304" cy="0"/>
          </a:xfrm>
          <a:prstGeom prst="line">
            <a:avLst/>
          </a:prstGeom>
          <a:noFill/>
          <a:ln w="15875">
            <a:solidFill>
              <a:srgbClr val="9AACBF"/>
            </a:solidFill>
            <a:prstDash val="solid"/>
            <a:tailEnd type="triangle"/>
          </a:ln>
        </p:spPr>
      </p:sp>
      <p:sp>
        <p:nvSpPr>
          <p:cNvPr id="39" name="Shape 37"/>
          <p:cNvSpPr/>
          <p:nvPr/>
        </p:nvSpPr>
        <p:spPr>
          <a:xfrm>
            <a:off x="6675120" y="5029200"/>
            <a:ext cx="2286000" cy="868680"/>
          </a:xfrm>
          <a:prstGeom prst="roundRect">
            <a:avLst>
              <a:gd name="adj" fmla="val 5263"/>
            </a:avLst>
          </a:prstGeom>
          <a:solidFill>
            <a:srgbClr val="FFFFFF"/>
          </a:solidFill>
          <a:ln w="9525">
            <a:solidFill>
              <a:srgbClr val="0E8A6A"/>
            </a:solidFill>
            <a:prstDash val="solid"/>
          </a:ln>
        </p:spPr>
      </p:sp>
      <p:sp>
        <p:nvSpPr>
          <p:cNvPr id="40" name="Text 38"/>
          <p:cNvSpPr txBox="1"/>
          <p:nvPr/>
        </p:nvSpPr>
        <p:spPr>
          <a:xfrm>
            <a:off x="6812280" y="5102352"/>
            <a:ext cx="457200" cy="237744"/>
          </a:xfrm>
          <a:prstGeom prst="rect">
            <a:avLst/>
          </a:prstGeom>
          <a:noFill/>
          <a:ln/>
        </p:spPr>
        <p:txBody>
          <a:bodyPr wrap="square" lIns="0" tIns="0" rIns="0" bIns="0" rtlCol="0" anchor="t"/>
          <a:lstStyle/>
          <a:p>
            <a:pPr marL="0" indent="0" algn="l">
              <a:lnSpc>
                <a:spcPct val="108000"/>
              </a:lnSpc>
              <a:buNone/>
            </a:pPr>
            <a:r>
              <a:rPr lang="en-US" sz="1150" b="1" dirty="0">
                <a:solidFill>
                  <a:srgbClr val="0E8A6A"/>
                </a:solidFill>
                <a:latin typeface="Courier New" pitchFamily="34" charset="0"/>
                <a:ea typeface="Courier New" pitchFamily="34" charset="-122"/>
                <a:cs typeface="Courier New" pitchFamily="34" charset="-120"/>
              </a:rPr>
              <a:t>T2</a:t>
            </a:r>
            <a:endParaRPr lang="en-US" sz="1150" dirty="0"/>
          </a:p>
        </p:txBody>
      </p:sp>
      <p:sp>
        <p:nvSpPr>
          <p:cNvPr id="41" name="Text 39"/>
          <p:cNvSpPr txBox="1"/>
          <p:nvPr/>
        </p:nvSpPr>
        <p:spPr>
          <a:xfrm>
            <a:off x="6812280" y="5358384"/>
            <a:ext cx="2011680" cy="475488"/>
          </a:xfrm>
          <a:prstGeom prst="rect">
            <a:avLst/>
          </a:prstGeom>
          <a:noFill/>
          <a:ln/>
        </p:spPr>
        <p:txBody>
          <a:bodyPr wrap="square" lIns="0" tIns="0" rIns="0" bIns="0" rtlCol="0" anchor="t"/>
          <a:lstStyle/>
          <a:p>
            <a:pPr marL="0" indent="0" algn="l">
              <a:lnSpc>
                <a:spcPct val="108000"/>
              </a:lnSpc>
              <a:buNone/>
            </a:pPr>
            <a:r>
              <a:rPr lang="en-US" sz="950" dirty="0">
                <a:solidFill>
                  <a:srgbClr val="3F546B"/>
                </a:solidFill>
                <a:latin typeface="Calibri" pitchFamily="34" charset="0"/>
                <a:ea typeface="Calibri" pitchFamily="34" charset="-122"/>
                <a:cs typeface="Calibri" pitchFamily="34" charset="-120"/>
              </a:rPr>
              <a:t>TODO, pass, code tronqué</a:t>
            </a:r>
            <a:endParaRPr lang="en-US" sz="950" dirty="0"/>
          </a:p>
        </p:txBody>
      </p:sp>
      <p:sp>
        <p:nvSpPr>
          <p:cNvPr id="42" name="Shape 40"/>
          <p:cNvSpPr/>
          <p:nvPr/>
        </p:nvSpPr>
        <p:spPr>
          <a:xfrm>
            <a:off x="8979408" y="5458968"/>
            <a:ext cx="146304" cy="0"/>
          </a:xfrm>
          <a:prstGeom prst="line">
            <a:avLst/>
          </a:prstGeom>
          <a:noFill/>
          <a:ln w="15875">
            <a:solidFill>
              <a:srgbClr val="9AACBF"/>
            </a:solidFill>
            <a:prstDash val="solid"/>
            <a:tailEnd type="triangle"/>
          </a:ln>
        </p:spPr>
      </p:sp>
      <p:sp>
        <p:nvSpPr>
          <p:cNvPr id="43" name="Shape 41"/>
          <p:cNvSpPr/>
          <p:nvPr/>
        </p:nvSpPr>
        <p:spPr>
          <a:xfrm>
            <a:off x="9144000" y="5029200"/>
            <a:ext cx="2286000" cy="868680"/>
          </a:xfrm>
          <a:prstGeom prst="roundRect">
            <a:avLst>
              <a:gd name="adj" fmla="val 5263"/>
            </a:avLst>
          </a:prstGeom>
          <a:solidFill>
            <a:srgbClr val="FFFFFF"/>
          </a:solidFill>
          <a:ln w="9525">
            <a:solidFill>
              <a:srgbClr val="B07407"/>
            </a:solidFill>
            <a:prstDash val="solid"/>
          </a:ln>
        </p:spPr>
      </p:sp>
      <p:sp>
        <p:nvSpPr>
          <p:cNvPr id="44" name="Text 42"/>
          <p:cNvSpPr txBox="1"/>
          <p:nvPr/>
        </p:nvSpPr>
        <p:spPr>
          <a:xfrm>
            <a:off x="9281160" y="5102352"/>
            <a:ext cx="457200" cy="237744"/>
          </a:xfrm>
          <a:prstGeom prst="rect">
            <a:avLst/>
          </a:prstGeom>
          <a:noFill/>
          <a:ln/>
        </p:spPr>
        <p:txBody>
          <a:bodyPr wrap="square" lIns="0" tIns="0" rIns="0" bIns="0" rtlCol="0" anchor="t"/>
          <a:lstStyle/>
          <a:p>
            <a:pPr marL="0" indent="0" algn="l">
              <a:lnSpc>
                <a:spcPct val="108000"/>
              </a:lnSpc>
              <a:buNone/>
            </a:pPr>
            <a:r>
              <a:rPr lang="en-US" sz="1150" b="1" dirty="0">
                <a:solidFill>
                  <a:srgbClr val="B07407"/>
                </a:solidFill>
                <a:latin typeface="Courier New" pitchFamily="34" charset="0"/>
                <a:ea typeface="Courier New" pitchFamily="34" charset="-122"/>
                <a:cs typeface="Courier New" pitchFamily="34" charset="-120"/>
              </a:rPr>
              <a:t>T3</a:t>
            </a:r>
            <a:endParaRPr lang="en-US" sz="1150" dirty="0"/>
          </a:p>
        </p:txBody>
      </p:sp>
      <p:sp>
        <p:nvSpPr>
          <p:cNvPr id="45" name="Text 43"/>
          <p:cNvSpPr txBox="1"/>
          <p:nvPr/>
        </p:nvSpPr>
        <p:spPr>
          <a:xfrm>
            <a:off x="9281160" y="5358384"/>
            <a:ext cx="2011680" cy="475488"/>
          </a:xfrm>
          <a:prstGeom prst="rect">
            <a:avLst/>
          </a:prstGeom>
          <a:noFill/>
          <a:ln/>
        </p:spPr>
        <p:txBody>
          <a:bodyPr wrap="square" lIns="0" tIns="0" rIns="0" bIns="0" rtlCol="0" anchor="t"/>
          <a:lstStyle/>
          <a:p>
            <a:pPr marL="0" indent="0" algn="l">
              <a:lnSpc>
                <a:spcPct val="108000"/>
              </a:lnSpc>
              <a:buNone/>
            </a:pPr>
            <a:r>
              <a:rPr lang="en-US" sz="950" dirty="0">
                <a:solidFill>
                  <a:srgbClr val="3F546B"/>
                </a:solidFill>
                <a:latin typeface="Calibri" pitchFamily="34" charset="0"/>
                <a:ea typeface="Calibri" pitchFamily="34" charset="-122"/>
                <a:cs typeface="Calibri" pitchFamily="34" charset="-120"/>
              </a:rPr>
              <a:t>Juge Groq, note 1–10 — seulement si T1 ou T2 échoue</a:t>
            </a:r>
            <a:endParaRPr lang="en-US" sz="950" dirty="0"/>
          </a:p>
        </p:txBody>
      </p:sp>
      <p:sp>
        <p:nvSpPr>
          <p:cNvPr id="46" name="Text 44"/>
          <p:cNvSpPr txBox="1"/>
          <p:nvPr/>
        </p:nvSpPr>
        <p:spPr>
          <a:xfrm>
            <a:off x="566928" y="6291072"/>
            <a:ext cx="10424160" cy="292608"/>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Aucune régénération automatique : le score s’affiche, il ne corrige pas. C’est l’écart assumé avec SFD-04 — et le deuxième chantier de la suite.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11</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ORCHESTRATION</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Le bon modèle pour le bon type de tâche, pas le plus gros partout.</a:t>
            </a:r>
            <a:endParaRPr lang="en-US" sz="2700" dirty="0"/>
          </a:p>
        </p:txBody>
      </p:sp>
      <p:sp>
        <p:nvSpPr>
          <p:cNvPr id="5" name="Shape 3"/>
          <p:cNvSpPr/>
          <p:nvPr/>
        </p:nvSpPr>
        <p:spPr>
          <a:xfrm>
            <a:off x="548640" y="2048256"/>
            <a:ext cx="475488" cy="475488"/>
          </a:xfrm>
          <a:prstGeom prst="roundRect">
            <a:avLst>
              <a:gd name="adj" fmla="val 15385"/>
            </a:avLst>
          </a:prstGeom>
          <a:solidFill>
            <a:srgbClr val="F3F6FA"/>
          </a:solidFill>
          <a:ln w="9525">
            <a:solidFill>
              <a:srgbClr val="D8E1EC"/>
            </a:solidFill>
            <a:prstDash val="solid"/>
          </a:ln>
        </p:spPr>
      </p:sp>
      <p:sp>
        <p:nvSpPr>
          <p:cNvPr id="6" name="Text 4"/>
          <p:cNvSpPr txBox="1"/>
          <p:nvPr/>
        </p:nvSpPr>
        <p:spPr>
          <a:xfrm>
            <a:off x="594360" y="2048256"/>
            <a:ext cx="384048" cy="475488"/>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1</a:t>
            </a:r>
            <a:endParaRPr lang="en-US" sz="1100" dirty="0"/>
          </a:p>
        </p:txBody>
      </p:sp>
      <p:sp>
        <p:nvSpPr>
          <p:cNvPr id="7" name="Shape 5"/>
          <p:cNvSpPr/>
          <p:nvPr/>
        </p:nvSpPr>
        <p:spPr>
          <a:xfrm>
            <a:off x="1115568" y="2048256"/>
            <a:ext cx="475488" cy="475488"/>
          </a:xfrm>
          <a:prstGeom prst="roundRect">
            <a:avLst>
              <a:gd name="adj" fmla="val 15385"/>
            </a:avLst>
          </a:prstGeom>
          <a:solidFill>
            <a:srgbClr val="F3F6FA"/>
          </a:solidFill>
          <a:ln w="9525">
            <a:solidFill>
              <a:srgbClr val="D8E1EC"/>
            </a:solidFill>
            <a:prstDash val="solid"/>
          </a:ln>
        </p:spPr>
      </p:sp>
      <p:sp>
        <p:nvSpPr>
          <p:cNvPr id="8" name="Text 6"/>
          <p:cNvSpPr txBox="1"/>
          <p:nvPr/>
        </p:nvSpPr>
        <p:spPr>
          <a:xfrm>
            <a:off x="1161288" y="2048256"/>
            <a:ext cx="384048" cy="475488"/>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2</a:t>
            </a:r>
            <a:endParaRPr lang="en-US" sz="1100" dirty="0"/>
          </a:p>
        </p:txBody>
      </p:sp>
      <p:sp>
        <p:nvSpPr>
          <p:cNvPr id="9" name="Shape 7"/>
          <p:cNvSpPr/>
          <p:nvPr/>
        </p:nvSpPr>
        <p:spPr>
          <a:xfrm>
            <a:off x="1682496" y="2048256"/>
            <a:ext cx="475488" cy="475488"/>
          </a:xfrm>
          <a:prstGeom prst="roundRect">
            <a:avLst>
              <a:gd name="adj" fmla="val 15385"/>
            </a:avLst>
          </a:prstGeom>
          <a:solidFill>
            <a:srgbClr val="F3F6FA"/>
          </a:solidFill>
          <a:ln w="9525">
            <a:solidFill>
              <a:srgbClr val="D8E1EC"/>
            </a:solidFill>
            <a:prstDash val="solid"/>
          </a:ln>
        </p:spPr>
      </p:sp>
      <p:sp>
        <p:nvSpPr>
          <p:cNvPr id="10" name="Text 8"/>
          <p:cNvSpPr txBox="1"/>
          <p:nvPr/>
        </p:nvSpPr>
        <p:spPr>
          <a:xfrm>
            <a:off x="1728216" y="2048256"/>
            <a:ext cx="384048" cy="475488"/>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3</a:t>
            </a:r>
            <a:endParaRPr lang="en-US" sz="1100" dirty="0"/>
          </a:p>
        </p:txBody>
      </p:sp>
      <p:sp>
        <p:nvSpPr>
          <p:cNvPr id="11" name="Shape 9"/>
          <p:cNvSpPr/>
          <p:nvPr/>
        </p:nvSpPr>
        <p:spPr>
          <a:xfrm>
            <a:off x="2249424" y="2048256"/>
            <a:ext cx="475488" cy="475488"/>
          </a:xfrm>
          <a:prstGeom prst="roundRect">
            <a:avLst>
              <a:gd name="adj" fmla="val 15385"/>
            </a:avLst>
          </a:prstGeom>
          <a:solidFill>
            <a:srgbClr val="F3F6FA"/>
          </a:solidFill>
          <a:ln w="9525">
            <a:solidFill>
              <a:srgbClr val="D8E1EC"/>
            </a:solidFill>
            <a:prstDash val="solid"/>
          </a:ln>
        </p:spPr>
      </p:sp>
      <p:sp>
        <p:nvSpPr>
          <p:cNvPr id="12" name="Text 10"/>
          <p:cNvSpPr txBox="1"/>
          <p:nvPr/>
        </p:nvSpPr>
        <p:spPr>
          <a:xfrm>
            <a:off x="2295144" y="2048256"/>
            <a:ext cx="384048" cy="475488"/>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7</a:t>
            </a:r>
            <a:endParaRPr lang="en-US" sz="1100" dirty="0"/>
          </a:p>
        </p:txBody>
      </p:sp>
      <p:sp>
        <p:nvSpPr>
          <p:cNvPr id="13" name="Shape 11"/>
          <p:cNvSpPr/>
          <p:nvPr/>
        </p:nvSpPr>
        <p:spPr>
          <a:xfrm>
            <a:off x="2816352" y="2048256"/>
            <a:ext cx="475488" cy="475488"/>
          </a:xfrm>
          <a:prstGeom prst="roundRect">
            <a:avLst>
              <a:gd name="adj" fmla="val 15385"/>
            </a:avLst>
          </a:prstGeom>
          <a:solidFill>
            <a:srgbClr val="F3F6FA"/>
          </a:solidFill>
          <a:ln w="9525">
            <a:solidFill>
              <a:srgbClr val="D8E1EC"/>
            </a:solidFill>
            <a:prstDash val="solid"/>
          </a:ln>
        </p:spPr>
      </p:sp>
      <p:sp>
        <p:nvSpPr>
          <p:cNvPr id="14" name="Text 12"/>
          <p:cNvSpPr txBox="1"/>
          <p:nvPr/>
        </p:nvSpPr>
        <p:spPr>
          <a:xfrm>
            <a:off x="2862072" y="2048256"/>
            <a:ext cx="384048" cy="475488"/>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9</a:t>
            </a:r>
            <a:endParaRPr lang="en-US" sz="1100" dirty="0"/>
          </a:p>
        </p:txBody>
      </p:sp>
      <p:sp>
        <p:nvSpPr>
          <p:cNvPr id="15" name="Shape 13"/>
          <p:cNvSpPr/>
          <p:nvPr/>
        </p:nvSpPr>
        <p:spPr>
          <a:xfrm>
            <a:off x="3520440" y="2286000"/>
            <a:ext cx="457200" cy="0"/>
          </a:xfrm>
          <a:prstGeom prst="line">
            <a:avLst/>
          </a:prstGeom>
          <a:noFill/>
          <a:ln w="15875">
            <a:solidFill>
              <a:srgbClr val="0E8A6A"/>
            </a:solidFill>
            <a:prstDash val="solid"/>
            <a:tailEnd type="triangle"/>
          </a:ln>
        </p:spPr>
      </p:sp>
      <p:sp>
        <p:nvSpPr>
          <p:cNvPr id="16" name="Shape 14"/>
          <p:cNvSpPr/>
          <p:nvPr/>
        </p:nvSpPr>
        <p:spPr>
          <a:xfrm>
            <a:off x="4069080" y="1828800"/>
            <a:ext cx="3108960" cy="914400"/>
          </a:xfrm>
          <a:prstGeom prst="roundRect">
            <a:avLst>
              <a:gd name="adj" fmla="val 5000"/>
            </a:avLst>
          </a:prstGeom>
          <a:solidFill>
            <a:srgbClr val="FFFFFF"/>
          </a:solidFill>
          <a:ln w="9525">
            <a:solidFill>
              <a:srgbClr val="0E8A6A"/>
            </a:solidFill>
            <a:prstDash val="solid"/>
          </a:ln>
        </p:spPr>
      </p:sp>
      <p:sp>
        <p:nvSpPr>
          <p:cNvPr id="17" name="Text 15"/>
          <p:cNvSpPr txBox="1"/>
          <p:nvPr/>
        </p:nvSpPr>
        <p:spPr>
          <a:xfrm>
            <a:off x="4251960" y="1956816"/>
            <a:ext cx="2743200" cy="274320"/>
          </a:xfrm>
          <a:prstGeom prst="rect">
            <a:avLst/>
          </a:prstGeom>
          <a:noFill/>
          <a:ln/>
        </p:spPr>
        <p:txBody>
          <a:bodyPr wrap="square" lIns="0" tIns="0" rIns="0" bIns="0" rtlCol="0" anchor="t"/>
          <a:lstStyle/>
          <a:p>
            <a:pPr marL="0" indent="0" algn="l">
              <a:lnSpc>
                <a:spcPct val="108000"/>
              </a:lnSpc>
              <a:buNone/>
            </a:pPr>
            <a:r>
              <a:rPr lang="en-US" sz="1250" b="1" dirty="0">
                <a:solidFill>
                  <a:srgbClr val="0E8A6A"/>
                </a:solidFill>
                <a:latin typeface="Calibri" pitchFamily="34" charset="0"/>
                <a:ea typeface="Calibri" pitchFamily="34" charset="-122"/>
                <a:cs typeface="Calibri" pitchFamily="34" charset="-120"/>
              </a:rPr>
              <a:t>Gemini 3.6 Flash</a:t>
            </a:r>
            <a:endParaRPr lang="en-US" sz="1250" dirty="0"/>
          </a:p>
        </p:txBody>
      </p:sp>
      <p:sp>
        <p:nvSpPr>
          <p:cNvPr id="18" name="Text 16"/>
          <p:cNvSpPr txBox="1"/>
          <p:nvPr/>
        </p:nvSpPr>
        <p:spPr>
          <a:xfrm>
            <a:off x="4251960" y="2267712"/>
            <a:ext cx="2743200" cy="365760"/>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Défaut en mode Auto</a:t>
            </a:r>
            <a:endParaRPr lang="en-US" sz="950" dirty="0"/>
          </a:p>
        </p:txBody>
      </p:sp>
      <p:sp>
        <p:nvSpPr>
          <p:cNvPr id="19" name="Text 17"/>
          <p:cNvSpPr txBox="1"/>
          <p:nvPr/>
        </p:nvSpPr>
        <p:spPr>
          <a:xfrm>
            <a:off x="7360920" y="1993392"/>
            <a:ext cx="4206240" cy="64008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Specs, architecture, recette, production — les phases rédactionnelles.</a:t>
            </a:r>
            <a:endParaRPr lang="en-US" sz="1100" dirty="0"/>
          </a:p>
        </p:txBody>
      </p:sp>
      <p:sp>
        <p:nvSpPr>
          <p:cNvPr id="20" name="Shape 18"/>
          <p:cNvSpPr/>
          <p:nvPr/>
        </p:nvSpPr>
        <p:spPr>
          <a:xfrm>
            <a:off x="548640" y="3282696"/>
            <a:ext cx="475488" cy="475488"/>
          </a:xfrm>
          <a:prstGeom prst="roundRect">
            <a:avLst>
              <a:gd name="adj" fmla="val 15385"/>
            </a:avLst>
          </a:prstGeom>
          <a:solidFill>
            <a:srgbClr val="F3F6FA"/>
          </a:solidFill>
          <a:ln w="9525">
            <a:solidFill>
              <a:srgbClr val="D8E1EC"/>
            </a:solidFill>
            <a:prstDash val="solid"/>
          </a:ln>
        </p:spPr>
      </p:sp>
      <p:sp>
        <p:nvSpPr>
          <p:cNvPr id="21" name="Text 19"/>
          <p:cNvSpPr txBox="1"/>
          <p:nvPr/>
        </p:nvSpPr>
        <p:spPr>
          <a:xfrm>
            <a:off x="594360" y="3282696"/>
            <a:ext cx="384048" cy="475488"/>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4</a:t>
            </a:r>
            <a:endParaRPr lang="en-US" sz="1100" dirty="0"/>
          </a:p>
        </p:txBody>
      </p:sp>
      <p:sp>
        <p:nvSpPr>
          <p:cNvPr id="22" name="Shape 20"/>
          <p:cNvSpPr/>
          <p:nvPr/>
        </p:nvSpPr>
        <p:spPr>
          <a:xfrm>
            <a:off x="1115568" y="3282696"/>
            <a:ext cx="475488" cy="475488"/>
          </a:xfrm>
          <a:prstGeom prst="roundRect">
            <a:avLst>
              <a:gd name="adj" fmla="val 15385"/>
            </a:avLst>
          </a:prstGeom>
          <a:solidFill>
            <a:srgbClr val="F3F6FA"/>
          </a:solidFill>
          <a:ln w="9525">
            <a:solidFill>
              <a:srgbClr val="D8E1EC"/>
            </a:solidFill>
            <a:prstDash val="solid"/>
          </a:ln>
        </p:spPr>
      </p:sp>
      <p:sp>
        <p:nvSpPr>
          <p:cNvPr id="23" name="Text 21"/>
          <p:cNvSpPr txBox="1"/>
          <p:nvPr/>
        </p:nvSpPr>
        <p:spPr>
          <a:xfrm>
            <a:off x="1161288" y="3282696"/>
            <a:ext cx="384048" cy="475488"/>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6</a:t>
            </a:r>
            <a:endParaRPr lang="en-US" sz="1100" dirty="0"/>
          </a:p>
        </p:txBody>
      </p:sp>
      <p:sp>
        <p:nvSpPr>
          <p:cNvPr id="24" name="Shape 22"/>
          <p:cNvSpPr/>
          <p:nvPr/>
        </p:nvSpPr>
        <p:spPr>
          <a:xfrm>
            <a:off x="1682496" y="3282696"/>
            <a:ext cx="475488" cy="475488"/>
          </a:xfrm>
          <a:prstGeom prst="roundRect">
            <a:avLst>
              <a:gd name="adj" fmla="val 15385"/>
            </a:avLst>
          </a:prstGeom>
          <a:solidFill>
            <a:srgbClr val="F3F6FA"/>
          </a:solidFill>
          <a:ln w="9525">
            <a:solidFill>
              <a:srgbClr val="D8E1EC"/>
            </a:solidFill>
            <a:prstDash val="solid"/>
          </a:ln>
        </p:spPr>
      </p:sp>
      <p:sp>
        <p:nvSpPr>
          <p:cNvPr id="25" name="Text 23"/>
          <p:cNvSpPr txBox="1"/>
          <p:nvPr/>
        </p:nvSpPr>
        <p:spPr>
          <a:xfrm>
            <a:off x="1728216" y="3282696"/>
            <a:ext cx="384048" cy="475488"/>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8</a:t>
            </a:r>
            <a:endParaRPr lang="en-US" sz="1100" dirty="0"/>
          </a:p>
        </p:txBody>
      </p:sp>
      <p:sp>
        <p:nvSpPr>
          <p:cNvPr id="26" name="Shape 24"/>
          <p:cNvSpPr/>
          <p:nvPr/>
        </p:nvSpPr>
        <p:spPr>
          <a:xfrm>
            <a:off x="3520440" y="3520440"/>
            <a:ext cx="457200" cy="0"/>
          </a:xfrm>
          <a:prstGeom prst="line">
            <a:avLst/>
          </a:prstGeom>
          <a:noFill/>
          <a:ln w="15875">
            <a:solidFill>
              <a:srgbClr val="2B6CB0"/>
            </a:solidFill>
            <a:prstDash val="solid"/>
            <a:tailEnd type="triangle"/>
          </a:ln>
        </p:spPr>
      </p:sp>
      <p:sp>
        <p:nvSpPr>
          <p:cNvPr id="27" name="Shape 25"/>
          <p:cNvSpPr/>
          <p:nvPr/>
        </p:nvSpPr>
        <p:spPr>
          <a:xfrm>
            <a:off x="4069080" y="3063240"/>
            <a:ext cx="3108960" cy="914400"/>
          </a:xfrm>
          <a:prstGeom prst="roundRect">
            <a:avLst>
              <a:gd name="adj" fmla="val 5000"/>
            </a:avLst>
          </a:prstGeom>
          <a:solidFill>
            <a:srgbClr val="FFFFFF"/>
          </a:solidFill>
          <a:ln w="9525">
            <a:solidFill>
              <a:srgbClr val="2B6CB0"/>
            </a:solidFill>
            <a:prstDash val="solid"/>
          </a:ln>
        </p:spPr>
      </p:sp>
      <p:sp>
        <p:nvSpPr>
          <p:cNvPr id="28" name="Text 26"/>
          <p:cNvSpPr txBox="1"/>
          <p:nvPr/>
        </p:nvSpPr>
        <p:spPr>
          <a:xfrm>
            <a:off x="4251960" y="3191256"/>
            <a:ext cx="2743200" cy="274320"/>
          </a:xfrm>
          <a:prstGeom prst="rect">
            <a:avLst/>
          </a:prstGeom>
          <a:noFill/>
          <a:ln/>
        </p:spPr>
        <p:txBody>
          <a:bodyPr wrap="square" lIns="0" tIns="0" rIns="0" bIns="0" rtlCol="0" anchor="t"/>
          <a:lstStyle/>
          <a:p>
            <a:pPr marL="0" indent="0" algn="l">
              <a:lnSpc>
                <a:spcPct val="108000"/>
              </a:lnSpc>
              <a:buNone/>
            </a:pPr>
            <a:r>
              <a:rPr lang="en-US" sz="1250" b="1" dirty="0">
                <a:solidFill>
                  <a:srgbClr val="2B6CB0"/>
                </a:solidFill>
                <a:latin typeface="Calibri" pitchFamily="34" charset="0"/>
                <a:ea typeface="Calibri" pitchFamily="34" charset="-122"/>
                <a:cs typeface="Calibri" pitchFamily="34" charset="-120"/>
              </a:rPr>
              <a:t>Groq · gpt-oss-120b</a:t>
            </a:r>
            <a:endParaRPr lang="en-US" sz="1250" dirty="0"/>
          </a:p>
        </p:txBody>
      </p:sp>
      <p:sp>
        <p:nvSpPr>
          <p:cNvPr id="29" name="Text 27"/>
          <p:cNvSpPr txBox="1"/>
          <p:nvPr/>
        </p:nvSpPr>
        <p:spPr>
          <a:xfrm>
            <a:off x="4251960" y="3502152"/>
            <a:ext cx="2743200" cy="365760"/>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Défaut en mode Auto</a:t>
            </a:r>
            <a:endParaRPr lang="en-US" sz="950" dirty="0"/>
          </a:p>
        </p:txBody>
      </p:sp>
      <p:sp>
        <p:nvSpPr>
          <p:cNvPr id="30" name="Text 28"/>
          <p:cNvSpPr txBox="1"/>
          <p:nvPr/>
        </p:nvSpPr>
        <p:spPr>
          <a:xfrm>
            <a:off x="7360920" y="3227832"/>
            <a:ext cx="4206240" cy="64008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PO, QA, DevOps — les phases où la latence se voit. Sert aussi de juge T3.</a:t>
            </a:r>
            <a:endParaRPr lang="en-US" sz="1100" dirty="0"/>
          </a:p>
        </p:txBody>
      </p:sp>
      <p:sp>
        <p:nvSpPr>
          <p:cNvPr id="31" name="Shape 29"/>
          <p:cNvSpPr/>
          <p:nvPr/>
        </p:nvSpPr>
        <p:spPr>
          <a:xfrm>
            <a:off x="548640" y="4517136"/>
            <a:ext cx="475488" cy="475488"/>
          </a:xfrm>
          <a:prstGeom prst="roundRect">
            <a:avLst>
              <a:gd name="adj" fmla="val 15385"/>
            </a:avLst>
          </a:prstGeom>
          <a:solidFill>
            <a:srgbClr val="F3F6FA"/>
          </a:solidFill>
          <a:ln w="9525">
            <a:solidFill>
              <a:srgbClr val="D8E1EC"/>
            </a:solidFill>
            <a:prstDash val="solid"/>
          </a:ln>
        </p:spPr>
      </p:sp>
      <p:sp>
        <p:nvSpPr>
          <p:cNvPr id="32" name="Text 30"/>
          <p:cNvSpPr txBox="1"/>
          <p:nvPr/>
        </p:nvSpPr>
        <p:spPr>
          <a:xfrm>
            <a:off x="594360" y="4517136"/>
            <a:ext cx="384048" cy="475488"/>
          </a:xfrm>
          <a:prstGeom prst="rect">
            <a:avLst/>
          </a:prstGeom>
          <a:noFill/>
          <a:ln/>
        </p:spPr>
        <p:txBody>
          <a:bodyPr wrap="square" lIns="0" tIns="0" rIns="0" bIns="0" rtlCol="0" anchor="ctr"/>
          <a:lstStyle/>
          <a:p>
            <a:pPr marL="0" indent="0" algn="ctr">
              <a:lnSpc>
                <a:spcPct val="100000"/>
              </a:lnSpc>
              <a:buNone/>
            </a:pPr>
            <a:r>
              <a:rPr lang="en-US" sz="1100" b="1" dirty="0">
                <a:solidFill>
                  <a:srgbClr val="10243E"/>
                </a:solidFill>
                <a:latin typeface="Calibri" pitchFamily="34" charset="0"/>
                <a:ea typeface="Calibri" pitchFamily="34" charset="-122"/>
                <a:cs typeface="Calibri" pitchFamily="34" charset="-120"/>
              </a:rPr>
              <a:t>5</a:t>
            </a:r>
            <a:endParaRPr lang="en-US" sz="1100" dirty="0"/>
          </a:p>
        </p:txBody>
      </p:sp>
      <p:sp>
        <p:nvSpPr>
          <p:cNvPr id="33" name="Shape 31"/>
          <p:cNvSpPr/>
          <p:nvPr/>
        </p:nvSpPr>
        <p:spPr>
          <a:xfrm>
            <a:off x="3520440" y="4754880"/>
            <a:ext cx="457200" cy="0"/>
          </a:xfrm>
          <a:prstGeom prst="line">
            <a:avLst/>
          </a:prstGeom>
          <a:noFill/>
          <a:ln w="15875">
            <a:solidFill>
              <a:srgbClr val="B07407"/>
            </a:solidFill>
            <a:prstDash val="solid"/>
            <a:tailEnd type="triangle"/>
          </a:ln>
        </p:spPr>
      </p:sp>
      <p:sp>
        <p:nvSpPr>
          <p:cNvPr id="34" name="Shape 32"/>
          <p:cNvSpPr/>
          <p:nvPr/>
        </p:nvSpPr>
        <p:spPr>
          <a:xfrm>
            <a:off x="4069080" y="4297680"/>
            <a:ext cx="3108960" cy="914400"/>
          </a:xfrm>
          <a:prstGeom prst="roundRect">
            <a:avLst>
              <a:gd name="adj" fmla="val 5000"/>
            </a:avLst>
          </a:prstGeom>
          <a:solidFill>
            <a:srgbClr val="FFFFFF"/>
          </a:solidFill>
          <a:ln w="9525">
            <a:solidFill>
              <a:srgbClr val="B07407"/>
            </a:solidFill>
            <a:prstDash val="solid"/>
          </a:ln>
        </p:spPr>
      </p:sp>
      <p:sp>
        <p:nvSpPr>
          <p:cNvPr id="35" name="Text 33"/>
          <p:cNvSpPr txBox="1"/>
          <p:nvPr/>
        </p:nvSpPr>
        <p:spPr>
          <a:xfrm>
            <a:off x="4251960" y="4425696"/>
            <a:ext cx="2743200" cy="274320"/>
          </a:xfrm>
          <a:prstGeom prst="rect">
            <a:avLst/>
          </a:prstGeom>
          <a:noFill/>
          <a:ln/>
        </p:spPr>
        <p:txBody>
          <a:bodyPr wrap="square" lIns="0" tIns="0" rIns="0" bIns="0" rtlCol="0" anchor="t"/>
          <a:lstStyle/>
          <a:p>
            <a:pPr marL="0" indent="0" algn="l">
              <a:lnSpc>
                <a:spcPct val="108000"/>
              </a:lnSpc>
              <a:buNone/>
            </a:pPr>
            <a:r>
              <a:rPr lang="en-US" sz="1250" b="1" dirty="0">
                <a:solidFill>
                  <a:srgbClr val="B07407"/>
                </a:solidFill>
                <a:latin typeface="Calibri" pitchFamily="34" charset="0"/>
                <a:ea typeface="Calibri" pitchFamily="34" charset="-122"/>
                <a:cs typeface="Calibri" pitchFamily="34" charset="-120"/>
              </a:rPr>
              <a:t>Mistral Codestral</a:t>
            </a:r>
            <a:endParaRPr lang="en-US" sz="1250" dirty="0"/>
          </a:p>
        </p:txBody>
      </p:sp>
      <p:sp>
        <p:nvSpPr>
          <p:cNvPr id="36" name="Text 34"/>
          <p:cNvSpPr txBox="1"/>
          <p:nvPr/>
        </p:nvSpPr>
        <p:spPr>
          <a:xfrm>
            <a:off x="4251960" y="4736592"/>
            <a:ext cx="2743200" cy="365760"/>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Défaut en mode Auto</a:t>
            </a:r>
            <a:endParaRPr lang="en-US" sz="950" dirty="0"/>
          </a:p>
        </p:txBody>
      </p:sp>
      <p:sp>
        <p:nvSpPr>
          <p:cNvPr id="37" name="Text 35"/>
          <p:cNvSpPr txBox="1"/>
          <p:nvPr/>
        </p:nvSpPr>
        <p:spPr>
          <a:xfrm>
            <a:off x="7360920" y="4462272"/>
            <a:ext cx="4206240" cy="64008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Développement. Un modèle spécialisé code bat un généraliste sur du src/.</a:t>
            </a:r>
            <a:endParaRPr lang="en-US" sz="1100" dirty="0"/>
          </a:p>
        </p:txBody>
      </p:sp>
      <p:sp>
        <p:nvSpPr>
          <p:cNvPr id="38" name="Shape 36"/>
          <p:cNvSpPr/>
          <p:nvPr/>
        </p:nvSpPr>
        <p:spPr>
          <a:xfrm>
            <a:off x="548640" y="5486400"/>
            <a:ext cx="11064240" cy="658368"/>
          </a:xfrm>
          <a:prstGeom prst="roundRect">
            <a:avLst>
              <a:gd name="adj" fmla="val 6944"/>
            </a:avLst>
          </a:prstGeom>
          <a:solidFill>
            <a:srgbClr val="F3F6FA"/>
          </a:solidFill>
          <a:ln w="9525">
            <a:solidFill>
              <a:srgbClr val="D8E1EC"/>
            </a:solidFill>
            <a:prstDash val="solid"/>
          </a:ln>
        </p:spPr>
      </p:sp>
      <p:sp>
        <p:nvSpPr>
          <p:cNvPr id="39" name="Text 37"/>
          <p:cNvSpPr txBox="1"/>
          <p:nvPr/>
        </p:nvSpPr>
        <p:spPr>
          <a:xfrm>
            <a:off x="777240" y="5586984"/>
            <a:ext cx="2560320" cy="219456"/>
          </a:xfrm>
          <a:prstGeom prst="rect">
            <a:avLst/>
          </a:prstGeom>
          <a:noFill/>
          <a:ln/>
        </p:spPr>
        <p:txBody>
          <a:bodyPr wrap="square" lIns="0" tIns="0" rIns="0" bIns="0" rtlCol="0" anchor="t"/>
          <a:lstStyle/>
          <a:p>
            <a:pPr marL="0" indent="0" algn="l">
              <a:lnSpc>
                <a:spcPct val="108000"/>
              </a:lnSpc>
              <a:buNone/>
            </a:pPr>
            <a:r>
              <a:rPr lang="en-US" sz="1050" b="1" dirty="0">
                <a:solidFill>
                  <a:srgbClr val="10243E"/>
                </a:solidFill>
                <a:latin typeface="Calibri" pitchFamily="34" charset="0"/>
                <a:ea typeface="Calibri" pitchFamily="34" charset="-122"/>
                <a:cs typeface="Calibri" pitchFamily="34" charset="-120"/>
              </a:rPr>
              <a:t>Cerebras Llama 3.1 8B</a:t>
            </a:r>
            <a:endParaRPr lang="en-US" sz="1050" dirty="0"/>
          </a:p>
        </p:txBody>
      </p:sp>
      <p:sp>
        <p:nvSpPr>
          <p:cNvPr id="40" name="Text 38"/>
          <p:cNvSpPr txBox="1"/>
          <p:nvPr/>
        </p:nvSpPr>
        <p:spPr>
          <a:xfrm>
            <a:off x="777240" y="5815584"/>
            <a:ext cx="2560320" cy="219456"/>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Classifieur de sensibilité, &lt; 150 ms</a:t>
            </a:r>
            <a:endParaRPr lang="en-US" sz="950" dirty="0"/>
          </a:p>
        </p:txBody>
      </p:sp>
      <p:sp>
        <p:nvSpPr>
          <p:cNvPr id="41" name="Text 39"/>
          <p:cNvSpPr txBox="1"/>
          <p:nvPr/>
        </p:nvSpPr>
        <p:spPr>
          <a:xfrm>
            <a:off x="3520440" y="5586984"/>
            <a:ext cx="2560320" cy="219456"/>
          </a:xfrm>
          <a:prstGeom prst="rect">
            <a:avLst/>
          </a:prstGeom>
          <a:noFill/>
          <a:ln/>
        </p:spPr>
        <p:txBody>
          <a:bodyPr wrap="square" lIns="0" tIns="0" rIns="0" bIns="0" rtlCol="0" anchor="t"/>
          <a:lstStyle/>
          <a:p>
            <a:pPr marL="0" indent="0" algn="l">
              <a:lnSpc>
                <a:spcPct val="108000"/>
              </a:lnSpc>
              <a:buNone/>
            </a:pPr>
            <a:r>
              <a:rPr lang="en-US" sz="1050" b="1" dirty="0">
                <a:solidFill>
                  <a:srgbClr val="10243E"/>
                </a:solidFill>
                <a:latin typeface="Calibri" pitchFamily="34" charset="0"/>
                <a:ea typeface="Calibri" pitchFamily="34" charset="-122"/>
                <a:cs typeface="Calibri" pitchFamily="34" charset="-120"/>
              </a:rPr>
              <a:t>SambaNova Llama 3.3 70B</a:t>
            </a:r>
            <a:endParaRPr lang="en-US" sz="1050" dirty="0"/>
          </a:p>
        </p:txBody>
      </p:sp>
      <p:sp>
        <p:nvSpPr>
          <p:cNvPr id="42" name="Text 40"/>
          <p:cNvSpPr txBox="1"/>
          <p:nvPr/>
        </p:nvSpPr>
        <p:spPr>
          <a:xfrm>
            <a:off x="3520440" y="5815584"/>
            <a:ext cx="2560320" cy="219456"/>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Catalogue, disponible en override</a:t>
            </a:r>
            <a:endParaRPr lang="en-US" sz="950" dirty="0"/>
          </a:p>
        </p:txBody>
      </p:sp>
      <p:sp>
        <p:nvSpPr>
          <p:cNvPr id="43" name="Text 41"/>
          <p:cNvSpPr txBox="1"/>
          <p:nvPr/>
        </p:nvSpPr>
        <p:spPr>
          <a:xfrm>
            <a:off x="6263640" y="5586984"/>
            <a:ext cx="2560320" cy="219456"/>
          </a:xfrm>
          <a:prstGeom prst="rect">
            <a:avLst/>
          </a:prstGeom>
          <a:noFill/>
          <a:ln/>
        </p:spPr>
        <p:txBody>
          <a:bodyPr wrap="square" lIns="0" tIns="0" rIns="0" bIns="0" rtlCol="0" anchor="t"/>
          <a:lstStyle/>
          <a:p>
            <a:pPr marL="0" indent="0" algn="l">
              <a:lnSpc>
                <a:spcPct val="108000"/>
              </a:lnSpc>
              <a:buNone/>
            </a:pPr>
            <a:r>
              <a:rPr lang="en-US" sz="1050" b="1" dirty="0">
                <a:solidFill>
                  <a:srgbClr val="10243E"/>
                </a:solidFill>
                <a:latin typeface="Calibri" pitchFamily="34" charset="0"/>
                <a:ea typeface="Calibri" pitchFamily="34" charset="-122"/>
                <a:cs typeface="Calibri" pitchFamily="34" charset="-120"/>
              </a:rPr>
              <a:t>OpenRouter</a:t>
            </a:r>
            <a:endParaRPr lang="en-US" sz="1050" dirty="0"/>
          </a:p>
        </p:txBody>
      </p:sp>
      <p:sp>
        <p:nvSpPr>
          <p:cNvPr id="44" name="Text 42"/>
          <p:cNvSpPr txBox="1"/>
          <p:nvPr/>
        </p:nvSpPr>
        <p:spPr>
          <a:xfrm>
            <a:off x="6263640" y="5815584"/>
            <a:ext cx="2560320" cy="219456"/>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Fallback sur 404 / 429 / 502 / 503</a:t>
            </a:r>
            <a:endParaRPr lang="en-US" sz="950" dirty="0"/>
          </a:p>
        </p:txBody>
      </p:sp>
      <p:sp>
        <p:nvSpPr>
          <p:cNvPr id="45" name="Text 43"/>
          <p:cNvSpPr txBox="1"/>
          <p:nvPr/>
        </p:nvSpPr>
        <p:spPr>
          <a:xfrm>
            <a:off x="9006840" y="5586984"/>
            <a:ext cx="2560320" cy="219456"/>
          </a:xfrm>
          <a:prstGeom prst="rect">
            <a:avLst/>
          </a:prstGeom>
          <a:noFill/>
          <a:ln/>
        </p:spPr>
        <p:txBody>
          <a:bodyPr wrap="square" lIns="0" tIns="0" rIns="0" bIns="0" rtlCol="0" anchor="t"/>
          <a:lstStyle/>
          <a:p>
            <a:pPr marL="0" indent="0" algn="l">
              <a:lnSpc>
                <a:spcPct val="108000"/>
              </a:lnSpc>
              <a:buNone/>
            </a:pPr>
            <a:r>
              <a:rPr lang="en-US" sz="1050" b="1" dirty="0">
                <a:solidFill>
                  <a:srgbClr val="10243E"/>
                </a:solidFill>
                <a:latin typeface="Calibri" pitchFamily="34" charset="0"/>
                <a:ea typeface="Calibri" pitchFamily="34" charset="-122"/>
                <a:cs typeface="Calibri" pitchFamily="34" charset="-120"/>
              </a:rPr>
              <a:t>MockLocalLLMClient</a:t>
            </a:r>
            <a:endParaRPr lang="en-US" sz="1050" dirty="0"/>
          </a:p>
        </p:txBody>
      </p:sp>
      <p:sp>
        <p:nvSpPr>
          <p:cNvPr id="46" name="Text 44"/>
          <p:cNvSpPr txBox="1"/>
          <p:nvPr/>
        </p:nvSpPr>
        <p:spPr>
          <a:xfrm>
            <a:off x="9006840" y="5815584"/>
            <a:ext cx="2560320" cy="219456"/>
          </a:xfrm>
          <a:prstGeom prst="rect">
            <a:avLst/>
          </a:prstGeom>
          <a:noFill/>
          <a:ln/>
        </p:spPr>
        <p:txBody>
          <a:bodyPr wrap="square" lIns="0" tIns="0" rIns="0" bIns="0" rtlCol="0" anchor="t"/>
          <a:lstStyle/>
          <a:p>
            <a:pPr marL="0" indent="0" algn="l">
              <a:lnSpc>
                <a:spcPct val="108000"/>
              </a:lnSpc>
              <a:buNone/>
            </a:pPr>
            <a:r>
              <a:rPr lang="en-US" sz="950" dirty="0">
                <a:solidFill>
                  <a:srgbClr val="8697AB"/>
                </a:solidFill>
                <a:latin typeface="Calibri" pitchFamily="34" charset="0"/>
                <a:ea typeface="Calibri" pitchFamily="34" charset="-122"/>
                <a:cs typeface="Calibri" pitchFamily="34" charset="-120"/>
              </a:rPr>
              <a:t>Chemin confidentiel et repli 402</a:t>
            </a:r>
            <a:endParaRPr lang="en-US" sz="950" dirty="0"/>
          </a:p>
        </p:txBody>
      </p:sp>
      <p:sp>
        <p:nvSpPr>
          <p:cNvPr id="47" name="Text 45"/>
          <p:cNvSpPr txBox="1"/>
          <p:nvPr/>
        </p:nvSpPr>
        <p:spPr>
          <a:xfrm>
            <a:off x="566928" y="6291072"/>
            <a:ext cx="10424160" cy="292608"/>
          </a:xfrm>
          <a:prstGeom prst="rect">
            <a:avLst/>
          </a:prstGeom>
          <a:noFill/>
          <a:ln/>
        </p:spPr>
        <p:txBody>
          <a:bodyPr wrap="square" lIns="0" tIns="0" rIns="0" bIns="0" rtlCol="0" anchor="t"/>
          <a:lstStyle/>
          <a:p>
            <a:pPr marL="0" indent="0" algn="l">
              <a:lnSpc>
                <a:spcPct val="108000"/>
              </a:lnSpc>
              <a:buNone/>
            </a:pP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12</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INTERFACE</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Tout se décide dans le composer : la phase, la confidentialité, le modèle.</a:t>
            </a:r>
            <a:endParaRPr lang="en-US" sz="2700" dirty="0"/>
          </a:p>
        </p:txBody>
      </p:sp>
      <p:sp>
        <p:nvSpPr>
          <p:cNvPr id="5" name="Shape 3"/>
          <p:cNvSpPr/>
          <p:nvPr/>
        </p:nvSpPr>
        <p:spPr>
          <a:xfrm>
            <a:off x="996696" y="1627632"/>
            <a:ext cx="6419088" cy="4059936"/>
          </a:xfrm>
          <a:prstGeom prst="roundRect">
            <a:avLst>
              <a:gd name="adj" fmla="val 1126"/>
            </a:avLst>
          </a:prstGeom>
          <a:solidFill>
            <a:srgbClr val="F3F6FA"/>
          </a:solidFill>
          <a:ln w="9525">
            <a:solidFill>
              <a:srgbClr val="D8E1EC"/>
            </a:solidFill>
            <a:prstDash val="solid"/>
          </a:ln>
        </p:spPr>
      </p:sp>
      <p:pic>
        <p:nvPicPr>
          <p:cNvPr id="6" name="Image 0" descr="/home/claude/fuzyo/img/02-chat-empty.jpg"/>
          <p:cNvPicPr>
            <a:picLocks noChangeAspect="1"/>
          </p:cNvPicPr>
          <p:nvPr/>
        </p:nvPicPr>
        <p:blipFill>
          <a:blip r:embed="rId3"/>
          <a:stretch>
            <a:fillRect/>
          </a:stretch>
        </p:blipFill>
        <p:spPr>
          <a:xfrm>
            <a:off x="1060704" y="1691640"/>
            <a:ext cx="6291072" cy="3931920"/>
          </a:xfrm>
          <a:prstGeom prst="rect">
            <a:avLst/>
          </a:prstGeom>
        </p:spPr>
      </p:pic>
      <p:sp>
        <p:nvSpPr>
          <p:cNvPr id="7" name="Shape 4"/>
          <p:cNvSpPr/>
          <p:nvPr/>
        </p:nvSpPr>
        <p:spPr>
          <a:xfrm>
            <a:off x="8092440" y="1691640"/>
            <a:ext cx="3520440" cy="914400"/>
          </a:xfrm>
          <a:prstGeom prst="roundRect">
            <a:avLst>
              <a:gd name="adj" fmla="val 5000"/>
            </a:avLst>
          </a:prstGeom>
          <a:solidFill>
            <a:srgbClr val="F3F6FA"/>
          </a:solidFill>
          <a:ln w="9525">
            <a:solidFill>
              <a:srgbClr val="D8E1EC"/>
            </a:solidFill>
            <a:prstDash val="solid"/>
          </a:ln>
        </p:spPr>
      </p:sp>
      <p:sp>
        <p:nvSpPr>
          <p:cNvPr id="8" name="Text 5"/>
          <p:cNvSpPr txBox="1"/>
          <p:nvPr/>
        </p:nvSpPr>
        <p:spPr>
          <a:xfrm>
            <a:off x="8293608" y="1828800"/>
            <a:ext cx="3118104" cy="274320"/>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Sélecteur de phase</a:t>
            </a:r>
            <a:endParaRPr lang="en-US" sz="1150" dirty="0"/>
          </a:p>
        </p:txBody>
      </p:sp>
      <p:sp>
        <p:nvSpPr>
          <p:cNvPr id="9" name="Text 6"/>
          <p:cNvSpPr txBox="1"/>
          <p:nvPr/>
        </p:nvSpPr>
        <p:spPr>
          <a:xfrm>
            <a:off x="8293608" y="2167128"/>
            <a:ext cx="3118104" cy="310896"/>
          </a:xfrm>
          <a:prstGeom prst="rect">
            <a:avLst/>
          </a:prstGeom>
          <a:noFill/>
          <a:ln/>
        </p:spPr>
        <p:txBody>
          <a:bodyPr wrap="square" lIns="0" tIns="0" rIns="0" bIns="0" rtlCol="0" anchor="t"/>
          <a:lstStyle/>
          <a:p>
            <a:pPr marL="0" indent="0" algn="l">
              <a:lnSpc>
                <a:spcPct val="112000"/>
              </a:lnSpc>
              <a:buNone/>
            </a:pPr>
            <a:r>
              <a:rPr lang="en-US" sz="1000" dirty="0">
                <a:solidFill>
                  <a:srgbClr val="3F546B"/>
                </a:solidFill>
                <a:latin typeface="Calibri" pitchFamily="34" charset="0"/>
                <a:ea typeface="Calibri" pitchFamily="34" charset="-122"/>
                <a:cs typeface="Calibri" pitchFamily="34" charset="-120"/>
              </a:rPr>
              <a:t>1 à 9. Change le prompt système et le fournisseur par défaut.</a:t>
            </a:r>
            <a:endParaRPr lang="en-US" sz="1000" dirty="0"/>
          </a:p>
        </p:txBody>
      </p:sp>
      <p:sp>
        <p:nvSpPr>
          <p:cNvPr id="10" name="Shape 7"/>
          <p:cNvSpPr/>
          <p:nvPr/>
        </p:nvSpPr>
        <p:spPr>
          <a:xfrm>
            <a:off x="8092440" y="2715768"/>
            <a:ext cx="3520440" cy="914400"/>
          </a:xfrm>
          <a:prstGeom prst="roundRect">
            <a:avLst>
              <a:gd name="adj" fmla="val 5000"/>
            </a:avLst>
          </a:prstGeom>
          <a:solidFill>
            <a:srgbClr val="F3F6FA"/>
          </a:solidFill>
          <a:ln w="9525">
            <a:solidFill>
              <a:srgbClr val="D8E1EC"/>
            </a:solidFill>
            <a:prstDash val="solid"/>
          </a:ln>
        </p:spPr>
      </p:sp>
      <p:sp>
        <p:nvSpPr>
          <p:cNvPr id="11" name="Text 8"/>
          <p:cNvSpPr txBox="1"/>
          <p:nvPr/>
        </p:nvSpPr>
        <p:spPr>
          <a:xfrm>
            <a:off x="8293608" y="2852928"/>
            <a:ext cx="3118104" cy="274320"/>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Bascule Confidential</a:t>
            </a:r>
            <a:endParaRPr lang="en-US" sz="1150" dirty="0"/>
          </a:p>
        </p:txBody>
      </p:sp>
      <p:sp>
        <p:nvSpPr>
          <p:cNvPr id="12" name="Text 9"/>
          <p:cNvSpPr txBox="1"/>
          <p:nvPr/>
        </p:nvSpPr>
        <p:spPr>
          <a:xfrm>
            <a:off x="8293608" y="3191256"/>
            <a:ext cx="3118104" cy="310896"/>
          </a:xfrm>
          <a:prstGeom prst="rect">
            <a:avLst/>
          </a:prstGeom>
          <a:noFill/>
          <a:ln/>
        </p:spPr>
        <p:txBody>
          <a:bodyPr wrap="square" lIns="0" tIns="0" rIns="0" bIns="0" rtlCol="0" anchor="t"/>
          <a:lstStyle/>
          <a:p>
            <a:pPr marL="0" indent="0" algn="l">
              <a:lnSpc>
                <a:spcPct val="112000"/>
              </a:lnSpc>
              <a:buNone/>
            </a:pPr>
            <a:r>
              <a:rPr lang="en-US" sz="1000" dirty="0">
                <a:solidFill>
                  <a:srgbClr val="3F546B"/>
                </a:solidFill>
                <a:latin typeface="Calibri" pitchFamily="34" charset="0"/>
                <a:ea typeface="Calibri" pitchFamily="34" charset="-122"/>
                <a:cs typeface="Calibri" pitchFamily="34" charset="-120"/>
              </a:rPr>
              <a:t>Force le stub local, quelle que soit la sensibilité calculée.</a:t>
            </a:r>
            <a:endParaRPr lang="en-US" sz="1000" dirty="0"/>
          </a:p>
        </p:txBody>
      </p:sp>
      <p:sp>
        <p:nvSpPr>
          <p:cNvPr id="13" name="Shape 10"/>
          <p:cNvSpPr/>
          <p:nvPr/>
        </p:nvSpPr>
        <p:spPr>
          <a:xfrm>
            <a:off x="8092440" y="3739896"/>
            <a:ext cx="3520440" cy="914400"/>
          </a:xfrm>
          <a:prstGeom prst="roundRect">
            <a:avLst>
              <a:gd name="adj" fmla="val 5000"/>
            </a:avLst>
          </a:prstGeom>
          <a:solidFill>
            <a:srgbClr val="F3F6FA"/>
          </a:solidFill>
          <a:ln w="9525">
            <a:solidFill>
              <a:srgbClr val="D8E1EC"/>
            </a:solidFill>
            <a:prstDash val="solid"/>
          </a:ln>
        </p:spPr>
      </p:sp>
      <p:sp>
        <p:nvSpPr>
          <p:cNvPr id="14" name="Text 11"/>
          <p:cNvSpPr txBox="1"/>
          <p:nvPr/>
        </p:nvSpPr>
        <p:spPr>
          <a:xfrm>
            <a:off x="8293608" y="3877056"/>
            <a:ext cx="3118104" cy="274320"/>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Sélecteur de modèle</a:t>
            </a:r>
            <a:endParaRPr lang="en-US" sz="1150" dirty="0"/>
          </a:p>
        </p:txBody>
      </p:sp>
      <p:sp>
        <p:nvSpPr>
          <p:cNvPr id="15" name="Text 12"/>
          <p:cNvSpPr txBox="1"/>
          <p:nvPr/>
        </p:nvSpPr>
        <p:spPr>
          <a:xfrm>
            <a:off x="8293608" y="4215384"/>
            <a:ext cx="3118104" cy="310896"/>
          </a:xfrm>
          <a:prstGeom prst="rect">
            <a:avLst/>
          </a:prstGeom>
          <a:noFill/>
          <a:ln/>
        </p:spPr>
        <p:txBody>
          <a:bodyPr wrap="square" lIns="0" tIns="0" rIns="0" bIns="0" rtlCol="0" anchor="t"/>
          <a:lstStyle/>
          <a:p>
            <a:pPr marL="0" indent="0" algn="l">
              <a:lnSpc>
                <a:spcPct val="112000"/>
              </a:lnSpc>
              <a:buNone/>
            </a:pPr>
            <a:r>
              <a:rPr lang="en-US" sz="1000" dirty="0">
                <a:solidFill>
                  <a:srgbClr val="3F546B"/>
                </a:solidFill>
                <a:latin typeface="Calibri" pitchFamily="34" charset="0"/>
                <a:ea typeface="Calibri" pitchFamily="34" charset="-122"/>
                <a:cs typeface="Calibri" pitchFamily="34" charset="-120"/>
              </a:rPr>
              <a:t>Auto, ou override. Le catalogue est filtré par clé d’API présente.</a:t>
            </a:r>
            <a:endParaRPr lang="en-US" sz="1000" dirty="0"/>
          </a:p>
        </p:txBody>
      </p:sp>
      <p:sp>
        <p:nvSpPr>
          <p:cNvPr id="16" name="Shape 13"/>
          <p:cNvSpPr/>
          <p:nvPr/>
        </p:nvSpPr>
        <p:spPr>
          <a:xfrm>
            <a:off x="8092440" y="4764024"/>
            <a:ext cx="3520440" cy="914400"/>
          </a:xfrm>
          <a:prstGeom prst="roundRect">
            <a:avLst>
              <a:gd name="adj" fmla="val 5000"/>
            </a:avLst>
          </a:prstGeom>
          <a:solidFill>
            <a:srgbClr val="F3F6FA"/>
          </a:solidFill>
          <a:ln w="9525">
            <a:solidFill>
              <a:srgbClr val="D8E1EC"/>
            </a:solidFill>
            <a:prstDash val="solid"/>
          </a:ln>
        </p:spPr>
      </p:sp>
      <p:sp>
        <p:nvSpPr>
          <p:cNvPr id="17" name="Text 14"/>
          <p:cNvSpPr txBox="1"/>
          <p:nvPr/>
        </p:nvSpPr>
        <p:spPr>
          <a:xfrm>
            <a:off x="8293608" y="4901184"/>
            <a:ext cx="3118104" cy="274320"/>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Chat / Cowork</a:t>
            </a:r>
            <a:endParaRPr lang="en-US" sz="1150" dirty="0"/>
          </a:p>
        </p:txBody>
      </p:sp>
      <p:sp>
        <p:nvSpPr>
          <p:cNvPr id="18" name="Text 15"/>
          <p:cNvSpPr txBox="1"/>
          <p:nvPr/>
        </p:nvSpPr>
        <p:spPr>
          <a:xfrm>
            <a:off x="8293608" y="5239512"/>
            <a:ext cx="3118104" cy="310896"/>
          </a:xfrm>
          <a:prstGeom prst="rect">
            <a:avLst/>
          </a:prstGeom>
          <a:noFill/>
          <a:ln/>
        </p:spPr>
        <p:txBody>
          <a:bodyPr wrap="square" lIns="0" tIns="0" rIns="0" bIns="0" rtlCol="0" anchor="t"/>
          <a:lstStyle/>
          <a:p>
            <a:pPr marL="0" indent="0" algn="l">
              <a:lnSpc>
                <a:spcPct val="112000"/>
              </a:lnSpc>
              <a:buNone/>
            </a:pPr>
            <a:r>
              <a:rPr lang="en-US" sz="1000" dirty="0">
                <a:solidFill>
                  <a:srgbClr val="3F546B"/>
                </a:solidFill>
                <a:latin typeface="Calibri" pitchFamily="34" charset="0"/>
                <a:ea typeface="Calibri" pitchFamily="34" charset="-122"/>
                <a:cs typeface="Calibri" pitchFamily="34" charset="-120"/>
              </a:rPr>
              <a:t>Affiche les chips /plan, /analyze, /review, /debug — préfixe de prompt.</a:t>
            </a:r>
            <a:endParaRPr lang="en-US" sz="1000" dirty="0"/>
          </a:p>
        </p:txBody>
      </p:sp>
      <p:sp>
        <p:nvSpPr>
          <p:cNvPr id="19" name="Text 16"/>
          <p:cNvSpPr txBox="1"/>
          <p:nvPr/>
        </p:nvSpPr>
        <p:spPr>
          <a:xfrm>
            <a:off x="548640" y="5715000"/>
            <a:ext cx="7315200" cy="384048"/>
          </a:xfrm>
          <a:prstGeom prst="rect">
            <a:avLst/>
          </a:prstGeom>
          <a:noFill/>
          <a:ln/>
        </p:spPr>
        <p:txBody>
          <a:bodyPr wrap="square" lIns="0" tIns="0" rIns="0" bIns="0" rtlCol="0" anchor="t"/>
          <a:lstStyle/>
          <a:p>
            <a:pPr marL="0" indent="0" algn="l">
              <a:lnSpc>
                <a:spcPct val="105000"/>
              </a:lnSpc>
              <a:buNone/>
            </a:pPr>
            <a:r>
              <a:rPr lang="en-US" sz="1050" i="1" dirty="0">
                <a:solidFill>
                  <a:srgbClr val="8697AB"/>
                </a:solidFill>
                <a:latin typeface="Calibri" pitchFamily="34" charset="0"/>
                <a:ea typeface="Calibri" pitchFamily="34" charset="-122"/>
                <a:cs typeface="Calibri" pitchFamily="34" charset="-120"/>
              </a:rPr>
              <a:t>Sidebar projets et chats, fil de conversation, composer. Cinq vues commutées par un seul viewMode.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13</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TRAÇABILITÉ</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Chaque réponse dit d’où elle vient et ce qu’elle vaut.</a:t>
            </a:r>
            <a:endParaRPr lang="en-US" sz="2700" dirty="0"/>
          </a:p>
        </p:txBody>
      </p:sp>
      <p:sp>
        <p:nvSpPr>
          <p:cNvPr id="5" name="Shape 3"/>
          <p:cNvSpPr/>
          <p:nvPr/>
        </p:nvSpPr>
        <p:spPr>
          <a:xfrm>
            <a:off x="996696" y="1627632"/>
            <a:ext cx="6419088" cy="4059936"/>
          </a:xfrm>
          <a:prstGeom prst="roundRect">
            <a:avLst>
              <a:gd name="adj" fmla="val 1126"/>
            </a:avLst>
          </a:prstGeom>
          <a:solidFill>
            <a:srgbClr val="F3F6FA"/>
          </a:solidFill>
          <a:ln w="9525">
            <a:solidFill>
              <a:srgbClr val="D8E1EC"/>
            </a:solidFill>
            <a:prstDash val="solid"/>
          </a:ln>
        </p:spPr>
      </p:sp>
      <p:pic>
        <p:nvPicPr>
          <p:cNvPr id="6" name="Image 0" descr="/home/claude/fuzyo/img/03-chat-inspector.jpg"/>
          <p:cNvPicPr>
            <a:picLocks noChangeAspect="1"/>
          </p:cNvPicPr>
          <p:nvPr/>
        </p:nvPicPr>
        <p:blipFill>
          <a:blip r:embed="rId3"/>
          <a:stretch>
            <a:fillRect/>
          </a:stretch>
        </p:blipFill>
        <p:spPr>
          <a:xfrm>
            <a:off x="1060704" y="1691640"/>
            <a:ext cx="6291072" cy="3931920"/>
          </a:xfrm>
          <a:prstGeom prst="rect">
            <a:avLst/>
          </a:prstGeom>
        </p:spPr>
      </p:pic>
      <p:sp>
        <p:nvSpPr>
          <p:cNvPr id="7" name="Shape 4"/>
          <p:cNvSpPr/>
          <p:nvPr/>
        </p:nvSpPr>
        <p:spPr>
          <a:xfrm>
            <a:off x="8092440" y="1691640"/>
            <a:ext cx="3520440" cy="2880360"/>
          </a:xfrm>
          <a:prstGeom prst="roundRect">
            <a:avLst>
              <a:gd name="adj" fmla="val 1587"/>
            </a:avLst>
          </a:prstGeom>
          <a:solidFill>
            <a:srgbClr val="F3F6FA"/>
          </a:solidFill>
          <a:ln w="9525">
            <a:solidFill>
              <a:srgbClr val="D8E1EC"/>
            </a:solidFill>
            <a:prstDash val="solid"/>
          </a:ln>
        </p:spPr>
      </p:sp>
      <p:sp>
        <p:nvSpPr>
          <p:cNvPr id="8" name="Text 5"/>
          <p:cNvSpPr txBox="1"/>
          <p:nvPr/>
        </p:nvSpPr>
        <p:spPr>
          <a:xfrm>
            <a:off x="8293608" y="1856232"/>
            <a:ext cx="3108960" cy="274320"/>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Lecture de cette réponse</a:t>
            </a:r>
            <a:endParaRPr lang="en-US" sz="1300" dirty="0"/>
          </a:p>
        </p:txBody>
      </p:sp>
      <p:sp>
        <p:nvSpPr>
          <p:cNvPr id="9" name="Text 6"/>
          <p:cNvSpPr txBox="1"/>
          <p:nvPr/>
        </p:nvSpPr>
        <p:spPr>
          <a:xfrm>
            <a:off x="8293608" y="2240280"/>
            <a:ext cx="3108960" cy="201168"/>
          </a:xfrm>
          <a:prstGeom prst="rect">
            <a:avLst/>
          </a:prstGeom>
          <a:noFill/>
          <a:ln/>
        </p:spPr>
        <p:txBody>
          <a:bodyPr wrap="square" lIns="0" tIns="0" rIns="0" bIns="0" rtlCol="0" anchor="t"/>
          <a:lstStyle/>
          <a:p>
            <a:pPr marL="0" indent="0" algn="l">
              <a:lnSpc>
                <a:spcPct val="108000"/>
              </a:lnSpc>
              <a:buNone/>
            </a:pPr>
            <a:r>
              <a:rPr lang="en-US" sz="1000" b="1" dirty="0">
                <a:solidFill>
                  <a:srgbClr val="0E8A6A"/>
                </a:solidFill>
                <a:latin typeface="Calibri" pitchFamily="34" charset="0"/>
                <a:ea typeface="Calibri" pitchFamily="34" charset="-122"/>
                <a:cs typeface="Calibri" pitchFamily="34" charset="-120"/>
              </a:rPr>
              <a:t>Routage</a:t>
            </a:r>
            <a:endParaRPr lang="en-US" sz="1000" dirty="0"/>
          </a:p>
        </p:txBody>
      </p:sp>
      <p:sp>
        <p:nvSpPr>
          <p:cNvPr id="10" name="Text 7"/>
          <p:cNvSpPr txBox="1"/>
          <p:nvPr/>
        </p:nvSpPr>
        <p:spPr>
          <a:xfrm>
            <a:off x="8293608" y="2432304"/>
            <a:ext cx="3108960" cy="237744"/>
          </a:xfrm>
          <a:prstGeom prst="rect">
            <a:avLst/>
          </a:prstGeom>
          <a:noFill/>
          <a:ln/>
        </p:spPr>
        <p:txBody>
          <a:bodyPr wrap="square" lIns="0" tIns="0" rIns="0" bIns="0" rtlCol="0" anchor="t"/>
          <a:lstStyle/>
          <a:p>
            <a:pPr marL="0" indent="0" algn="l">
              <a:lnSpc>
                <a:spcPct val="108000"/>
              </a:lnSpc>
              <a:buNone/>
            </a:pPr>
            <a:r>
              <a:rPr lang="en-US" sz="1000" dirty="0">
                <a:solidFill>
                  <a:srgbClr val="3F546B"/>
                </a:solidFill>
                <a:latin typeface="Calibri" pitchFamily="34" charset="0"/>
                <a:ea typeface="Calibri" pitchFamily="34" charset="-122"/>
                <a:cs typeface="Calibri" pitchFamily="34" charset="-120"/>
              </a:rPr>
              <a:t>CLOUD_API · gemini · gemini-3.6-flash</a:t>
            </a:r>
            <a:endParaRPr lang="en-US" sz="1000" dirty="0"/>
          </a:p>
        </p:txBody>
      </p:sp>
      <p:sp>
        <p:nvSpPr>
          <p:cNvPr id="11" name="Text 8"/>
          <p:cNvSpPr txBox="1"/>
          <p:nvPr/>
        </p:nvSpPr>
        <p:spPr>
          <a:xfrm>
            <a:off x="8293608" y="2697480"/>
            <a:ext cx="3108960" cy="201168"/>
          </a:xfrm>
          <a:prstGeom prst="rect">
            <a:avLst/>
          </a:prstGeom>
          <a:noFill/>
          <a:ln/>
        </p:spPr>
        <p:txBody>
          <a:bodyPr wrap="square" lIns="0" tIns="0" rIns="0" bIns="0" rtlCol="0" anchor="t"/>
          <a:lstStyle/>
          <a:p>
            <a:pPr marL="0" indent="0" algn="l">
              <a:lnSpc>
                <a:spcPct val="108000"/>
              </a:lnSpc>
              <a:buNone/>
            </a:pPr>
            <a:r>
              <a:rPr lang="en-US" sz="1000" b="1" dirty="0">
                <a:solidFill>
                  <a:srgbClr val="0E8A6A"/>
                </a:solidFill>
                <a:latin typeface="Calibri" pitchFamily="34" charset="0"/>
                <a:ea typeface="Calibri" pitchFamily="34" charset="-122"/>
                <a:cs typeface="Calibri" pitchFamily="34" charset="-120"/>
              </a:rPr>
              <a:t>Sensibilité</a:t>
            </a:r>
            <a:endParaRPr lang="en-US" sz="1000" dirty="0"/>
          </a:p>
        </p:txBody>
      </p:sp>
      <p:sp>
        <p:nvSpPr>
          <p:cNvPr id="12" name="Text 9"/>
          <p:cNvSpPr txBox="1"/>
          <p:nvPr/>
        </p:nvSpPr>
        <p:spPr>
          <a:xfrm>
            <a:off x="8293608" y="2889504"/>
            <a:ext cx="3108960" cy="237744"/>
          </a:xfrm>
          <a:prstGeom prst="rect">
            <a:avLst/>
          </a:prstGeom>
          <a:noFill/>
          <a:ln/>
        </p:spPr>
        <p:txBody>
          <a:bodyPr wrap="square" lIns="0" tIns="0" rIns="0" bIns="0" rtlCol="0" anchor="t"/>
          <a:lstStyle/>
          <a:p>
            <a:pPr marL="0" indent="0" algn="l">
              <a:lnSpc>
                <a:spcPct val="108000"/>
              </a:lnSpc>
              <a:buNone/>
            </a:pPr>
            <a:r>
              <a:rPr lang="en-US" sz="1000" dirty="0">
                <a:solidFill>
                  <a:srgbClr val="3F546B"/>
                </a:solidFill>
                <a:latin typeface="Calibri" pitchFamily="34" charset="0"/>
                <a:ea typeface="Calibri" pitchFamily="34" charset="-122"/>
                <a:cs typeface="Calibri" pitchFamily="34" charset="-120"/>
              </a:rPr>
              <a:t>0,12 — aucun secret détecté</a:t>
            </a:r>
            <a:endParaRPr lang="en-US" sz="1000" dirty="0"/>
          </a:p>
        </p:txBody>
      </p:sp>
      <p:sp>
        <p:nvSpPr>
          <p:cNvPr id="13" name="Text 10"/>
          <p:cNvSpPr txBox="1"/>
          <p:nvPr/>
        </p:nvSpPr>
        <p:spPr>
          <a:xfrm>
            <a:off x="8293608" y="3154680"/>
            <a:ext cx="3108960" cy="201168"/>
          </a:xfrm>
          <a:prstGeom prst="rect">
            <a:avLst/>
          </a:prstGeom>
          <a:noFill/>
          <a:ln/>
        </p:spPr>
        <p:txBody>
          <a:bodyPr wrap="square" lIns="0" tIns="0" rIns="0" bIns="0" rtlCol="0" anchor="t"/>
          <a:lstStyle/>
          <a:p>
            <a:pPr marL="0" indent="0" algn="l">
              <a:lnSpc>
                <a:spcPct val="108000"/>
              </a:lnSpc>
              <a:buNone/>
            </a:pPr>
            <a:r>
              <a:rPr lang="en-US" sz="1000" b="1" dirty="0">
                <a:solidFill>
                  <a:srgbClr val="0E8A6A"/>
                </a:solidFill>
                <a:latin typeface="Calibri" pitchFamily="34" charset="0"/>
                <a:ea typeface="Calibri" pitchFamily="34" charset="-122"/>
                <a:cs typeface="Calibri" pitchFamily="34" charset="-120"/>
              </a:rPr>
              <a:t>RAG</a:t>
            </a:r>
            <a:endParaRPr lang="en-US" sz="1000" dirty="0"/>
          </a:p>
        </p:txBody>
      </p:sp>
      <p:sp>
        <p:nvSpPr>
          <p:cNvPr id="14" name="Text 11"/>
          <p:cNvSpPr txBox="1"/>
          <p:nvPr/>
        </p:nvSpPr>
        <p:spPr>
          <a:xfrm>
            <a:off x="8293608" y="3346704"/>
            <a:ext cx="3108960" cy="237744"/>
          </a:xfrm>
          <a:prstGeom prst="rect">
            <a:avLst/>
          </a:prstGeom>
          <a:noFill/>
          <a:ln/>
        </p:spPr>
        <p:txBody>
          <a:bodyPr wrap="square" lIns="0" tIns="0" rIns="0" bIns="0" rtlCol="0" anchor="t"/>
          <a:lstStyle/>
          <a:p>
            <a:pPr marL="0" indent="0" algn="l">
              <a:lnSpc>
                <a:spcPct val="108000"/>
              </a:lnSpc>
              <a:buNone/>
            </a:pPr>
            <a:r>
              <a:rPr lang="en-US" sz="1000" dirty="0">
                <a:solidFill>
                  <a:srgbClr val="3F546B"/>
                </a:solidFill>
                <a:latin typeface="Calibri" pitchFamily="34" charset="0"/>
                <a:ea typeface="Calibri" pitchFamily="34" charset="-122"/>
                <a:cs typeface="Calibri" pitchFamily="34" charset="-120"/>
              </a:rPr>
              <a:t>ok · 3 extraits retenus</a:t>
            </a:r>
            <a:endParaRPr lang="en-US" sz="1000" dirty="0"/>
          </a:p>
        </p:txBody>
      </p:sp>
      <p:sp>
        <p:nvSpPr>
          <p:cNvPr id="15" name="Text 12"/>
          <p:cNvSpPr txBox="1"/>
          <p:nvPr/>
        </p:nvSpPr>
        <p:spPr>
          <a:xfrm>
            <a:off x="8293608" y="3611880"/>
            <a:ext cx="3108960" cy="201168"/>
          </a:xfrm>
          <a:prstGeom prst="rect">
            <a:avLst/>
          </a:prstGeom>
          <a:noFill/>
          <a:ln/>
        </p:spPr>
        <p:txBody>
          <a:bodyPr wrap="square" lIns="0" tIns="0" rIns="0" bIns="0" rtlCol="0" anchor="t"/>
          <a:lstStyle/>
          <a:p>
            <a:pPr marL="0" indent="0" algn="l">
              <a:lnSpc>
                <a:spcPct val="108000"/>
              </a:lnSpc>
              <a:buNone/>
            </a:pPr>
            <a:r>
              <a:rPr lang="en-US" sz="1000" b="1" dirty="0">
                <a:solidFill>
                  <a:srgbClr val="0E8A6A"/>
                </a:solidFill>
                <a:latin typeface="Calibri" pitchFamily="34" charset="0"/>
                <a:ea typeface="Calibri" pitchFamily="34" charset="-122"/>
                <a:cs typeface="Calibri" pitchFamily="34" charset="-120"/>
              </a:rPr>
              <a:t>Qualité</a:t>
            </a:r>
            <a:endParaRPr lang="en-US" sz="1000" dirty="0"/>
          </a:p>
        </p:txBody>
      </p:sp>
      <p:sp>
        <p:nvSpPr>
          <p:cNvPr id="16" name="Text 13"/>
          <p:cNvSpPr txBox="1"/>
          <p:nvPr/>
        </p:nvSpPr>
        <p:spPr>
          <a:xfrm>
            <a:off x="8293608" y="3803904"/>
            <a:ext cx="3108960" cy="237744"/>
          </a:xfrm>
          <a:prstGeom prst="rect">
            <a:avLst/>
          </a:prstGeom>
          <a:noFill/>
          <a:ln/>
        </p:spPr>
        <p:txBody>
          <a:bodyPr wrap="square" lIns="0" tIns="0" rIns="0" bIns="0" rtlCol="0" anchor="t"/>
          <a:lstStyle/>
          <a:p>
            <a:pPr marL="0" indent="0" algn="l">
              <a:lnSpc>
                <a:spcPct val="108000"/>
              </a:lnSpc>
              <a:buNone/>
            </a:pPr>
            <a:r>
              <a:rPr lang="en-US" sz="1000" dirty="0">
                <a:solidFill>
                  <a:srgbClr val="3F546B"/>
                </a:solidFill>
                <a:latin typeface="Calibri" pitchFamily="34" charset="0"/>
                <a:ea typeface="Calibri" pitchFamily="34" charset="-122"/>
                <a:cs typeface="Calibri" pitchFamily="34" charset="-120"/>
              </a:rPr>
              <a:t>valide · T1 vrai · T2 vrai · T3 noté 9</a:t>
            </a:r>
            <a:endParaRPr lang="en-US" sz="1000" dirty="0"/>
          </a:p>
        </p:txBody>
      </p:sp>
      <p:sp>
        <p:nvSpPr>
          <p:cNvPr id="17" name="Text 14"/>
          <p:cNvSpPr txBox="1"/>
          <p:nvPr/>
        </p:nvSpPr>
        <p:spPr>
          <a:xfrm>
            <a:off x="8293608" y="4069080"/>
            <a:ext cx="3108960" cy="201168"/>
          </a:xfrm>
          <a:prstGeom prst="rect">
            <a:avLst/>
          </a:prstGeom>
          <a:noFill/>
          <a:ln/>
        </p:spPr>
        <p:txBody>
          <a:bodyPr wrap="square" lIns="0" tIns="0" rIns="0" bIns="0" rtlCol="0" anchor="t"/>
          <a:lstStyle/>
          <a:p>
            <a:pPr marL="0" indent="0" algn="l">
              <a:lnSpc>
                <a:spcPct val="108000"/>
              </a:lnSpc>
              <a:buNone/>
            </a:pPr>
            <a:r>
              <a:rPr lang="en-US" sz="1000" b="1" dirty="0">
                <a:solidFill>
                  <a:srgbClr val="0E8A6A"/>
                </a:solidFill>
                <a:latin typeface="Calibri" pitchFamily="34" charset="0"/>
                <a:ea typeface="Calibri" pitchFamily="34" charset="-122"/>
                <a:cs typeface="Calibri" pitchFamily="34" charset="-120"/>
              </a:rPr>
              <a:t>Stream</a:t>
            </a:r>
            <a:endParaRPr lang="en-US" sz="1000" dirty="0"/>
          </a:p>
        </p:txBody>
      </p:sp>
      <p:sp>
        <p:nvSpPr>
          <p:cNvPr id="18" name="Text 15"/>
          <p:cNvSpPr txBox="1"/>
          <p:nvPr/>
        </p:nvSpPr>
        <p:spPr>
          <a:xfrm>
            <a:off x="8293608" y="4261104"/>
            <a:ext cx="3108960" cy="237744"/>
          </a:xfrm>
          <a:prstGeom prst="rect">
            <a:avLst/>
          </a:prstGeom>
          <a:noFill/>
          <a:ln/>
        </p:spPr>
        <p:txBody>
          <a:bodyPr wrap="square" lIns="0" tIns="0" rIns="0" bIns="0" rtlCol="0" anchor="t"/>
          <a:lstStyle/>
          <a:p>
            <a:pPr marL="0" indent="0" algn="l">
              <a:lnSpc>
                <a:spcPct val="108000"/>
              </a:lnSpc>
              <a:buNone/>
            </a:pPr>
            <a:r>
              <a:rPr lang="en-US" sz="1000" dirty="0">
                <a:solidFill>
                  <a:srgbClr val="3F546B"/>
                </a:solidFill>
                <a:latin typeface="Calibri" pitchFamily="34" charset="0"/>
                <a:ea typeface="Calibri" pitchFamily="34" charset="-122"/>
                <a:cs typeface="Calibri" pitchFamily="34" charset="-120"/>
              </a:rPr>
              <a:t>7 jetons, latence affichée</a:t>
            </a:r>
            <a:endParaRPr lang="en-US" sz="1000" dirty="0"/>
          </a:p>
        </p:txBody>
      </p:sp>
      <p:sp>
        <p:nvSpPr>
          <p:cNvPr id="19" name="Shape 16"/>
          <p:cNvSpPr/>
          <p:nvPr/>
        </p:nvSpPr>
        <p:spPr>
          <a:xfrm>
            <a:off x="8092440" y="4709160"/>
            <a:ext cx="3520440" cy="914400"/>
          </a:xfrm>
          <a:prstGeom prst="roundRect">
            <a:avLst>
              <a:gd name="adj" fmla="val 5000"/>
            </a:avLst>
          </a:prstGeom>
          <a:solidFill>
            <a:srgbClr val="E8EEF6"/>
          </a:solidFill>
          <a:ln w="9525">
            <a:solidFill>
              <a:srgbClr val="D8E1EC"/>
            </a:solidFill>
            <a:prstDash val="solid"/>
          </a:ln>
        </p:spPr>
      </p:sp>
      <p:sp>
        <p:nvSpPr>
          <p:cNvPr id="20" name="Text 17"/>
          <p:cNvSpPr txBox="1"/>
          <p:nvPr/>
        </p:nvSpPr>
        <p:spPr>
          <a:xfrm>
            <a:off x="8293608" y="4846320"/>
            <a:ext cx="3118104" cy="274320"/>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L’argument devant une DSI</a:t>
            </a:r>
            <a:endParaRPr lang="en-US" sz="1150" dirty="0"/>
          </a:p>
        </p:txBody>
      </p:sp>
      <p:sp>
        <p:nvSpPr>
          <p:cNvPr id="21" name="Text 18"/>
          <p:cNvSpPr txBox="1"/>
          <p:nvPr/>
        </p:nvSpPr>
        <p:spPr>
          <a:xfrm>
            <a:off x="8293608" y="5184648"/>
            <a:ext cx="3118104" cy="310896"/>
          </a:xfrm>
          <a:prstGeom prst="rect">
            <a:avLst/>
          </a:prstGeom>
          <a:noFill/>
          <a:ln/>
        </p:spPr>
        <p:txBody>
          <a:bodyPr wrap="square" lIns="0" tIns="0" rIns="0" bIns="0" rtlCol="0" anchor="t"/>
          <a:lstStyle/>
          <a:p>
            <a:pPr marL="0" indent="0" algn="l">
              <a:lnSpc>
                <a:spcPct val="112000"/>
              </a:lnSpc>
              <a:buNone/>
            </a:pPr>
            <a:r>
              <a:rPr lang="en-US" sz="1050" dirty="0">
                <a:solidFill>
                  <a:srgbClr val="3F546B"/>
                </a:solidFill>
                <a:latin typeface="Calibri" pitchFamily="34" charset="0"/>
                <a:ea typeface="Calibri" pitchFamily="34" charset="-122"/>
                <a:cs typeface="Calibri" pitchFamily="34" charset="-120"/>
              </a:rPr>
              <a:t>On ne demande pas de faire confiance au modèle. On montre la décision.</a:t>
            </a:r>
            <a:endParaRPr lang="en-US" sz="1050" dirty="0"/>
          </a:p>
        </p:txBody>
      </p:sp>
      <p:sp>
        <p:nvSpPr>
          <p:cNvPr id="22" name="Text 19"/>
          <p:cNvSpPr txBox="1"/>
          <p:nvPr/>
        </p:nvSpPr>
        <p:spPr>
          <a:xfrm>
            <a:off x="548640" y="5715000"/>
            <a:ext cx="7315200" cy="384048"/>
          </a:xfrm>
          <a:prstGeom prst="rect">
            <a:avLst/>
          </a:prstGeom>
          <a:noFill/>
          <a:ln/>
        </p:spPr>
        <p:txBody>
          <a:bodyPr wrap="square" lIns="0" tIns="0" rIns="0" bIns="0" rtlCol="0" anchor="t"/>
          <a:lstStyle/>
          <a:p>
            <a:pPr marL="0" indent="0" algn="l">
              <a:lnSpc>
                <a:spcPct val="105000"/>
              </a:lnSpc>
              <a:buNone/>
            </a:pPr>
            <a:r>
              <a:rPr lang="en-US" sz="1050" i="1" dirty="0">
                <a:solidFill>
                  <a:srgbClr val="8697AB"/>
                </a:solidFill>
                <a:latin typeface="Calibri" pitchFamily="34" charset="0"/>
                <a:ea typeface="Calibri" pitchFamily="34" charset="-122"/>
                <a:cs typeface="Calibri" pitchFamily="34" charset="-120"/>
              </a:rPr>
              <a:t>Inspector : routage, RAG, les trois niveaux de qualité, compteur de jetons.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14</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PILOTAGE</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L’audit n’est pas déclaré, il est lu sur le disque.</a:t>
            </a:r>
            <a:endParaRPr lang="en-US" sz="2700" dirty="0"/>
          </a:p>
        </p:txBody>
      </p:sp>
      <p:sp>
        <p:nvSpPr>
          <p:cNvPr id="5" name="Shape 3"/>
          <p:cNvSpPr/>
          <p:nvPr/>
        </p:nvSpPr>
        <p:spPr>
          <a:xfrm>
            <a:off x="859536" y="1627632"/>
            <a:ext cx="6419088" cy="4059936"/>
          </a:xfrm>
          <a:prstGeom prst="roundRect">
            <a:avLst>
              <a:gd name="adj" fmla="val 1126"/>
            </a:avLst>
          </a:prstGeom>
          <a:solidFill>
            <a:srgbClr val="F3F6FA"/>
          </a:solidFill>
          <a:ln w="9525">
            <a:solidFill>
              <a:srgbClr val="D8E1EC"/>
            </a:solidFill>
            <a:prstDash val="solid"/>
          </a:ln>
        </p:spPr>
      </p:sp>
      <p:pic>
        <p:nvPicPr>
          <p:cNvPr id="6" name="Image 0" descr="/home/claude/fuzyo/img/05-dashboard.jpg"/>
          <p:cNvPicPr>
            <a:picLocks noChangeAspect="1"/>
          </p:cNvPicPr>
          <p:nvPr/>
        </p:nvPicPr>
        <p:blipFill>
          <a:blip r:embed="rId3"/>
          <a:stretch>
            <a:fillRect/>
          </a:stretch>
        </p:blipFill>
        <p:spPr>
          <a:xfrm>
            <a:off x="923544" y="1691640"/>
            <a:ext cx="6291072" cy="3931920"/>
          </a:xfrm>
          <a:prstGeom prst="rect">
            <a:avLst/>
          </a:prstGeom>
        </p:spPr>
      </p:pic>
      <p:sp>
        <p:nvSpPr>
          <p:cNvPr id="7" name="Shape 4"/>
          <p:cNvSpPr/>
          <p:nvPr/>
        </p:nvSpPr>
        <p:spPr>
          <a:xfrm>
            <a:off x="7863840" y="1691640"/>
            <a:ext cx="1783080" cy="1325880"/>
          </a:xfrm>
          <a:prstGeom prst="roundRect">
            <a:avLst>
              <a:gd name="adj" fmla="val 3448"/>
            </a:avLst>
          </a:prstGeom>
          <a:solidFill>
            <a:srgbClr val="F3F6FA"/>
          </a:solidFill>
          <a:ln w="9525">
            <a:solidFill>
              <a:srgbClr val="D8E1EC"/>
            </a:solidFill>
            <a:prstDash val="solid"/>
          </a:ln>
        </p:spPr>
      </p:sp>
      <p:sp>
        <p:nvSpPr>
          <p:cNvPr id="8" name="Text 5"/>
          <p:cNvSpPr txBox="1"/>
          <p:nvPr/>
        </p:nvSpPr>
        <p:spPr>
          <a:xfrm>
            <a:off x="7955280" y="1856232"/>
            <a:ext cx="1600200" cy="640080"/>
          </a:xfrm>
          <a:prstGeom prst="rect">
            <a:avLst/>
          </a:prstGeom>
          <a:noFill/>
          <a:ln/>
        </p:spPr>
        <p:txBody>
          <a:bodyPr wrap="square" lIns="0" tIns="0" rIns="0" bIns="0" rtlCol="0" anchor="t"/>
          <a:lstStyle/>
          <a:p>
            <a:pPr marL="0" indent="0" algn="ctr">
              <a:lnSpc>
                <a:spcPct val="108000"/>
              </a:lnSpc>
              <a:buNone/>
            </a:pPr>
            <a:r>
              <a:rPr lang="en-US" sz="2400" b="1" dirty="0">
                <a:solidFill>
                  <a:srgbClr val="0E8A6A"/>
                </a:solidFill>
                <a:latin typeface="Calibri" pitchFamily="34" charset="0"/>
                <a:ea typeface="Calibri" pitchFamily="34" charset="-122"/>
                <a:cs typeface="Calibri" pitchFamily="34" charset="-120"/>
              </a:rPr>
              <a:t>74 %</a:t>
            </a:r>
            <a:endParaRPr lang="en-US" sz="2400" dirty="0"/>
          </a:p>
        </p:txBody>
      </p:sp>
      <p:sp>
        <p:nvSpPr>
          <p:cNvPr id="9" name="Text 6"/>
          <p:cNvSpPr txBox="1"/>
          <p:nvPr/>
        </p:nvSpPr>
        <p:spPr>
          <a:xfrm>
            <a:off x="7973568" y="2532888"/>
            <a:ext cx="1563624" cy="411480"/>
          </a:xfrm>
          <a:prstGeom prst="rect">
            <a:avLst/>
          </a:prstGeom>
          <a:noFill/>
          <a:ln/>
        </p:spPr>
        <p:txBody>
          <a:bodyPr wrap="square" lIns="0" tIns="0" rIns="0" bIns="0" rtlCol="0" anchor="t"/>
          <a:lstStyle/>
          <a:p>
            <a:pPr marL="0" indent="0" algn="ctr">
              <a:lnSpc>
                <a:spcPct val="105000"/>
              </a:lnSpc>
              <a:buNone/>
            </a:pPr>
            <a:r>
              <a:rPr lang="en-US" sz="1050" dirty="0">
                <a:solidFill>
                  <a:srgbClr val="8697AB"/>
                </a:solidFill>
                <a:latin typeface="Calibri" pitchFamily="34" charset="0"/>
                <a:ea typeface="Calibri" pitchFamily="34" charset="-122"/>
                <a:cs typeface="Calibri" pitchFamily="34" charset="-120"/>
              </a:rPr>
              <a:t>santé de code</a:t>
            </a:r>
            <a:endParaRPr lang="en-US" sz="1050" dirty="0"/>
          </a:p>
        </p:txBody>
      </p:sp>
      <p:sp>
        <p:nvSpPr>
          <p:cNvPr id="10" name="Shape 7"/>
          <p:cNvSpPr/>
          <p:nvPr/>
        </p:nvSpPr>
        <p:spPr>
          <a:xfrm>
            <a:off x="9784080" y="1691640"/>
            <a:ext cx="1783080" cy="1325880"/>
          </a:xfrm>
          <a:prstGeom prst="roundRect">
            <a:avLst>
              <a:gd name="adj" fmla="val 3448"/>
            </a:avLst>
          </a:prstGeom>
          <a:solidFill>
            <a:srgbClr val="F3F6FA"/>
          </a:solidFill>
          <a:ln w="9525">
            <a:solidFill>
              <a:srgbClr val="D8E1EC"/>
            </a:solidFill>
            <a:prstDash val="solid"/>
          </a:ln>
        </p:spPr>
      </p:sp>
      <p:sp>
        <p:nvSpPr>
          <p:cNvPr id="11" name="Text 8"/>
          <p:cNvSpPr txBox="1"/>
          <p:nvPr/>
        </p:nvSpPr>
        <p:spPr>
          <a:xfrm>
            <a:off x="9875520" y="1856232"/>
            <a:ext cx="1600200" cy="640080"/>
          </a:xfrm>
          <a:prstGeom prst="rect">
            <a:avLst/>
          </a:prstGeom>
          <a:noFill/>
          <a:ln/>
        </p:spPr>
        <p:txBody>
          <a:bodyPr wrap="square" lIns="0" tIns="0" rIns="0" bIns="0" rtlCol="0" anchor="t"/>
          <a:lstStyle/>
          <a:p>
            <a:pPr marL="0" indent="0" algn="ctr">
              <a:lnSpc>
                <a:spcPct val="108000"/>
              </a:lnSpc>
              <a:buNone/>
            </a:pPr>
            <a:r>
              <a:rPr lang="en-US" sz="2400" b="1" dirty="0">
                <a:solidFill>
                  <a:srgbClr val="0E8A6A"/>
                </a:solidFill>
                <a:latin typeface="Calibri" pitchFamily="34" charset="0"/>
                <a:ea typeface="Calibri" pitchFamily="34" charset="-122"/>
                <a:cs typeface="Calibri" pitchFamily="34" charset="-120"/>
              </a:rPr>
              <a:t>61 %</a:t>
            </a:r>
            <a:endParaRPr lang="en-US" sz="2400" dirty="0"/>
          </a:p>
        </p:txBody>
      </p:sp>
      <p:sp>
        <p:nvSpPr>
          <p:cNvPr id="12" name="Text 9"/>
          <p:cNvSpPr txBox="1"/>
          <p:nvPr/>
        </p:nvSpPr>
        <p:spPr>
          <a:xfrm>
            <a:off x="9893808" y="2532888"/>
            <a:ext cx="1563624" cy="411480"/>
          </a:xfrm>
          <a:prstGeom prst="rect">
            <a:avLst/>
          </a:prstGeom>
          <a:noFill/>
          <a:ln/>
        </p:spPr>
        <p:txBody>
          <a:bodyPr wrap="square" lIns="0" tIns="0" rIns="0" bIns="0" rtlCol="0" anchor="t"/>
          <a:lstStyle/>
          <a:p>
            <a:pPr marL="0" indent="0" algn="ctr">
              <a:lnSpc>
                <a:spcPct val="105000"/>
              </a:lnSpc>
              <a:buNone/>
            </a:pPr>
            <a:r>
              <a:rPr lang="en-US" sz="1050" dirty="0">
                <a:solidFill>
                  <a:srgbClr val="8697AB"/>
                </a:solidFill>
                <a:latin typeface="Calibri" pitchFamily="34" charset="0"/>
                <a:ea typeface="Calibri" pitchFamily="34" charset="-122"/>
                <a:cs typeface="Calibri" pitchFamily="34" charset="-120"/>
              </a:rPr>
              <a:t>prêt pour l’audit</a:t>
            </a:r>
            <a:endParaRPr lang="en-US" sz="1050" dirty="0"/>
          </a:p>
        </p:txBody>
      </p:sp>
      <p:sp>
        <p:nvSpPr>
          <p:cNvPr id="13" name="Shape 10"/>
          <p:cNvSpPr/>
          <p:nvPr/>
        </p:nvSpPr>
        <p:spPr>
          <a:xfrm>
            <a:off x="7863840" y="3154680"/>
            <a:ext cx="1783080" cy="1325880"/>
          </a:xfrm>
          <a:prstGeom prst="roundRect">
            <a:avLst>
              <a:gd name="adj" fmla="val 3448"/>
            </a:avLst>
          </a:prstGeom>
          <a:solidFill>
            <a:srgbClr val="F3F6FA"/>
          </a:solidFill>
          <a:ln w="9525">
            <a:solidFill>
              <a:srgbClr val="D8E1EC"/>
            </a:solidFill>
            <a:prstDash val="solid"/>
          </a:ln>
        </p:spPr>
      </p:sp>
      <p:sp>
        <p:nvSpPr>
          <p:cNvPr id="14" name="Text 11"/>
          <p:cNvSpPr txBox="1"/>
          <p:nvPr/>
        </p:nvSpPr>
        <p:spPr>
          <a:xfrm>
            <a:off x="7955280" y="3319272"/>
            <a:ext cx="1600200" cy="640080"/>
          </a:xfrm>
          <a:prstGeom prst="rect">
            <a:avLst/>
          </a:prstGeom>
          <a:noFill/>
          <a:ln/>
        </p:spPr>
        <p:txBody>
          <a:bodyPr wrap="square" lIns="0" tIns="0" rIns="0" bIns="0" rtlCol="0" anchor="t"/>
          <a:lstStyle/>
          <a:p>
            <a:pPr marL="0" indent="0" algn="ctr">
              <a:lnSpc>
                <a:spcPct val="108000"/>
              </a:lnSpc>
              <a:buNone/>
            </a:pPr>
            <a:r>
              <a:rPr lang="en-US" sz="2400" b="1" dirty="0">
                <a:solidFill>
                  <a:srgbClr val="0E8A6A"/>
                </a:solidFill>
                <a:latin typeface="Calibri" pitchFamily="34" charset="0"/>
                <a:ea typeface="Calibri" pitchFamily="34" charset="-122"/>
                <a:cs typeface="Calibri" pitchFamily="34" charset="-120"/>
              </a:rPr>
              <a:t>186</a:t>
            </a:r>
            <a:endParaRPr lang="en-US" sz="2400" dirty="0"/>
          </a:p>
        </p:txBody>
      </p:sp>
      <p:sp>
        <p:nvSpPr>
          <p:cNvPr id="15" name="Text 12"/>
          <p:cNvSpPr txBox="1"/>
          <p:nvPr/>
        </p:nvSpPr>
        <p:spPr>
          <a:xfrm>
            <a:off x="7973568" y="3995928"/>
            <a:ext cx="1563624" cy="411480"/>
          </a:xfrm>
          <a:prstGeom prst="rect">
            <a:avLst/>
          </a:prstGeom>
          <a:noFill/>
          <a:ln/>
        </p:spPr>
        <p:txBody>
          <a:bodyPr wrap="square" lIns="0" tIns="0" rIns="0" bIns="0" rtlCol="0" anchor="t"/>
          <a:lstStyle/>
          <a:p>
            <a:pPr marL="0" indent="0" algn="ctr">
              <a:lnSpc>
                <a:spcPct val="105000"/>
              </a:lnSpc>
              <a:buNone/>
            </a:pPr>
            <a:r>
              <a:rPr lang="en-US" sz="1050" dirty="0">
                <a:solidFill>
                  <a:srgbClr val="8697AB"/>
                </a:solidFill>
                <a:latin typeface="Calibri" pitchFamily="34" charset="0"/>
                <a:ea typeface="Calibri" pitchFamily="34" charset="-122"/>
                <a:cs typeface="Calibri" pitchFamily="34" charset="-120"/>
              </a:rPr>
              <a:t>fichiers analysés</a:t>
            </a:r>
            <a:endParaRPr lang="en-US" sz="1050" dirty="0"/>
          </a:p>
        </p:txBody>
      </p:sp>
      <p:sp>
        <p:nvSpPr>
          <p:cNvPr id="16" name="Shape 13"/>
          <p:cNvSpPr/>
          <p:nvPr/>
        </p:nvSpPr>
        <p:spPr>
          <a:xfrm>
            <a:off x="9784080" y="3154680"/>
            <a:ext cx="1783080" cy="1325880"/>
          </a:xfrm>
          <a:prstGeom prst="roundRect">
            <a:avLst>
              <a:gd name="adj" fmla="val 3448"/>
            </a:avLst>
          </a:prstGeom>
          <a:solidFill>
            <a:srgbClr val="F3F6FA"/>
          </a:solidFill>
          <a:ln w="9525">
            <a:solidFill>
              <a:srgbClr val="D8E1EC"/>
            </a:solidFill>
            <a:prstDash val="solid"/>
          </a:ln>
        </p:spPr>
      </p:sp>
      <p:sp>
        <p:nvSpPr>
          <p:cNvPr id="17" name="Text 14"/>
          <p:cNvSpPr txBox="1"/>
          <p:nvPr/>
        </p:nvSpPr>
        <p:spPr>
          <a:xfrm>
            <a:off x="9875520" y="3319272"/>
            <a:ext cx="1600200" cy="640080"/>
          </a:xfrm>
          <a:prstGeom prst="rect">
            <a:avLst/>
          </a:prstGeom>
          <a:noFill/>
          <a:ln/>
        </p:spPr>
        <p:txBody>
          <a:bodyPr wrap="square" lIns="0" tIns="0" rIns="0" bIns="0" rtlCol="0" anchor="t"/>
          <a:lstStyle/>
          <a:p>
            <a:pPr marL="0" indent="0" algn="ctr">
              <a:lnSpc>
                <a:spcPct val="108000"/>
              </a:lnSpc>
              <a:buNone/>
            </a:pPr>
            <a:r>
              <a:rPr lang="en-US" sz="2400" b="1" dirty="0">
                <a:solidFill>
                  <a:srgbClr val="0E8A6A"/>
                </a:solidFill>
                <a:latin typeface="Calibri" pitchFamily="34" charset="0"/>
                <a:ea typeface="Calibri" pitchFamily="34" charset="-122"/>
                <a:cs typeface="Calibri" pitchFamily="34" charset="-120"/>
              </a:rPr>
              <a:t>6 / 24</a:t>
            </a:r>
            <a:endParaRPr lang="en-US" sz="2400" dirty="0"/>
          </a:p>
        </p:txBody>
      </p:sp>
      <p:sp>
        <p:nvSpPr>
          <p:cNvPr id="18" name="Text 15"/>
          <p:cNvSpPr txBox="1"/>
          <p:nvPr/>
        </p:nvSpPr>
        <p:spPr>
          <a:xfrm>
            <a:off x="9893808" y="3995928"/>
            <a:ext cx="1563624" cy="411480"/>
          </a:xfrm>
          <a:prstGeom prst="rect">
            <a:avLst/>
          </a:prstGeom>
          <a:noFill/>
          <a:ln/>
        </p:spPr>
        <p:txBody>
          <a:bodyPr wrap="square" lIns="0" tIns="0" rIns="0" bIns="0" rtlCol="0" anchor="t"/>
          <a:lstStyle/>
          <a:p>
            <a:pPr marL="0" indent="0" algn="ctr">
              <a:lnSpc>
                <a:spcPct val="105000"/>
              </a:lnSpc>
              <a:buNone/>
            </a:pPr>
            <a:r>
              <a:rPr lang="en-US" sz="1050" dirty="0">
                <a:solidFill>
                  <a:srgbClr val="8697AB"/>
                </a:solidFill>
                <a:latin typeface="Calibri" pitchFamily="34" charset="0"/>
                <a:ea typeface="Calibri" pitchFamily="34" charset="-122"/>
                <a:cs typeface="Calibri" pitchFamily="34" charset="-120"/>
              </a:rPr>
              <a:t>docs / vecteurs</a:t>
            </a:r>
            <a:endParaRPr lang="en-US" sz="1050" dirty="0"/>
          </a:p>
        </p:txBody>
      </p:sp>
      <p:sp>
        <p:nvSpPr>
          <p:cNvPr id="19" name="Shape 16"/>
          <p:cNvSpPr/>
          <p:nvPr/>
        </p:nvSpPr>
        <p:spPr>
          <a:xfrm>
            <a:off x="7863840" y="4709160"/>
            <a:ext cx="3703320" cy="914400"/>
          </a:xfrm>
          <a:prstGeom prst="roundRect">
            <a:avLst>
              <a:gd name="adj" fmla="val 5000"/>
            </a:avLst>
          </a:prstGeom>
          <a:solidFill>
            <a:srgbClr val="F3F6FA"/>
          </a:solidFill>
          <a:ln w="9525">
            <a:solidFill>
              <a:srgbClr val="D8E1EC"/>
            </a:solidFill>
            <a:prstDash val="solid"/>
          </a:ln>
        </p:spPr>
      </p:sp>
      <p:sp>
        <p:nvSpPr>
          <p:cNvPr id="20" name="Text 17"/>
          <p:cNvSpPr txBox="1"/>
          <p:nvPr/>
        </p:nvSpPr>
        <p:spPr>
          <a:xfrm>
            <a:off x="8065008" y="4846320"/>
            <a:ext cx="3300984" cy="274320"/>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Pourquoi c’est crédible</a:t>
            </a:r>
            <a:endParaRPr lang="en-US" sz="1150" dirty="0"/>
          </a:p>
        </p:txBody>
      </p:sp>
      <p:sp>
        <p:nvSpPr>
          <p:cNvPr id="21" name="Text 18"/>
          <p:cNvSpPr txBox="1"/>
          <p:nvPr/>
        </p:nvSpPr>
        <p:spPr>
          <a:xfrm>
            <a:off x="8065008" y="5184648"/>
            <a:ext cx="3300984" cy="310896"/>
          </a:xfrm>
          <a:prstGeom prst="rect">
            <a:avLst/>
          </a:prstGeom>
          <a:noFill/>
          <a:ln/>
        </p:spPr>
        <p:txBody>
          <a:bodyPr wrap="square" lIns="0" tIns="0" rIns="0" bIns="0" rtlCol="0" anchor="t"/>
          <a:lstStyle/>
          <a:p>
            <a:pPr marL="0" indent="0" algn="l">
              <a:lnSpc>
                <a:spcPct val="112000"/>
              </a:lnSpc>
              <a:buNone/>
            </a:pPr>
            <a:r>
              <a:rPr lang="en-US" sz="1050" dirty="0">
                <a:solidFill>
                  <a:srgbClr val="3F546B"/>
                </a:solidFill>
                <a:latin typeface="Calibri" pitchFamily="34" charset="0"/>
                <a:ea typeface="Calibri" pitchFamily="34" charset="-122"/>
                <a:cs typeface="Calibri" pitchFamily="34" charset="-120"/>
              </a:rPr>
              <a:t>Les pourcentages viennent des artefacts réellement présents dans docs/, src/, tests/. Personne ne les saisit à la main.</a:t>
            </a:r>
            <a:endParaRPr lang="en-US" sz="1050" dirty="0"/>
          </a:p>
        </p:txBody>
      </p:sp>
      <p:sp>
        <p:nvSpPr>
          <p:cNvPr id="22" name="Text 19"/>
          <p:cNvSpPr txBox="1"/>
          <p:nvPr/>
        </p:nvSpPr>
        <p:spPr>
          <a:xfrm>
            <a:off x="548640" y="5715000"/>
            <a:ext cx="7040880" cy="384048"/>
          </a:xfrm>
          <a:prstGeom prst="rect">
            <a:avLst/>
          </a:prstGeom>
          <a:noFill/>
          <a:ln/>
        </p:spPr>
        <p:txBody>
          <a:bodyPr wrap="square" lIns="0" tIns="0" rIns="0" bIns="0" rtlCol="0" anchor="t"/>
          <a:lstStyle/>
          <a:p>
            <a:pPr marL="0" indent="0" algn="l">
              <a:lnSpc>
                <a:spcPct val="105000"/>
              </a:lnSpc>
              <a:buNone/>
            </a:pPr>
            <a:r>
              <a:rPr lang="en-US" sz="1050" i="1" dirty="0">
                <a:solidFill>
                  <a:srgbClr val="8697AB"/>
                </a:solidFill>
                <a:latin typeface="Calibri" pitchFamily="34" charset="0"/>
                <a:ea typeface="Calibri" pitchFamily="34" charset="-122"/>
                <a:cs typeface="Calibri" pitchFamily="34" charset="-120"/>
              </a:rPr>
              <a:t>Command center : santé du code, phase active, base RAG, langages, graphe des neuf phases.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15</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CE QUE L’AUDIT MONTRE</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Sur l’instance de démo, la couverture s’effondre après la phase 3.</a:t>
            </a:r>
            <a:endParaRPr lang="en-US" sz="2700" dirty="0"/>
          </a:p>
        </p:txBody>
      </p:sp>
      <p:graphicFrame>
        <p:nvGraphicFramePr>
          <p:cNvPr id="5" name="Chart 0"/>
          <p:cNvGraphicFramePr/>
          <p:nvPr/>
        </p:nvGraphicFramePr>
        <p:xfrm>
          <a:off x="548640" y="1783080"/>
          <a:ext cx="69494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7772400" y="1783080"/>
          <a:ext cx="384048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48640" y="5166360"/>
            <a:ext cx="5440680" cy="1005840"/>
          </a:xfrm>
          <a:prstGeom prst="roundRect">
            <a:avLst>
              <a:gd name="adj" fmla="val 4545"/>
            </a:avLst>
          </a:prstGeom>
          <a:solidFill>
            <a:srgbClr val="F3F6FA"/>
          </a:solidFill>
          <a:ln w="9525">
            <a:solidFill>
              <a:srgbClr val="D8E1EC"/>
            </a:solidFill>
            <a:prstDash val="solid"/>
          </a:ln>
        </p:spPr>
      </p:sp>
      <p:sp>
        <p:nvSpPr>
          <p:cNvPr id="8" name="Text 4"/>
          <p:cNvSpPr txBox="1"/>
          <p:nvPr/>
        </p:nvSpPr>
        <p:spPr>
          <a:xfrm>
            <a:off x="749808" y="5303520"/>
            <a:ext cx="5038344" cy="274320"/>
          </a:xfrm>
          <a:prstGeom prst="rect">
            <a:avLst/>
          </a:prstGeom>
          <a:noFill/>
          <a:ln/>
        </p:spPr>
        <p:txBody>
          <a:bodyPr wrap="square" lIns="0" tIns="0" rIns="0" bIns="0" rtlCol="0" anchor="t"/>
          <a:lstStyle/>
          <a:p>
            <a:pPr marL="0" indent="0" algn="l">
              <a:lnSpc>
                <a:spcPct val="108000"/>
              </a:lnSpc>
              <a:buNone/>
            </a:pPr>
            <a:r>
              <a:rPr lang="en-US" sz="1250" b="1" dirty="0">
                <a:solidFill>
                  <a:srgbClr val="10243E"/>
                </a:solidFill>
                <a:latin typeface="Calibri" pitchFamily="34" charset="0"/>
                <a:ea typeface="Calibri" pitchFamily="34" charset="-122"/>
                <a:cs typeface="Calibri" pitchFamily="34" charset="-120"/>
              </a:rPr>
              <a:t>Ce que ça dit du produit</a:t>
            </a:r>
            <a:endParaRPr lang="en-US" sz="1250" dirty="0"/>
          </a:p>
        </p:txBody>
      </p:sp>
      <p:sp>
        <p:nvSpPr>
          <p:cNvPr id="9" name="Text 5"/>
          <p:cNvSpPr txBox="1"/>
          <p:nvPr/>
        </p:nvSpPr>
        <p:spPr>
          <a:xfrm>
            <a:off x="749808" y="5641848"/>
            <a:ext cx="5038344" cy="40233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L’assistant est le plus utile là où l’équipe s’arrête : recette, CI/CD, runbook. Les phases 7 à 9 sont à 0 % parce que personne ne les écrit avant la veille du déploiement.</a:t>
            </a:r>
            <a:endParaRPr lang="en-US" sz="1100" dirty="0"/>
          </a:p>
        </p:txBody>
      </p:sp>
      <p:sp>
        <p:nvSpPr>
          <p:cNvPr id="10" name="Shape 6"/>
          <p:cNvSpPr/>
          <p:nvPr/>
        </p:nvSpPr>
        <p:spPr>
          <a:xfrm>
            <a:off x="6172200" y="5166360"/>
            <a:ext cx="5440680" cy="1005840"/>
          </a:xfrm>
          <a:prstGeom prst="roundRect">
            <a:avLst>
              <a:gd name="adj" fmla="val 4545"/>
            </a:avLst>
          </a:prstGeom>
          <a:solidFill>
            <a:srgbClr val="FBF1DF"/>
          </a:solidFill>
          <a:ln w="9525">
            <a:solidFill>
              <a:srgbClr val="B07407"/>
            </a:solidFill>
            <a:prstDash val="solid"/>
          </a:ln>
        </p:spPr>
      </p:sp>
      <p:sp>
        <p:nvSpPr>
          <p:cNvPr id="11" name="Text 7"/>
          <p:cNvSpPr txBox="1"/>
          <p:nvPr/>
        </p:nvSpPr>
        <p:spPr>
          <a:xfrm>
            <a:off x="6373368" y="5303520"/>
            <a:ext cx="5038344" cy="274320"/>
          </a:xfrm>
          <a:prstGeom prst="rect">
            <a:avLst/>
          </a:prstGeom>
          <a:noFill/>
          <a:ln/>
        </p:spPr>
        <p:txBody>
          <a:bodyPr wrap="square" lIns="0" tIns="0" rIns="0" bIns="0" rtlCol="0" anchor="t"/>
          <a:lstStyle/>
          <a:p>
            <a:pPr marL="0" indent="0" algn="l">
              <a:lnSpc>
                <a:spcPct val="108000"/>
              </a:lnSpc>
              <a:buNone/>
            </a:pPr>
            <a:r>
              <a:rPr lang="en-US" sz="1250" b="1" dirty="0">
                <a:solidFill>
                  <a:srgbClr val="B07407"/>
                </a:solidFill>
                <a:latin typeface="Calibri" pitchFamily="34" charset="0"/>
                <a:ea typeface="Calibri" pitchFamily="34" charset="-122"/>
                <a:cs typeface="Calibri" pitchFamily="34" charset="-120"/>
              </a:rPr>
              <a:t>Ce que ça dit de la démo</a:t>
            </a:r>
            <a:endParaRPr lang="en-US" sz="1250" dirty="0"/>
          </a:p>
        </p:txBody>
      </p:sp>
      <p:sp>
        <p:nvSpPr>
          <p:cNvPr id="12" name="Text 8"/>
          <p:cNvSpPr txBox="1"/>
          <p:nvPr/>
        </p:nvSpPr>
        <p:spPr>
          <a:xfrm>
            <a:off x="6373368" y="5641848"/>
            <a:ext cx="5038344" cy="40233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Ces chiffres sont ceux de l’instance de démonstration, pas d’un projet client. À remplacer par un vrai dépôt avant toute présentation externe.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16</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DU GRAPHE AU LIVRABLE</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Un clic sur une phase, et tout ce qui la concerne est là.</a:t>
            </a:r>
            <a:endParaRPr lang="en-US" sz="2700" dirty="0"/>
          </a:p>
        </p:txBody>
      </p:sp>
      <p:sp>
        <p:nvSpPr>
          <p:cNvPr id="5" name="Shape 3"/>
          <p:cNvSpPr/>
          <p:nvPr/>
        </p:nvSpPr>
        <p:spPr>
          <a:xfrm>
            <a:off x="640080" y="1673352"/>
            <a:ext cx="5394960" cy="3419856"/>
          </a:xfrm>
          <a:prstGeom prst="roundRect">
            <a:avLst>
              <a:gd name="adj" fmla="val 1337"/>
            </a:avLst>
          </a:prstGeom>
          <a:solidFill>
            <a:srgbClr val="F3F6FA"/>
          </a:solidFill>
          <a:ln w="9525">
            <a:solidFill>
              <a:srgbClr val="D8E1EC"/>
            </a:solidFill>
            <a:prstDash val="solid"/>
          </a:ln>
        </p:spPr>
      </p:sp>
      <p:pic>
        <p:nvPicPr>
          <p:cNvPr id="6" name="Image 0" descr="/home/claude/fuzyo/img/06-phase-drawer.jpg"/>
          <p:cNvPicPr>
            <a:picLocks noChangeAspect="1"/>
          </p:cNvPicPr>
          <p:nvPr/>
        </p:nvPicPr>
        <p:blipFill>
          <a:blip r:embed="rId3"/>
          <a:stretch>
            <a:fillRect/>
          </a:stretch>
        </p:blipFill>
        <p:spPr>
          <a:xfrm>
            <a:off x="704088" y="1737360"/>
            <a:ext cx="5266944" cy="3291840"/>
          </a:xfrm>
          <a:prstGeom prst="rect">
            <a:avLst/>
          </a:prstGeom>
        </p:spPr>
      </p:pic>
      <p:sp>
        <p:nvSpPr>
          <p:cNvPr id="7" name="Shape 4"/>
          <p:cNvSpPr/>
          <p:nvPr/>
        </p:nvSpPr>
        <p:spPr>
          <a:xfrm>
            <a:off x="6400800" y="1737360"/>
            <a:ext cx="5212080" cy="749808"/>
          </a:xfrm>
          <a:prstGeom prst="roundRect">
            <a:avLst>
              <a:gd name="adj" fmla="val 6098"/>
            </a:avLst>
          </a:prstGeom>
          <a:solidFill>
            <a:srgbClr val="F3F6FA"/>
          </a:solidFill>
          <a:ln w="9525">
            <a:solidFill>
              <a:srgbClr val="D8E1EC"/>
            </a:solidFill>
            <a:prstDash val="solid"/>
          </a:ln>
        </p:spPr>
      </p:sp>
      <p:sp>
        <p:nvSpPr>
          <p:cNvPr id="8" name="Text 5"/>
          <p:cNvSpPr txBox="1"/>
          <p:nvPr/>
        </p:nvSpPr>
        <p:spPr>
          <a:xfrm>
            <a:off x="6601968" y="1819656"/>
            <a:ext cx="173736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Statut</a:t>
            </a:r>
            <a:endParaRPr lang="en-US" sz="1150" dirty="0"/>
          </a:p>
        </p:txBody>
      </p:sp>
      <p:sp>
        <p:nvSpPr>
          <p:cNvPr id="9" name="Text 6"/>
          <p:cNvSpPr txBox="1"/>
          <p:nvPr/>
        </p:nvSpPr>
        <p:spPr>
          <a:xfrm>
            <a:off x="6601968" y="2103120"/>
            <a:ext cx="4800600" cy="310896"/>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Completed · 92 % pour la phase 1</a:t>
            </a:r>
            <a:endParaRPr lang="en-US" sz="1000" dirty="0"/>
          </a:p>
        </p:txBody>
      </p:sp>
      <p:sp>
        <p:nvSpPr>
          <p:cNvPr id="10" name="Shape 7"/>
          <p:cNvSpPr/>
          <p:nvPr/>
        </p:nvSpPr>
        <p:spPr>
          <a:xfrm>
            <a:off x="6400800" y="2587752"/>
            <a:ext cx="5212080" cy="749808"/>
          </a:xfrm>
          <a:prstGeom prst="roundRect">
            <a:avLst>
              <a:gd name="adj" fmla="val 6098"/>
            </a:avLst>
          </a:prstGeom>
          <a:solidFill>
            <a:srgbClr val="F3F6FA"/>
          </a:solidFill>
          <a:ln w="9525">
            <a:solidFill>
              <a:srgbClr val="D8E1EC"/>
            </a:solidFill>
            <a:prstDash val="solid"/>
          </a:ln>
        </p:spPr>
      </p:sp>
      <p:sp>
        <p:nvSpPr>
          <p:cNvPr id="11" name="Text 8"/>
          <p:cNvSpPr txBox="1"/>
          <p:nvPr/>
        </p:nvSpPr>
        <p:spPr>
          <a:xfrm>
            <a:off x="6601968" y="2670048"/>
            <a:ext cx="173736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Livrables détectés</a:t>
            </a:r>
            <a:endParaRPr lang="en-US" sz="1150" dirty="0"/>
          </a:p>
        </p:txBody>
      </p:sp>
      <p:sp>
        <p:nvSpPr>
          <p:cNvPr id="12" name="Text 9"/>
          <p:cNvSpPr txBox="1"/>
          <p:nvPr/>
        </p:nvSpPr>
        <p:spPr>
          <a:xfrm>
            <a:off x="6601968" y="2953512"/>
            <a:ext cx="4800600" cy="310896"/>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docs/01_expression_besoin/CDC.md, lu sur le disque</a:t>
            </a:r>
            <a:endParaRPr lang="en-US" sz="1000" dirty="0"/>
          </a:p>
        </p:txBody>
      </p:sp>
      <p:sp>
        <p:nvSpPr>
          <p:cNvPr id="13" name="Shape 10"/>
          <p:cNvSpPr/>
          <p:nvPr/>
        </p:nvSpPr>
        <p:spPr>
          <a:xfrm>
            <a:off x="6400800" y="3438144"/>
            <a:ext cx="5212080" cy="749808"/>
          </a:xfrm>
          <a:prstGeom prst="roundRect">
            <a:avLst>
              <a:gd name="adj" fmla="val 6098"/>
            </a:avLst>
          </a:prstGeom>
          <a:solidFill>
            <a:srgbClr val="F3F6FA"/>
          </a:solidFill>
          <a:ln w="9525">
            <a:solidFill>
              <a:srgbClr val="D8E1EC"/>
            </a:solidFill>
            <a:prstDash val="solid"/>
          </a:ln>
        </p:spPr>
      </p:sp>
      <p:sp>
        <p:nvSpPr>
          <p:cNvPr id="14" name="Text 11"/>
          <p:cNvSpPr txBox="1"/>
          <p:nvPr/>
        </p:nvSpPr>
        <p:spPr>
          <a:xfrm>
            <a:off x="6601968" y="3520440"/>
            <a:ext cx="173736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Download .docx</a:t>
            </a:r>
            <a:endParaRPr lang="en-US" sz="1150" dirty="0"/>
          </a:p>
        </p:txBody>
      </p:sp>
      <p:sp>
        <p:nvSpPr>
          <p:cNvPr id="15" name="Text 12"/>
          <p:cNvSpPr txBox="1"/>
          <p:nvPr/>
        </p:nvSpPr>
        <p:spPr>
          <a:xfrm>
            <a:off x="6601968" y="3803904"/>
            <a:ext cx="4800600" cy="310896"/>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Export via deliverable_exporter — DOCX, ZIP, MD</a:t>
            </a:r>
            <a:endParaRPr lang="en-US" sz="1000" dirty="0"/>
          </a:p>
        </p:txBody>
      </p:sp>
      <p:sp>
        <p:nvSpPr>
          <p:cNvPr id="16" name="Shape 13"/>
          <p:cNvSpPr/>
          <p:nvPr/>
        </p:nvSpPr>
        <p:spPr>
          <a:xfrm>
            <a:off x="6400800" y="4288536"/>
            <a:ext cx="5212080" cy="749808"/>
          </a:xfrm>
          <a:prstGeom prst="roundRect">
            <a:avLst>
              <a:gd name="adj" fmla="val 6098"/>
            </a:avLst>
          </a:prstGeom>
          <a:solidFill>
            <a:srgbClr val="E6F4EF"/>
          </a:solidFill>
          <a:ln w="9525">
            <a:solidFill>
              <a:srgbClr val="0E8A6A"/>
            </a:solidFill>
            <a:prstDash val="solid"/>
          </a:ln>
        </p:spPr>
      </p:sp>
      <p:sp>
        <p:nvSpPr>
          <p:cNvPr id="17" name="Text 14"/>
          <p:cNvSpPr txBox="1"/>
          <p:nvPr/>
        </p:nvSpPr>
        <p:spPr>
          <a:xfrm>
            <a:off x="6601968" y="4370832"/>
            <a:ext cx="1737360" cy="256032"/>
          </a:xfrm>
          <a:prstGeom prst="rect">
            <a:avLst/>
          </a:prstGeom>
          <a:noFill/>
          <a:ln/>
        </p:spPr>
        <p:txBody>
          <a:bodyPr wrap="square" lIns="0" tIns="0" rIns="0" bIns="0" rtlCol="0" anchor="t"/>
          <a:lstStyle/>
          <a:p>
            <a:pPr marL="0" indent="0" algn="l">
              <a:lnSpc>
                <a:spcPct val="108000"/>
              </a:lnSpc>
              <a:buNone/>
            </a:pPr>
            <a:r>
              <a:rPr lang="en-US" sz="1150" b="1" dirty="0">
                <a:solidFill>
                  <a:srgbClr val="0E8A6A"/>
                </a:solidFill>
                <a:latin typeface="Calibri" pitchFamily="34" charset="0"/>
                <a:ea typeface="Calibri" pitchFamily="34" charset="-122"/>
                <a:cs typeface="Calibri" pitchFamily="34" charset="-120"/>
              </a:rPr>
              <a:t>Execute Phase</a:t>
            </a:r>
            <a:endParaRPr lang="en-US" sz="1150" dirty="0"/>
          </a:p>
        </p:txBody>
      </p:sp>
      <p:sp>
        <p:nvSpPr>
          <p:cNvPr id="18" name="Text 15"/>
          <p:cNvSpPr txBox="1"/>
          <p:nvPr/>
        </p:nvSpPr>
        <p:spPr>
          <a:xfrm>
            <a:off x="6601968" y="4654296"/>
            <a:ext cx="4800600" cy="310896"/>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Précharge le meta-prompt et fixe la phase</a:t>
            </a:r>
            <a:endParaRPr lang="en-US" sz="1000" dirty="0"/>
          </a:p>
        </p:txBody>
      </p:sp>
      <p:sp>
        <p:nvSpPr>
          <p:cNvPr id="19" name="Text 16"/>
          <p:cNvSpPr txBox="1"/>
          <p:nvPr/>
        </p:nvSpPr>
        <p:spPr>
          <a:xfrm>
            <a:off x="548640" y="5120640"/>
            <a:ext cx="5577840" cy="384048"/>
          </a:xfrm>
          <a:prstGeom prst="rect">
            <a:avLst/>
          </a:prstGeom>
          <a:noFill/>
          <a:ln/>
        </p:spPr>
        <p:txBody>
          <a:bodyPr wrap="square" lIns="0" tIns="0" rIns="0" bIns="0" rtlCol="0" anchor="t"/>
          <a:lstStyle/>
          <a:p>
            <a:pPr marL="0" indent="0" algn="l">
              <a:lnSpc>
                <a:spcPct val="105000"/>
              </a:lnSpc>
              <a:buNone/>
            </a:pPr>
            <a:r>
              <a:rPr lang="en-US" sz="1050" i="1" dirty="0">
                <a:solidFill>
                  <a:srgbClr val="8697AB"/>
                </a:solidFill>
                <a:latin typeface="Calibri" pitchFamily="34" charset="0"/>
                <a:ea typeface="Calibri" pitchFamily="34" charset="-122"/>
                <a:cs typeface="Calibri" pitchFamily="34" charset="-120"/>
              </a:rPr>
              <a:t>Tiroir de phase : statut, livrables, téléchargement, Execute Phase Assistant.</a:t>
            </a:r>
            <a:endParaRPr lang="en-US" sz="1050" dirty="0"/>
          </a:p>
        </p:txBody>
      </p:sp>
      <p:sp>
        <p:nvSpPr>
          <p:cNvPr id="20" name="Shape 17"/>
          <p:cNvSpPr/>
          <p:nvPr/>
        </p:nvSpPr>
        <p:spPr>
          <a:xfrm>
            <a:off x="6400800" y="5138928"/>
            <a:ext cx="5212080" cy="960120"/>
          </a:xfrm>
          <a:prstGeom prst="roundRect">
            <a:avLst>
              <a:gd name="adj" fmla="val 4762"/>
            </a:avLst>
          </a:prstGeom>
          <a:solidFill>
            <a:srgbClr val="E8EEF6"/>
          </a:solidFill>
          <a:ln w="9525">
            <a:solidFill>
              <a:srgbClr val="D8E1EC"/>
            </a:solidFill>
            <a:prstDash val="solid"/>
          </a:ln>
        </p:spPr>
      </p:sp>
      <p:sp>
        <p:nvSpPr>
          <p:cNvPr id="21" name="Text 18"/>
          <p:cNvSpPr txBox="1"/>
          <p:nvPr/>
        </p:nvSpPr>
        <p:spPr>
          <a:xfrm>
            <a:off x="6601968" y="5230368"/>
            <a:ext cx="4846320" cy="219456"/>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Le meta-prompt, en cinq blocs</a:t>
            </a:r>
            <a:endParaRPr lang="en-US" sz="1150" dirty="0"/>
          </a:p>
        </p:txBody>
      </p:sp>
      <p:sp>
        <p:nvSpPr>
          <p:cNvPr id="22" name="Shape 19"/>
          <p:cNvSpPr/>
          <p:nvPr/>
        </p:nvSpPr>
        <p:spPr>
          <a:xfrm>
            <a:off x="6601968" y="5541264"/>
            <a:ext cx="914400" cy="292608"/>
          </a:xfrm>
          <a:prstGeom prst="roundRect">
            <a:avLst>
              <a:gd name="adj" fmla="val 25000"/>
            </a:avLst>
          </a:prstGeom>
          <a:solidFill>
            <a:srgbClr val="FFFFFF"/>
          </a:solidFill>
          <a:ln w="9525">
            <a:solidFill>
              <a:srgbClr val="D8E1EC"/>
            </a:solidFill>
            <a:prstDash val="solid"/>
          </a:ln>
        </p:spPr>
      </p:sp>
      <p:sp>
        <p:nvSpPr>
          <p:cNvPr id="23" name="Text 20"/>
          <p:cNvSpPr txBox="1"/>
          <p:nvPr/>
        </p:nvSpPr>
        <p:spPr>
          <a:xfrm>
            <a:off x="6647688" y="5541264"/>
            <a:ext cx="822960" cy="292608"/>
          </a:xfrm>
          <a:prstGeom prst="rect">
            <a:avLst/>
          </a:prstGeom>
          <a:noFill/>
          <a:ln/>
        </p:spPr>
        <p:txBody>
          <a:bodyPr wrap="square" lIns="0" tIns="0" rIns="0" bIns="0" rtlCol="0" anchor="ctr"/>
          <a:lstStyle/>
          <a:p>
            <a:pPr marL="0" indent="0" algn="ctr">
              <a:lnSpc>
                <a:spcPct val="100000"/>
              </a:lnSpc>
              <a:buNone/>
            </a:pPr>
            <a:r>
              <a:rPr lang="en-US" sz="750" b="1" dirty="0">
                <a:solidFill>
                  <a:srgbClr val="0E8A6A"/>
                </a:solidFill>
                <a:latin typeface="Courier New" pitchFamily="34" charset="0"/>
                <a:ea typeface="Courier New" pitchFamily="34" charset="-122"/>
                <a:cs typeface="Courier New" pitchFamily="34" charset="-120"/>
              </a:rPr>
              <a:t>[RÔLE]</a:t>
            </a:r>
            <a:endParaRPr lang="en-US" sz="750" dirty="0"/>
          </a:p>
        </p:txBody>
      </p:sp>
      <p:sp>
        <p:nvSpPr>
          <p:cNvPr id="24" name="Shape 21"/>
          <p:cNvSpPr/>
          <p:nvPr/>
        </p:nvSpPr>
        <p:spPr>
          <a:xfrm>
            <a:off x="7516368" y="5687568"/>
            <a:ext cx="82296" cy="0"/>
          </a:xfrm>
          <a:prstGeom prst="line">
            <a:avLst/>
          </a:prstGeom>
          <a:noFill/>
          <a:ln w="15875">
            <a:solidFill>
              <a:srgbClr val="9AACBF"/>
            </a:solidFill>
            <a:prstDash val="solid"/>
          </a:ln>
        </p:spPr>
      </p:sp>
      <p:sp>
        <p:nvSpPr>
          <p:cNvPr id="25" name="Shape 22"/>
          <p:cNvSpPr/>
          <p:nvPr/>
        </p:nvSpPr>
        <p:spPr>
          <a:xfrm>
            <a:off x="7598664" y="5541264"/>
            <a:ext cx="914400" cy="292608"/>
          </a:xfrm>
          <a:prstGeom prst="roundRect">
            <a:avLst>
              <a:gd name="adj" fmla="val 25000"/>
            </a:avLst>
          </a:prstGeom>
          <a:solidFill>
            <a:srgbClr val="FFFFFF"/>
          </a:solidFill>
          <a:ln w="9525">
            <a:solidFill>
              <a:srgbClr val="D8E1EC"/>
            </a:solidFill>
            <a:prstDash val="solid"/>
          </a:ln>
        </p:spPr>
      </p:sp>
      <p:sp>
        <p:nvSpPr>
          <p:cNvPr id="26" name="Text 23"/>
          <p:cNvSpPr txBox="1"/>
          <p:nvPr/>
        </p:nvSpPr>
        <p:spPr>
          <a:xfrm>
            <a:off x="7644384" y="5541264"/>
            <a:ext cx="822960" cy="292608"/>
          </a:xfrm>
          <a:prstGeom prst="rect">
            <a:avLst/>
          </a:prstGeom>
          <a:noFill/>
          <a:ln/>
        </p:spPr>
        <p:txBody>
          <a:bodyPr wrap="square" lIns="0" tIns="0" rIns="0" bIns="0" rtlCol="0" anchor="ctr"/>
          <a:lstStyle/>
          <a:p>
            <a:pPr marL="0" indent="0" algn="ctr">
              <a:lnSpc>
                <a:spcPct val="100000"/>
              </a:lnSpc>
              <a:buNone/>
            </a:pPr>
            <a:r>
              <a:rPr lang="en-US" sz="750" b="1" dirty="0">
                <a:solidFill>
                  <a:srgbClr val="0E8A6A"/>
                </a:solidFill>
                <a:latin typeface="Courier New" pitchFamily="34" charset="0"/>
                <a:ea typeface="Courier New" pitchFamily="34" charset="-122"/>
                <a:cs typeface="Courier New" pitchFamily="34" charset="-120"/>
              </a:rPr>
              <a:t>[CONTEXTE]</a:t>
            </a:r>
            <a:endParaRPr lang="en-US" sz="750" dirty="0"/>
          </a:p>
        </p:txBody>
      </p:sp>
      <p:sp>
        <p:nvSpPr>
          <p:cNvPr id="27" name="Shape 24"/>
          <p:cNvSpPr/>
          <p:nvPr/>
        </p:nvSpPr>
        <p:spPr>
          <a:xfrm>
            <a:off x="8513064" y="5687568"/>
            <a:ext cx="82296" cy="0"/>
          </a:xfrm>
          <a:prstGeom prst="line">
            <a:avLst/>
          </a:prstGeom>
          <a:noFill/>
          <a:ln w="15875">
            <a:solidFill>
              <a:srgbClr val="9AACBF"/>
            </a:solidFill>
            <a:prstDash val="solid"/>
          </a:ln>
        </p:spPr>
      </p:sp>
      <p:sp>
        <p:nvSpPr>
          <p:cNvPr id="28" name="Shape 25"/>
          <p:cNvSpPr/>
          <p:nvPr/>
        </p:nvSpPr>
        <p:spPr>
          <a:xfrm>
            <a:off x="8595360" y="5541264"/>
            <a:ext cx="914400" cy="292608"/>
          </a:xfrm>
          <a:prstGeom prst="roundRect">
            <a:avLst>
              <a:gd name="adj" fmla="val 25000"/>
            </a:avLst>
          </a:prstGeom>
          <a:solidFill>
            <a:srgbClr val="FFFFFF"/>
          </a:solidFill>
          <a:ln w="9525">
            <a:solidFill>
              <a:srgbClr val="D8E1EC"/>
            </a:solidFill>
            <a:prstDash val="solid"/>
          </a:ln>
        </p:spPr>
      </p:sp>
      <p:sp>
        <p:nvSpPr>
          <p:cNvPr id="29" name="Text 26"/>
          <p:cNvSpPr txBox="1"/>
          <p:nvPr/>
        </p:nvSpPr>
        <p:spPr>
          <a:xfrm>
            <a:off x="8641080" y="5541264"/>
            <a:ext cx="822960" cy="292608"/>
          </a:xfrm>
          <a:prstGeom prst="rect">
            <a:avLst/>
          </a:prstGeom>
          <a:noFill/>
          <a:ln/>
        </p:spPr>
        <p:txBody>
          <a:bodyPr wrap="square" lIns="0" tIns="0" rIns="0" bIns="0" rtlCol="0" anchor="ctr"/>
          <a:lstStyle/>
          <a:p>
            <a:pPr marL="0" indent="0" algn="ctr">
              <a:lnSpc>
                <a:spcPct val="100000"/>
              </a:lnSpc>
              <a:buNone/>
            </a:pPr>
            <a:r>
              <a:rPr lang="en-US" sz="750" b="1" dirty="0">
                <a:solidFill>
                  <a:srgbClr val="0E8A6A"/>
                </a:solidFill>
                <a:latin typeface="Courier New" pitchFamily="34" charset="0"/>
                <a:ea typeface="Courier New" pitchFamily="34" charset="-122"/>
                <a:cs typeface="Courier New" pitchFamily="34" charset="-120"/>
              </a:rPr>
              <a:t>[OBJECTIF]</a:t>
            </a:r>
            <a:endParaRPr lang="en-US" sz="750" dirty="0"/>
          </a:p>
        </p:txBody>
      </p:sp>
      <p:sp>
        <p:nvSpPr>
          <p:cNvPr id="30" name="Shape 27"/>
          <p:cNvSpPr/>
          <p:nvPr/>
        </p:nvSpPr>
        <p:spPr>
          <a:xfrm>
            <a:off x="9509760" y="5687568"/>
            <a:ext cx="82296" cy="0"/>
          </a:xfrm>
          <a:prstGeom prst="line">
            <a:avLst/>
          </a:prstGeom>
          <a:noFill/>
          <a:ln w="15875">
            <a:solidFill>
              <a:srgbClr val="9AACBF"/>
            </a:solidFill>
            <a:prstDash val="solid"/>
          </a:ln>
        </p:spPr>
      </p:sp>
      <p:sp>
        <p:nvSpPr>
          <p:cNvPr id="31" name="Shape 28"/>
          <p:cNvSpPr/>
          <p:nvPr/>
        </p:nvSpPr>
        <p:spPr>
          <a:xfrm>
            <a:off x="9592056" y="5541264"/>
            <a:ext cx="914400" cy="292608"/>
          </a:xfrm>
          <a:prstGeom prst="roundRect">
            <a:avLst>
              <a:gd name="adj" fmla="val 25000"/>
            </a:avLst>
          </a:prstGeom>
          <a:solidFill>
            <a:srgbClr val="FFFFFF"/>
          </a:solidFill>
          <a:ln w="9525">
            <a:solidFill>
              <a:srgbClr val="D8E1EC"/>
            </a:solidFill>
            <a:prstDash val="solid"/>
          </a:ln>
        </p:spPr>
      </p:sp>
      <p:sp>
        <p:nvSpPr>
          <p:cNvPr id="32" name="Text 29"/>
          <p:cNvSpPr txBox="1"/>
          <p:nvPr/>
        </p:nvSpPr>
        <p:spPr>
          <a:xfrm>
            <a:off x="9637776" y="5541264"/>
            <a:ext cx="822960" cy="292608"/>
          </a:xfrm>
          <a:prstGeom prst="rect">
            <a:avLst/>
          </a:prstGeom>
          <a:noFill/>
          <a:ln/>
        </p:spPr>
        <p:txBody>
          <a:bodyPr wrap="square" lIns="0" tIns="0" rIns="0" bIns="0" rtlCol="0" anchor="ctr"/>
          <a:lstStyle/>
          <a:p>
            <a:pPr marL="0" indent="0" algn="ctr">
              <a:lnSpc>
                <a:spcPct val="100000"/>
              </a:lnSpc>
              <a:buNone/>
            </a:pPr>
            <a:r>
              <a:rPr lang="en-US" sz="750" b="1" dirty="0">
                <a:solidFill>
                  <a:srgbClr val="0E8A6A"/>
                </a:solidFill>
                <a:latin typeface="Courier New" pitchFamily="34" charset="0"/>
                <a:ea typeface="Courier New" pitchFamily="34" charset="-122"/>
                <a:cs typeface="Courier New" pitchFamily="34" charset="-120"/>
              </a:rPr>
              <a:t>[CONTRAINTES]</a:t>
            </a:r>
            <a:endParaRPr lang="en-US" sz="750" dirty="0"/>
          </a:p>
        </p:txBody>
      </p:sp>
      <p:sp>
        <p:nvSpPr>
          <p:cNvPr id="33" name="Shape 30"/>
          <p:cNvSpPr/>
          <p:nvPr/>
        </p:nvSpPr>
        <p:spPr>
          <a:xfrm>
            <a:off x="10506456" y="5687568"/>
            <a:ext cx="82296" cy="0"/>
          </a:xfrm>
          <a:prstGeom prst="line">
            <a:avLst/>
          </a:prstGeom>
          <a:noFill/>
          <a:ln w="15875">
            <a:solidFill>
              <a:srgbClr val="9AACBF"/>
            </a:solidFill>
            <a:prstDash val="solid"/>
          </a:ln>
        </p:spPr>
      </p:sp>
      <p:sp>
        <p:nvSpPr>
          <p:cNvPr id="34" name="Shape 31"/>
          <p:cNvSpPr/>
          <p:nvPr/>
        </p:nvSpPr>
        <p:spPr>
          <a:xfrm>
            <a:off x="10588752" y="5541264"/>
            <a:ext cx="914400" cy="292608"/>
          </a:xfrm>
          <a:prstGeom prst="roundRect">
            <a:avLst>
              <a:gd name="adj" fmla="val 25000"/>
            </a:avLst>
          </a:prstGeom>
          <a:solidFill>
            <a:srgbClr val="FFFFFF"/>
          </a:solidFill>
          <a:ln w="9525">
            <a:solidFill>
              <a:srgbClr val="D8E1EC"/>
            </a:solidFill>
            <a:prstDash val="solid"/>
          </a:ln>
        </p:spPr>
      </p:sp>
      <p:sp>
        <p:nvSpPr>
          <p:cNvPr id="35" name="Text 32"/>
          <p:cNvSpPr txBox="1"/>
          <p:nvPr/>
        </p:nvSpPr>
        <p:spPr>
          <a:xfrm>
            <a:off x="10634472" y="5541264"/>
            <a:ext cx="822960" cy="292608"/>
          </a:xfrm>
          <a:prstGeom prst="rect">
            <a:avLst/>
          </a:prstGeom>
          <a:noFill/>
          <a:ln/>
        </p:spPr>
        <p:txBody>
          <a:bodyPr wrap="square" lIns="0" tIns="0" rIns="0" bIns="0" rtlCol="0" anchor="ctr"/>
          <a:lstStyle/>
          <a:p>
            <a:pPr marL="0" indent="0" algn="ctr">
              <a:lnSpc>
                <a:spcPct val="100000"/>
              </a:lnSpc>
              <a:buNone/>
            </a:pPr>
            <a:r>
              <a:rPr lang="en-US" sz="750" b="1" dirty="0">
                <a:solidFill>
                  <a:srgbClr val="0E8A6A"/>
                </a:solidFill>
                <a:latin typeface="Courier New" pitchFamily="34" charset="0"/>
                <a:ea typeface="Courier New" pitchFamily="34" charset="-122"/>
                <a:cs typeface="Courier New" pitchFamily="34" charset="-120"/>
              </a:rPr>
              <a:t>[FORMAT]</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17</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SORTIR DU FIL DE CHAT</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Un diagramme, une bibliothèque, un éditeur — puis le disque.</a:t>
            </a:r>
            <a:endParaRPr lang="en-US" sz="2700" dirty="0"/>
          </a:p>
        </p:txBody>
      </p:sp>
      <p:sp>
        <p:nvSpPr>
          <p:cNvPr id="5" name="Shape 3"/>
          <p:cNvSpPr/>
          <p:nvPr/>
        </p:nvSpPr>
        <p:spPr>
          <a:xfrm>
            <a:off x="520536" y="1719072"/>
            <a:ext cx="3604081" cy="2139696"/>
          </a:xfrm>
          <a:prstGeom prst="roundRect">
            <a:avLst>
              <a:gd name="adj" fmla="val 2137"/>
            </a:avLst>
          </a:prstGeom>
          <a:solidFill>
            <a:srgbClr val="F3F6FA"/>
          </a:solidFill>
          <a:ln w="9525">
            <a:solidFill>
              <a:srgbClr val="D8E1EC"/>
            </a:solidFill>
            <a:prstDash val="solid"/>
          </a:ln>
        </p:spPr>
      </p:sp>
      <p:pic>
        <p:nvPicPr>
          <p:cNvPr id="6" name="Image 0" descr="/home/claude/fuzyo/img/04-canvas.jpg"/>
          <p:cNvPicPr>
            <a:picLocks noChangeAspect="1"/>
          </p:cNvPicPr>
          <p:nvPr/>
        </p:nvPicPr>
        <p:blipFill>
          <a:blip r:embed="rId3"/>
          <a:stretch>
            <a:fillRect/>
          </a:stretch>
        </p:blipFill>
        <p:spPr>
          <a:xfrm>
            <a:off x="584544" y="1783080"/>
            <a:ext cx="3476065" cy="2011680"/>
          </a:xfrm>
          <a:prstGeom prst="rect">
            <a:avLst/>
          </a:prstGeom>
        </p:spPr>
      </p:pic>
      <p:sp>
        <p:nvSpPr>
          <p:cNvPr id="7" name="Text 4"/>
          <p:cNvSpPr txBox="1"/>
          <p:nvPr/>
        </p:nvSpPr>
        <p:spPr>
          <a:xfrm>
            <a:off x="548640" y="3931920"/>
            <a:ext cx="3547872" cy="274320"/>
          </a:xfrm>
          <a:prstGeom prst="rect">
            <a:avLst/>
          </a:prstGeom>
          <a:noFill/>
          <a:ln/>
        </p:spPr>
        <p:txBody>
          <a:bodyPr wrap="square" lIns="0" tIns="0" rIns="0" bIns="0" rtlCol="0" anchor="t"/>
          <a:lstStyle/>
          <a:p>
            <a:pPr marL="0" indent="0" algn="l">
              <a:lnSpc>
                <a:spcPct val="108000"/>
              </a:lnSpc>
              <a:buNone/>
            </a:pPr>
            <a:r>
              <a:rPr lang="en-US" sz="1400" b="1" dirty="0">
                <a:solidFill>
                  <a:srgbClr val="10243E"/>
                </a:solidFill>
                <a:latin typeface="Calibri" pitchFamily="34" charset="0"/>
                <a:ea typeface="Calibri" pitchFamily="34" charset="-122"/>
                <a:cs typeface="Calibri" pitchFamily="34" charset="-120"/>
              </a:rPr>
              <a:t>Canvas</a:t>
            </a:r>
            <a:endParaRPr lang="en-US" sz="1400" dirty="0"/>
          </a:p>
        </p:txBody>
      </p:sp>
      <p:sp>
        <p:nvSpPr>
          <p:cNvPr id="8" name="Text 5"/>
          <p:cNvSpPr txBox="1"/>
          <p:nvPr/>
        </p:nvSpPr>
        <p:spPr>
          <a:xfrm>
            <a:off x="548640" y="4224528"/>
            <a:ext cx="3547872" cy="73152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Le Mermaid de la phase 3 s’ouvre en plein écran : zoom, reset, téléchargement.</a:t>
            </a:r>
            <a:endParaRPr lang="en-US" sz="1100" dirty="0"/>
          </a:p>
        </p:txBody>
      </p:sp>
      <p:sp>
        <p:nvSpPr>
          <p:cNvPr id="9" name="Shape 6"/>
          <p:cNvSpPr/>
          <p:nvPr/>
        </p:nvSpPr>
        <p:spPr>
          <a:xfrm>
            <a:off x="4416552" y="1719072"/>
            <a:ext cx="3346704" cy="2139696"/>
          </a:xfrm>
          <a:prstGeom prst="roundRect">
            <a:avLst>
              <a:gd name="adj" fmla="val 2137"/>
            </a:avLst>
          </a:prstGeom>
          <a:solidFill>
            <a:srgbClr val="F3F6FA"/>
          </a:solidFill>
          <a:ln w="9525">
            <a:solidFill>
              <a:srgbClr val="D8E1EC"/>
            </a:solidFill>
            <a:prstDash val="solid"/>
          </a:ln>
        </p:spPr>
      </p:sp>
      <p:pic>
        <p:nvPicPr>
          <p:cNvPr id="10" name="Image 1" descr="/home/claude/fuzyo/img/08-artifacts.jpg"/>
          <p:cNvPicPr>
            <a:picLocks noChangeAspect="1"/>
          </p:cNvPicPr>
          <p:nvPr/>
        </p:nvPicPr>
        <p:blipFill>
          <a:blip r:embed="rId4"/>
          <a:stretch>
            <a:fillRect/>
          </a:stretch>
        </p:blipFill>
        <p:spPr>
          <a:xfrm>
            <a:off x="4480560" y="1783080"/>
            <a:ext cx="3218688" cy="2011680"/>
          </a:xfrm>
          <a:prstGeom prst="rect">
            <a:avLst/>
          </a:prstGeom>
        </p:spPr>
      </p:pic>
      <p:sp>
        <p:nvSpPr>
          <p:cNvPr id="11" name="Text 7"/>
          <p:cNvSpPr txBox="1"/>
          <p:nvPr/>
        </p:nvSpPr>
        <p:spPr>
          <a:xfrm>
            <a:off x="4315968" y="3931920"/>
            <a:ext cx="3547872" cy="274320"/>
          </a:xfrm>
          <a:prstGeom prst="rect">
            <a:avLst/>
          </a:prstGeom>
          <a:noFill/>
          <a:ln/>
        </p:spPr>
        <p:txBody>
          <a:bodyPr wrap="square" lIns="0" tIns="0" rIns="0" bIns="0" rtlCol="0" anchor="t"/>
          <a:lstStyle/>
          <a:p>
            <a:pPr marL="0" indent="0" algn="l">
              <a:lnSpc>
                <a:spcPct val="108000"/>
              </a:lnSpc>
              <a:buNone/>
            </a:pPr>
            <a:r>
              <a:rPr lang="en-US" sz="1400" b="1" dirty="0">
                <a:solidFill>
                  <a:srgbClr val="10243E"/>
                </a:solidFill>
                <a:latin typeface="Calibri" pitchFamily="34" charset="0"/>
                <a:ea typeface="Calibri" pitchFamily="34" charset="-122"/>
                <a:cs typeface="Calibri" pitchFamily="34" charset="-120"/>
              </a:rPr>
              <a:t>Artifacts</a:t>
            </a:r>
            <a:endParaRPr lang="en-US" sz="1400" dirty="0"/>
          </a:p>
        </p:txBody>
      </p:sp>
      <p:sp>
        <p:nvSpPr>
          <p:cNvPr id="12" name="Text 8"/>
          <p:cNvSpPr txBox="1"/>
          <p:nvPr/>
        </p:nvSpPr>
        <p:spPr>
          <a:xfrm>
            <a:off x="4315968" y="4224528"/>
            <a:ext cx="3547872" cy="73152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Bibliothèque horodatée des réponses riches du workspace, réutilisables.</a:t>
            </a:r>
            <a:endParaRPr lang="en-US" sz="1100" dirty="0"/>
          </a:p>
        </p:txBody>
      </p:sp>
      <p:sp>
        <p:nvSpPr>
          <p:cNvPr id="13" name="Shape 9"/>
          <p:cNvSpPr/>
          <p:nvPr/>
        </p:nvSpPr>
        <p:spPr>
          <a:xfrm>
            <a:off x="8183880" y="1719072"/>
            <a:ext cx="3346704" cy="2139696"/>
          </a:xfrm>
          <a:prstGeom prst="roundRect">
            <a:avLst>
              <a:gd name="adj" fmla="val 2137"/>
            </a:avLst>
          </a:prstGeom>
          <a:solidFill>
            <a:srgbClr val="F3F6FA"/>
          </a:solidFill>
          <a:ln w="9525">
            <a:solidFill>
              <a:srgbClr val="D8E1EC"/>
            </a:solidFill>
            <a:prstDash val="solid"/>
          </a:ln>
        </p:spPr>
      </p:sp>
      <p:pic>
        <p:nvPicPr>
          <p:cNvPr id="14" name="Image 2" descr="/home/claude/fuzyo/img/09-ide.jpg"/>
          <p:cNvPicPr>
            <a:picLocks noChangeAspect="1"/>
          </p:cNvPicPr>
          <p:nvPr/>
        </p:nvPicPr>
        <p:blipFill>
          <a:blip r:embed="rId5"/>
          <a:stretch>
            <a:fillRect/>
          </a:stretch>
        </p:blipFill>
        <p:spPr>
          <a:xfrm>
            <a:off x="8247888" y="1783080"/>
            <a:ext cx="3218688" cy="2011680"/>
          </a:xfrm>
          <a:prstGeom prst="rect">
            <a:avLst/>
          </a:prstGeom>
        </p:spPr>
      </p:pic>
      <p:sp>
        <p:nvSpPr>
          <p:cNvPr id="15" name="Text 10"/>
          <p:cNvSpPr txBox="1"/>
          <p:nvPr/>
        </p:nvSpPr>
        <p:spPr>
          <a:xfrm>
            <a:off x="8083296" y="3931920"/>
            <a:ext cx="3547872" cy="274320"/>
          </a:xfrm>
          <a:prstGeom prst="rect">
            <a:avLst/>
          </a:prstGeom>
          <a:noFill/>
          <a:ln/>
        </p:spPr>
        <p:txBody>
          <a:bodyPr wrap="square" lIns="0" tIns="0" rIns="0" bIns="0" rtlCol="0" anchor="t"/>
          <a:lstStyle/>
          <a:p>
            <a:pPr marL="0" indent="0" algn="l">
              <a:lnSpc>
                <a:spcPct val="108000"/>
              </a:lnSpc>
              <a:buNone/>
            </a:pPr>
            <a:r>
              <a:rPr lang="en-US" sz="1400" b="1" dirty="0">
                <a:solidFill>
                  <a:srgbClr val="10243E"/>
                </a:solidFill>
                <a:latin typeface="Calibri" pitchFamily="34" charset="0"/>
                <a:ea typeface="Calibri" pitchFamily="34" charset="-122"/>
                <a:cs typeface="Calibri" pitchFamily="34" charset="-120"/>
              </a:rPr>
              <a:t>IDE</a:t>
            </a:r>
            <a:endParaRPr lang="en-US" sz="1400" dirty="0"/>
          </a:p>
        </p:txBody>
      </p:sp>
      <p:sp>
        <p:nvSpPr>
          <p:cNvPr id="16" name="Text 11"/>
          <p:cNvSpPr txBox="1"/>
          <p:nvPr/>
        </p:nvSpPr>
        <p:spPr>
          <a:xfrm>
            <a:off x="8083296" y="4224528"/>
            <a:ext cx="3547872" cy="731520"/>
          </a:xfrm>
          <a:prstGeom prst="rect">
            <a:avLst/>
          </a:prstGeom>
          <a:noFill/>
          <a:ln/>
        </p:spPr>
        <p:txBody>
          <a:bodyPr wrap="square" lIns="0" tIns="0" rIns="0" bIns="0" rtlCol="0" anchor="t"/>
          <a:lstStyle/>
          <a:p>
            <a:pPr marL="0" indent="0" algn="l">
              <a:lnSpc>
                <a:spcPct val="114000"/>
              </a:lnSpc>
              <a:buNone/>
            </a:pPr>
            <a:r>
              <a:rPr lang="en-US" sz="1100" dirty="0">
                <a:solidFill>
                  <a:srgbClr val="3F546B"/>
                </a:solidFill>
                <a:latin typeface="Calibri" pitchFamily="34" charset="0"/>
                <a:ea typeface="Calibri" pitchFamily="34" charset="-122"/>
                <a:cs typeface="Calibri" pitchFamily="34" charset="-120"/>
              </a:rPr>
              <a:t>Explorateur, Monaco, panneau agent. Les diffs s’acceptent ou se refusent.</a:t>
            </a:r>
            <a:endParaRPr lang="en-US" sz="1100" dirty="0"/>
          </a:p>
        </p:txBody>
      </p:sp>
      <p:sp>
        <p:nvSpPr>
          <p:cNvPr id="17" name="Shape 12"/>
          <p:cNvSpPr/>
          <p:nvPr/>
        </p:nvSpPr>
        <p:spPr>
          <a:xfrm>
            <a:off x="548640" y="5120640"/>
            <a:ext cx="11064240" cy="1005840"/>
          </a:xfrm>
          <a:prstGeom prst="roundRect">
            <a:avLst>
              <a:gd name="adj" fmla="val 4545"/>
            </a:avLst>
          </a:prstGeom>
          <a:solidFill>
            <a:srgbClr val="FBF1DF"/>
          </a:solidFill>
          <a:ln w="9525">
            <a:solidFill>
              <a:srgbClr val="B07407"/>
            </a:solidFill>
            <a:prstDash val="solid"/>
          </a:ln>
        </p:spPr>
      </p:sp>
      <p:sp>
        <p:nvSpPr>
          <p:cNvPr id="18" name="Text 13"/>
          <p:cNvSpPr txBox="1"/>
          <p:nvPr/>
        </p:nvSpPr>
        <p:spPr>
          <a:xfrm>
            <a:off x="749808" y="5257800"/>
            <a:ext cx="10661904" cy="274320"/>
          </a:xfrm>
          <a:prstGeom prst="rect">
            <a:avLst/>
          </a:prstGeom>
          <a:noFill/>
          <a:ln/>
        </p:spPr>
        <p:txBody>
          <a:bodyPr wrap="square" lIns="0" tIns="0" rIns="0" bIns="0" rtlCol="0" anchor="t"/>
          <a:lstStyle/>
          <a:p>
            <a:pPr marL="0" indent="0" algn="l">
              <a:lnSpc>
                <a:spcPct val="108000"/>
              </a:lnSpc>
              <a:buNone/>
            </a:pPr>
            <a:r>
              <a:rPr lang="en-US" sz="1350" b="1" dirty="0">
                <a:solidFill>
                  <a:srgbClr val="B07407"/>
                </a:solidFill>
                <a:latin typeface="Calibri" pitchFamily="34" charset="0"/>
                <a:ea typeface="Calibri" pitchFamily="34" charset="-122"/>
                <a:cs typeface="Calibri" pitchFamily="34" charset="-120"/>
              </a:rPr>
              <a:t>Le garde-fou qui rend tout ça acceptable</a:t>
            </a:r>
            <a:endParaRPr lang="en-US" sz="1350" dirty="0"/>
          </a:p>
        </p:txBody>
      </p:sp>
      <p:sp>
        <p:nvSpPr>
          <p:cNvPr id="19" name="Text 14"/>
          <p:cNvSpPr txBox="1"/>
          <p:nvPr/>
        </p:nvSpPr>
        <p:spPr>
          <a:xfrm>
            <a:off x="749808" y="5596128"/>
            <a:ext cx="10661904" cy="402336"/>
          </a:xfrm>
          <a:prstGeom prst="rect">
            <a:avLst/>
          </a:prstGeom>
          <a:noFill/>
          <a:ln/>
        </p:spPr>
        <p:txBody>
          <a:bodyPr wrap="square" lIns="0" tIns="0" rIns="0" bIns="0" rtlCol="0" anchor="t"/>
          <a:lstStyle/>
          <a:p>
            <a:pPr marL="0" indent="0" algn="l">
              <a:lnSpc>
                <a:spcPct val="112000"/>
              </a:lnSpc>
              <a:buNone/>
            </a:pPr>
            <a:r>
              <a:rPr lang="en-US" sz="1150" dirty="0">
                <a:solidFill>
                  <a:srgbClr val="3F546B"/>
                </a:solidFill>
                <a:latin typeface="Calibri" pitchFamily="34" charset="0"/>
                <a:ea typeface="Calibri" pitchFamily="34" charset="-122"/>
                <a:cs typeface="Calibri" pitchFamily="34" charset="-120"/>
              </a:rPr>
              <a:t>Apply &amp; Sync to Host écrit sur le filesystem hôte, mais seulement sous docs/, src/, tests/ et .github/, et seulement sur un geste humain. Le modèle ne décide jamais d’écrire.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316903" y="6016752"/>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18</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MATURITÉ</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Onze capacités sur seize sont livrées. Les cinq autres, je les nomme.</a:t>
            </a:r>
            <a:endParaRPr lang="en-US" sz="2700" dirty="0"/>
          </a:p>
        </p:txBody>
      </p:sp>
      <p:sp>
        <p:nvSpPr>
          <p:cNvPr id="5" name="Shape 3"/>
          <p:cNvSpPr/>
          <p:nvPr/>
        </p:nvSpPr>
        <p:spPr>
          <a:xfrm>
            <a:off x="548640" y="1783080"/>
            <a:ext cx="2633472" cy="713232"/>
          </a:xfrm>
          <a:prstGeom prst="roundRect">
            <a:avLst>
              <a:gd name="adj" fmla="val 6410"/>
            </a:avLst>
          </a:prstGeom>
          <a:solidFill>
            <a:srgbClr val="E6F4EF"/>
          </a:solidFill>
          <a:ln w="9525">
            <a:solidFill>
              <a:srgbClr val="0E8A6A"/>
            </a:solidFill>
            <a:prstDash val="solid"/>
          </a:ln>
        </p:spPr>
      </p:sp>
      <p:sp>
        <p:nvSpPr>
          <p:cNvPr id="6" name="Text 4"/>
          <p:cNvSpPr txBox="1"/>
          <p:nvPr/>
        </p:nvSpPr>
        <p:spPr>
          <a:xfrm>
            <a:off x="694944" y="1837944"/>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7" name="Text 5"/>
          <p:cNvSpPr txBox="1"/>
          <p:nvPr/>
        </p:nvSpPr>
        <p:spPr>
          <a:xfrm>
            <a:off x="694944" y="2075688"/>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Chat SSE + threads</a:t>
            </a:r>
            <a:endParaRPr lang="en-US" sz="1150" dirty="0"/>
          </a:p>
        </p:txBody>
      </p:sp>
      <p:sp>
        <p:nvSpPr>
          <p:cNvPr id="8" name="Shape 6"/>
          <p:cNvSpPr/>
          <p:nvPr/>
        </p:nvSpPr>
        <p:spPr>
          <a:xfrm>
            <a:off x="3374136" y="1783080"/>
            <a:ext cx="2633472" cy="713232"/>
          </a:xfrm>
          <a:prstGeom prst="roundRect">
            <a:avLst>
              <a:gd name="adj" fmla="val 6410"/>
            </a:avLst>
          </a:prstGeom>
          <a:solidFill>
            <a:srgbClr val="E6F4EF"/>
          </a:solidFill>
          <a:ln w="9525">
            <a:solidFill>
              <a:srgbClr val="0E8A6A"/>
            </a:solidFill>
            <a:prstDash val="solid"/>
          </a:ln>
        </p:spPr>
      </p:sp>
      <p:sp>
        <p:nvSpPr>
          <p:cNvPr id="9" name="Text 7"/>
          <p:cNvSpPr txBox="1"/>
          <p:nvPr/>
        </p:nvSpPr>
        <p:spPr>
          <a:xfrm>
            <a:off x="3520440" y="1837944"/>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10" name="Text 8"/>
          <p:cNvSpPr txBox="1"/>
          <p:nvPr/>
        </p:nvSpPr>
        <p:spPr>
          <a:xfrm>
            <a:off x="3520440" y="2075688"/>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Privacy router</a:t>
            </a:r>
            <a:endParaRPr lang="en-US" sz="1150" dirty="0"/>
          </a:p>
        </p:txBody>
      </p:sp>
      <p:sp>
        <p:nvSpPr>
          <p:cNvPr id="11" name="Shape 9"/>
          <p:cNvSpPr/>
          <p:nvPr/>
        </p:nvSpPr>
        <p:spPr>
          <a:xfrm>
            <a:off x="6199632" y="1783080"/>
            <a:ext cx="2633472" cy="713232"/>
          </a:xfrm>
          <a:prstGeom prst="roundRect">
            <a:avLst>
              <a:gd name="adj" fmla="val 6410"/>
            </a:avLst>
          </a:prstGeom>
          <a:solidFill>
            <a:srgbClr val="E6F4EF"/>
          </a:solidFill>
          <a:ln w="9525">
            <a:solidFill>
              <a:srgbClr val="0E8A6A"/>
            </a:solidFill>
            <a:prstDash val="solid"/>
          </a:ln>
        </p:spPr>
      </p:sp>
      <p:sp>
        <p:nvSpPr>
          <p:cNvPr id="12" name="Text 10"/>
          <p:cNvSpPr txBox="1"/>
          <p:nvPr/>
        </p:nvSpPr>
        <p:spPr>
          <a:xfrm>
            <a:off x="6345936" y="1837944"/>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13" name="Text 11"/>
          <p:cNvSpPr txBox="1"/>
          <p:nvPr/>
        </p:nvSpPr>
        <p:spPr>
          <a:xfrm>
            <a:off x="6345936" y="2075688"/>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Multi-LLM + fallbacks</a:t>
            </a:r>
            <a:endParaRPr lang="en-US" sz="1150" dirty="0"/>
          </a:p>
        </p:txBody>
      </p:sp>
      <p:sp>
        <p:nvSpPr>
          <p:cNvPr id="14" name="Shape 12"/>
          <p:cNvSpPr/>
          <p:nvPr/>
        </p:nvSpPr>
        <p:spPr>
          <a:xfrm>
            <a:off x="9025128" y="1783080"/>
            <a:ext cx="2633472" cy="713232"/>
          </a:xfrm>
          <a:prstGeom prst="roundRect">
            <a:avLst>
              <a:gd name="adj" fmla="val 6410"/>
            </a:avLst>
          </a:prstGeom>
          <a:solidFill>
            <a:srgbClr val="E6F4EF"/>
          </a:solidFill>
          <a:ln w="9525">
            <a:solidFill>
              <a:srgbClr val="0E8A6A"/>
            </a:solidFill>
            <a:prstDash val="solid"/>
          </a:ln>
        </p:spPr>
      </p:sp>
      <p:sp>
        <p:nvSpPr>
          <p:cNvPr id="15" name="Text 13"/>
          <p:cNvSpPr txBox="1"/>
          <p:nvPr/>
        </p:nvSpPr>
        <p:spPr>
          <a:xfrm>
            <a:off x="9171432" y="1837944"/>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16" name="Text 14"/>
          <p:cNvSpPr txBox="1"/>
          <p:nvPr/>
        </p:nvSpPr>
        <p:spPr>
          <a:xfrm>
            <a:off x="9171432" y="2075688"/>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RAG hybride</a:t>
            </a:r>
            <a:endParaRPr lang="en-US" sz="1150" dirty="0"/>
          </a:p>
        </p:txBody>
      </p:sp>
      <p:sp>
        <p:nvSpPr>
          <p:cNvPr id="17" name="Shape 15"/>
          <p:cNvSpPr/>
          <p:nvPr/>
        </p:nvSpPr>
        <p:spPr>
          <a:xfrm>
            <a:off x="548640" y="2624328"/>
            <a:ext cx="2633472" cy="713232"/>
          </a:xfrm>
          <a:prstGeom prst="roundRect">
            <a:avLst>
              <a:gd name="adj" fmla="val 6410"/>
            </a:avLst>
          </a:prstGeom>
          <a:solidFill>
            <a:srgbClr val="E6F4EF"/>
          </a:solidFill>
          <a:ln w="9525">
            <a:solidFill>
              <a:srgbClr val="0E8A6A"/>
            </a:solidFill>
            <a:prstDash val="solid"/>
          </a:ln>
        </p:spPr>
      </p:sp>
      <p:sp>
        <p:nvSpPr>
          <p:cNvPr id="18" name="Text 16"/>
          <p:cNvSpPr txBox="1"/>
          <p:nvPr/>
        </p:nvSpPr>
        <p:spPr>
          <a:xfrm>
            <a:off x="694944" y="2679192"/>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19" name="Text 17"/>
          <p:cNvSpPr txBox="1"/>
          <p:nvPr/>
        </p:nvSpPr>
        <p:spPr>
          <a:xfrm>
            <a:off x="694944" y="2916936"/>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Gatekeeper T1–T3</a:t>
            </a:r>
            <a:endParaRPr lang="en-US" sz="1150" dirty="0"/>
          </a:p>
        </p:txBody>
      </p:sp>
      <p:sp>
        <p:nvSpPr>
          <p:cNvPr id="20" name="Shape 18"/>
          <p:cNvSpPr/>
          <p:nvPr/>
        </p:nvSpPr>
        <p:spPr>
          <a:xfrm>
            <a:off x="3374136" y="2624328"/>
            <a:ext cx="2633472" cy="713232"/>
          </a:xfrm>
          <a:prstGeom prst="roundRect">
            <a:avLst>
              <a:gd name="adj" fmla="val 6410"/>
            </a:avLst>
          </a:prstGeom>
          <a:solidFill>
            <a:srgbClr val="E6F4EF"/>
          </a:solidFill>
          <a:ln w="9525">
            <a:solidFill>
              <a:srgbClr val="0E8A6A"/>
            </a:solidFill>
            <a:prstDash val="solid"/>
          </a:ln>
        </p:spPr>
      </p:sp>
      <p:sp>
        <p:nvSpPr>
          <p:cNvPr id="21" name="Text 19"/>
          <p:cNvSpPr txBox="1"/>
          <p:nvPr/>
        </p:nvSpPr>
        <p:spPr>
          <a:xfrm>
            <a:off x="3520440" y="2679192"/>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22" name="Text 20"/>
          <p:cNvSpPr txBox="1"/>
          <p:nvPr/>
        </p:nvSpPr>
        <p:spPr>
          <a:xfrm>
            <a:off x="3520440" y="2916936"/>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Dashboard + scan</a:t>
            </a:r>
            <a:endParaRPr lang="en-US" sz="1150" dirty="0"/>
          </a:p>
        </p:txBody>
      </p:sp>
      <p:sp>
        <p:nvSpPr>
          <p:cNvPr id="23" name="Shape 21"/>
          <p:cNvSpPr/>
          <p:nvPr/>
        </p:nvSpPr>
        <p:spPr>
          <a:xfrm>
            <a:off x="6199632" y="2624328"/>
            <a:ext cx="2633472" cy="713232"/>
          </a:xfrm>
          <a:prstGeom prst="roundRect">
            <a:avLst>
              <a:gd name="adj" fmla="val 6410"/>
            </a:avLst>
          </a:prstGeom>
          <a:solidFill>
            <a:srgbClr val="E6F4EF"/>
          </a:solidFill>
          <a:ln w="9525">
            <a:solidFill>
              <a:srgbClr val="0E8A6A"/>
            </a:solidFill>
            <a:prstDash val="solid"/>
          </a:ln>
        </p:spPr>
      </p:sp>
      <p:sp>
        <p:nvSpPr>
          <p:cNvPr id="24" name="Text 22"/>
          <p:cNvSpPr txBox="1"/>
          <p:nvPr/>
        </p:nvSpPr>
        <p:spPr>
          <a:xfrm>
            <a:off x="6345936" y="2679192"/>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25" name="Text 23"/>
          <p:cNvSpPr txBox="1"/>
          <p:nvPr/>
        </p:nvSpPr>
        <p:spPr>
          <a:xfrm>
            <a:off x="6345936" y="2916936"/>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Meta-prompts</a:t>
            </a:r>
            <a:endParaRPr lang="en-US" sz="1150" dirty="0"/>
          </a:p>
        </p:txBody>
      </p:sp>
      <p:sp>
        <p:nvSpPr>
          <p:cNvPr id="26" name="Shape 24"/>
          <p:cNvSpPr/>
          <p:nvPr/>
        </p:nvSpPr>
        <p:spPr>
          <a:xfrm>
            <a:off x="9025128" y="2624328"/>
            <a:ext cx="2633472" cy="713232"/>
          </a:xfrm>
          <a:prstGeom prst="roundRect">
            <a:avLst>
              <a:gd name="adj" fmla="val 6410"/>
            </a:avLst>
          </a:prstGeom>
          <a:solidFill>
            <a:srgbClr val="E6F4EF"/>
          </a:solidFill>
          <a:ln w="9525">
            <a:solidFill>
              <a:srgbClr val="0E8A6A"/>
            </a:solidFill>
            <a:prstDash val="solid"/>
          </a:ln>
        </p:spPr>
      </p:sp>
      <p:sp>
        <p:nvSpPr>
          <p:cNvPr id="27" name="Text 25"/>
          <p:cNvSpPr txBox="1"/>
          <p:nvPr/>
        </p:nvSpPr>
        <p:spPr>
          <a:xfrm>
            <a:off x="9171432" y="2679192"/>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28" name="Text 26"/>
          <p:cNvSpPr txBox="1"/>
          <p:nvPr/>
        </p:nvSpPr>
        <p:spPr>
          <a:xfrm>
            <a:off x="9171432" y="2916936"/>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IDE + apply/save</a:t>
            </a:r>
            <a:endParaRPr lang="en-US" sz="1150" dirty="0"/>
          </a:p>
        </p:txBody>
      </p:sp>
      <p:sp>
        <p:nvSpPr>
          <p:cNvPr id="29" name="Shape 27"/>
          <p:cNvSpPr/>
          <p:nvPr/>
        </p:nvSpPr>
        <p:spPr>
          <a:xfrm>
            <a:off x="548640" y="3465576"/>
            <a:ext cx="2633472" cy="713232"/>
          </a:xfrm>
          <a:prstGeom prst="roundRect">
            <a:avLst>
              <a:gd name="adj" fmla="val 6410"/>
            </a:avLst>
          </a:prstGeom>
          <a:solidFill>
            <a:srgbClr val="E6F4EF"/>
          </a:solidFill>
          <a:ln w="9525">
            <a:solidFill>
              <a:srgbClr val="0E8A6A"/>
            </a:solidFill>
            <a:prstDash val="solid"/>
          </a:ln>
        </p:spPr>
      </p:sp>
      <p:sp>
        <p:nvSpPr>
          <p:cNvPr id="30" name="Text 28"/>
          <p:cNvSpPr txBox="1"/>
          <p:nvPr/>
        </p:nvSpPr>
        <p:spPr>
          <a:xfrm>
            <a:off x="694944" y="3520440"/>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31" name="Text 29"/>
          <p:cNvSpPr txBox="1"/>
          <p:nvPr/>
        </p:nvSpPr>
        <p:spPr>
          <a:xfrm>
            <a:off x="694944" y="3758184"/>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Export DOCX/ZIP/MD</a:t>
            </a:r>
            <a:endParaRPr lang="en-US" sz="1150" dirty="0"/>
          </a:p>
        </p:txBody>
      </p:sp>
      <p:sp>
        <p:nvSpPr>
          <p:cNvPr id="32" name="Shape 30"/>
          <p:cNvSpPr/>
          <p:nvPr/>
        </p:nvSpPr>
        <p:spPr>
          <a:xfrm>
            <a:off x="3374136" y="3465576"/>
            <a:ext cx="2633472" cy="713232"/>
          </a:xfrm>
          <a:prstGeom prst="roundRect">
            <a:avLst>
              <a:gd name="adj" fmla="val 6410"/>
            </a:avLst>
          </a:prstGeom>
          <a:solidFill>
            <a:srgbClr val="E6F4EF"/>
          </a:solidFill>
          <a:ln w="9525">
            <a:solidFill>
              <a:srgbClr val="0E8A6A"/>
            </a:solidFill>
            <a:prstDash val="solid"/>
          </a:ln>
        </p:spPr>
      </p:sp>
      <p:sp>
        <p:nvSpPr>
          <p:cNvPr id="33" name="Text 31"/>
          <p:cNvSpPr txBox="1"/>
          <p:nvPr/>
        </p:nvSpPr>
        <p:spPr>
          <a:xfrm>
            <a:off x="3520440" y="3520440"/>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34" name="Text 32"/>
          <p:cNvSpPr txBox="1"/>
          <p:nvPr/>
        </p:nvSpPr>
        <p:spPr>
          <a:xfrm>
            <a:off x="3520440" y="3758184"/>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RBAC admin</a:t>
            </a:r>
            <a:endParaRPr lang="en-US" sz="1150" dirty="0"/>
          </a:p>
        </p:txBody>
      </p:sp>
      <p:sp>
        <p:nvSpPr>
          <p:cNvPr id="35" name="Shape 33"/>
          <p:cNvSpPr/>
          <p:nvPr/>
        </p:nvSpPr>
        <p:spPr>
          <a:xfrm>
            <a:off x="6199632" y="3465576"/>
            <a:ext cx="2633472" cy="713232"/>
          </a:xfrm>
          <a:prstGeom prst="roundRect">
            <a:avLst>
              <a:gd name="adj" fmla="val 6410"/>
            </a:avLst>
          </a:prstGeom>
          <a:solidFill>
            <a:srgbClr val="E6F4EF"/>
          </a:solidFill>
          <a:ln w="9525">
            <a:solidFill>
              <a:srgbClr val="0E8A6A"/>
            </a:solidFill>
            <a:prstDash val="solid"/>
          </a:ln>
        </p:spPr>
      </p:sp>
      <p:sp>
        <p:nvSpPr>
          <p:cNvPr id="36" name="Text 34"/>
          <p:cNvSpPr txBox="1"/>
          <p:nvPr/>
        </p:nvSpPr>
        <p:spPr>
          <a:xfrm>
            <a:off x="6345936" y="3520440"/>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0E8A6A"/>
                </a:solidFill>
                <a:latin typeface="Calibri" pitchFamily="34" charset="0"/>
                <a:ea typeface="Calibri" pitchFamily="34" charset="-122"/>
                <a:cs typeface="Calibri" pitchFamily="34" charset="-120"/>
              </a:rPr>
              <a:t>FAIT</a:t>
            </a:r>
            <a:endParaRPr lang="en-US" sz="800" dirty="0"/>
          </a:p>
        </p:txBody>
      </p:sp>
      <p:sp>
        <p:nvSpPr>
          <p:cNvPr id="37" name="Text 35"/>
          <p:cNvSpPr txBox="1"/>
          <p:nvPr/>
        </p:nvSpPr>
        <p:spPr>
          <a:xfrm>
            <a:off x="6345936" y="3758184"/>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Démo Playwright 9 phases</a:t>
            </a:r>
            <a:endParaRPr lang="en-US" sz="1150" dirty="0"/>
          </a:p>
        </p:txBody>
      </p:sp>
      <p:sp>
        <p:nvSpPr>
          <p:cNvPr id="38" name="Shape 36"/>
          <p:cNvSpPr/>
          <p:nvPr/>
        </p:nvSpPr>
        <p:spPr>
          <a:xfrm>
            <a:off x="9025128" y="3465576"/>
            <a:ext cx="2633472" cy="713232"/>
          </a:xfrm>
          <a:prstGeom prst="roundRect">
            <a:avLst>
              <a:gd name="adj" fmla="val 6410"/>
            </a:avLst>
          </a:prstGeom>
          <a:solidFill>
            <a:srgbClr val="FBF1DF"/>
          </a:solidFill>
          <a:ln w="9525">
            <a:solidFill>
              <a:srgbClr val="B07407"/>
            </a:solidFill>
            <a:prstDash val="solid"/>
          </a:ln>
        </p:spPr>
      </p:sp>
      <p:sp>
        <p:nvSpPr>
          <p:cNvPr id="39" name="Text 37"/>
          <p:cNvSpPr txBox="1"/>
          <p:nvPr/>
        </p:nvSpPr>
        <p:spPr>
          <a:xfrm>
            <a:off x="9171432" y="3520440"/>
            <a:ext cx="457200" cy="219456"/>
          </a:xfrm>
          <a:prstGeom prst="rect">
            <a:avLst/>
          </a:prstGeom>
          <a:noFill/>
          <a:ln/>
        </p:spPr>
        <p:txBody>
          <a:bodyPr wrap="square" lIns="0" tIns="0" rIns="0" bIns="0" rtlCol="0" anchor="t"/>
          <a:lstStyle/>
          <a:p>
            <a:pPr marL="0" indent="0" algn="l">
              <a:lnSpc>
                <a:spcPct val="108000"/>
              </a:lnSpc>
              <a:buNone/>
            </a:pPr>
            <a:r>
              <a:rPr lang="en-US" sz="800" b="1" kern="0" spc="100" dirty="0">
                <a:solidFill>
                  <a:srgbClr val="B07407"/>
                </a:solidFill>
                <a:latin typeface="Calibri" pitchFamily="34" charset="0"/>
                <a:ea typeface="Calibri" pitchFamily="34" charset="-122"/>
                <a:cs typeface="Calibri" pitchFamily="34" charset="-120"/>
              </a:rPr>
              <a:t>À FAIRE</a:t>
            </a:r>
            <a:endParaRPr lang="en-US" sz="800" dirty="0"/>
          </a:p>
        </p:txBody>
      </p:sp>
      <p:sp>
        <p:nvSpPr>
          <p:cNvPr id="40" name="Text 38"/>
          <p:cNvSpPr txBox="1"/>
          <p:nvPr/>
        </p:nvSpPr>
        <p:spPr>
          <a:xfrm>
            <a:off x="9171432" y="3758184"/>
            <a:ext cx="2340864" cy="365760"/>
          </a:xfrm>
          <a:prstGeom prst="rect">
            <a:avLst/>
          </a:prstGeom>
          <a:noFill/>
          <a:ln/>
        </p:spPr>
        <p:txBody>
          <a:bodyPr wrap="square" lIns="0" tIns="0" rIns="0" bIns="0" rtlCol="0" anchor="t"/>
          <a:lstStyle/>
          <a:p>
            <a:pPr marL="0" indent="0" algn="l">
              <a:lnSpc>
                <a:spcPct val="100000"/>
              </a:lnSpc>
              <a:buNone/>
            </a:pPr>
            <a:r>
              <a:rPr lang="en-US" sz="1150" b="1" dirty="0">
                <a:solidFill>
                  <a:srgbClr val="10243E"/>
                </a:solidFill>
                <a:latin typeface="Calibri" pitchFamily="34" charset="0"/>
                <a:ea typeface="Calibri" pitchFamily="34" charset="-122"/>
                <a:cs typeface="Calibri" pitchFamily="34" charset="-120"/>
              </a:rPr>
              <a:t>Ollama / LM Studio</a:t>
            </a:r>
            <a:endParaRPr lang="en-US" sz="1150" dirty="0"/>
          </a:p>
        </p:txBody>
      </p:sp>
      <p:sp>
        <p:nvSpPr>
          <p:cNvPr id="53" name="Shape 51"/>
          <p:cNvSpPr/>
          <p:nvPr/>
        </p:nvSpPr>
        <p:spPr>
          <a:xfrm>
            <a:off x="548640" y="4517136"/>
            <a:ext cx="5440680" cy="914400"/>
          </a:xfrm>
          <a:prstGeom prst="roundRect">
            <a:avLst>
              <a:gd name="adj" fmla="val 5000"/>
            </a:avLst>
          </a:prstGeom>
          <a:solidFill>
            <a:srgbClr val="FBF1DF"/>
          </a:solidFill>
          <a:ln w="9525">
            <a:solidFill>
              <a:srgbClr val="B07407"/>
            </a:solidFill>
            <a:prstDash val="solid"/>
          </a:ln>
        </p:spPr>
      </p:sp>
      <p:sp>
        <p:nvSpPr>
          <p:cNvPr id="54" name="Text 52"/>
          <p:cNvSpPr txBox="1"/>
          <p:nvPr/>
        </p:nvSpPr>
        <p:spPr>
          <a:xfrm>
            <a:off x="749808" y="4608576"/>
            <a:ext cx="5038344" cy="274320"/>
          </a:xfrm>
          <a:prstGeom prst="rect">
            <a:avLst/>
          </a:prstGeom>
          <a:noFill/>
          <a:ln/>
        </p:spPr>
        <p:txBody>
          <a:bodyPr wrap="square" lIns="0" tIns="0" rIns="0" bIns="0" rtlCol="0" anchor="t"/>
          <a:lstStyle/>
          <a:p>
            <a:pPr marL="0" indent="0" algn="l">
              <a:lnSpc>
                <a:spcPct val="108000"/>
              </a:lnSpc>
              <a:buNone/>
            </a:pPr>
            <a:r>
              <a:rPr lang="en-US" sz="1250" b="1" dirty="0">
                <a:solidFill>
                  <a:srgbClr val="B07407"/>
                </a:solidFill>
                <a:latin typeface="Calibri" pitchFamily="34" charset="0"/>
                <a:ea typeface="Calibri" pitchFamily="34" charset="-122"/>
                <a:cs typeface="Calibri" pitchFamily="34" charset="-120"/>
              </a:rPr>
              <a:t>Deux écarts touchent la souveraineté</a:t>
            </a:r>
            <a:endParaRPr lang="en-US" sz="1250" dirty="0"/>
          </a:p>
        </p:txBody>
      </p:sp>
      <p:sp>
        <p:nvSpPr>
          <p:cNvPr id="55" name="Text 53"/>
          <p:cNvSpPr txBox="1"/>
          <p:nvPr/>
        </p:nvSpPr>
        <p:spPr>
          <a:xfrm>
            <a:off x="749808" y="4946904"/>
            <a:ext cx="5038344" cy="31089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Le stub n’est pas un LLM local, et rien ne corrige une réponse faible. Ce sont des fondations, pas des options.</a:t>
            </a:r>
            <a:endParaRPr lang="en-US" sz="1100" dirty="0"/>
          </a:p>
        </p:txBody>
      </p:sp>
      <p:sp>
        <p:nvSpPr>
          <p:cNvPr id="56" name="Shape 54"/>
          <p:cNvSpPr/>
          <p:nvPr/>
        </p:nvSpPr>
        <p:spPr>
          <a:xfrm>
            <a:off x="6172200" y="4471416"/>
            <a:ext cx="5440680" cy="914400"/>
          </a:xfrm>
          <a:prstGeom prst="roundRect">
            <a:avLst>
              <a:gd name="adj" fmla="val 5000"/>
            </a:avLst>
          </a:prstGeom>
          <a:solidFill>
            <a:srgbClr val="F3F6FA"/>
          </a:solidFill>
          <a:ln w="9525">
            <a:solidFill>
              <a:srgbClr val="D8E1EC"/>
            </a:solidFill>
            <a:prstDash val="solid"/>
          </a:ln>
        </p:spPr>
      </p:sp>
      <p:sp>
        <p:nvSpPr>
          <p:cNvPr id="57" name="Text 55"/>
          <p:cNvSpPr txBox="1"/>
          <p:nvPr/>
        </p:nvSpPr>
        <p:spPr>
          <a:xfrm>
            <a:off x="6373368" y="4608576"/>
            <a:ext cx="5038344" cy="274320"/>
          </a:xfrm>
          <a:prstGeom prst="rect">
            <a:avLst/>
          </a:prstGeom>
          <a:noFill/>
          <a:ln/>
        </p:spPr>
        <p:txBody>
          <a:bodyPr wrap="square" lIns="0" tIns="0" rIns="0" bIns="0" rtlCol="0" anchor="t"/>
          <a:lstStyle/>
          <a:p>
            <a:pPr marL="0" indent="0" algn="l">
              <a:lnSpc>
                <a:spcPct val="108000"/>
              </a:lnSpc>
              <a:buNone/>
            </a:pPr>
            <a:r>
              <a:rPr lang="en-US" sz="1250" b="1" dirty="0">
                <a:solidFill>
                  <a:srgbClr val="10243E"/>
                </a:solidFill>
                <a:latin typeface="Calibri" pitchFamily="34" charset="0"/>
                <a:ea typeface="Calibri" pitchFamily="34" charset="-122"/>
                <a:cs typeface="Calibri" pitchFamily="34" charset="-120"/>
              </a:rPr>
              <a:t>Trois écarts ne touchent que l’intégration</a:t>
            </a:r>
            <a:endParaRPr lang="en-US" sz="1250" dirty="0"/>
          </a:p>
        </p:txBody>
      </p:sp>
      <p:sp>
        <p:nvSpPr>
          <p:cNvPr id="58" name="Text 56"/>
          <p:cNvSpPr txBox="1"/>
          <p:nvPr/>
        </p:nvSpPr>
        <p:spPr>
          <a:xfrm>
            <a:off x="6373368" y="4946904"/>
            <a:ext cx="5038344" cy="31089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Skills backend, connecteurs, export PDF. Utiles, mais le parcours démontrable tient sans eux.</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19</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ARBITRAGES</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Huit décisions, et ce qu’elles ont coûté.</a:t>
            </a:r>
            <a:endParaRPr lang="en-US" sz="2700" dirty="0"/>
          </a:p>
        </p:txBody>
      </p:sp>
      <p:sp>
        <p:nvSpPr>
          <p:cNvPr id="5" name="Text 3"/>
          <p:cNvSpPr txBox="1"/>
          <p:nvPr/>
        </p:nvSpPr>
        <p:spPr>
          <a:xfrm>
            <a:off x="777240" y="1627632"/>
            <a:ext cx="3108960" cy="219456"/>
          </a:xfrm>
          <a:prstGeom prst="rect">
            <a:avLst/>
          </a:prstGeom>
          <a:noFill/>
          <a:ln/>
        </p:spPr>
        <p:txBody>
          <a:bodyPr wrap="square" lIns="0" tIns="0" rIns="0" bIns="0" rtlCol="0" anchor="t"/>
          <a:lstStyle/>
          <a:p>
            <a:pPr marL="0" indent="0" algn="l">
              <a:lnSpc>
                <a:spcPct val="108000"/>
              </a:lnSpc>
              <a:buNone/>
            </a:pPr>
            <a:r>
              <a:rPr lang="en-US" sz="900" b="1" kern="0" spc="140" dirty="0">
                <a:solidFill>
                  <a:srgbClr val="8697AB"/>
                </a:solidFill>
                <a:latin typeface="Calibri" pitchFamily="34" charset="0"/>
                <a:ea typeface="Calibri" pitchFamily="34" charset="-122"/>
                <a:cs typeface="Calibri" pitchFamily="34" charset="-120"/>
              </a:rPr>
              <a:t>DÉCISION</a:t>
            </a:r>
            <a:endParaRPr lang="en-US" sz="900" dirty="0"/>
          </a:p>
        </p:txBody>
      </p:sp>
      <p:sp>
        <p:nvSpPr>
          <p:cNvPr id="6" name="Text 4"/>
          <p:cNvSpPr txBox="1"/>
          <p:nvPr/>
        </p:nvSpPr>
        <p:spPr>
          <a:xfrm>
            <a:off x="3931920" y="1627632"/>
            <a:ext cx="2926080" cy="219456"/>
          </a:xfrm>
          <a:prstGeom prst="rect">
            <a:avLst/>
          </a:prstGeom>
          <a:noFill/>
          <a:ln/>
        </p:spPr>
        <p:txBody>
          <a:bodyPr wrap="square" lIns="0" tIns="0" rIns="0" bIns="0" rtlCol="0" anchor="t"/>
          <a:lstStyle/>
          <a:p>
            <a:pPr marL="0" indent="0" algn="l">
              <a:lnSpc>
                <a:spcPct val="108000"/>
              </a:lnSpc>
              <a:buNone/>
            </a:pPr>
            <a:r>
              <a:rPr lang="en-US" sz="900" b="1" kern="0" spc="140" dirty="0">
                <a:solidFill>
                  <a:srgbClr val="8697AB"/>
                </a:solidFill>
                <a:latin typeface="Calibri" pitchFamily="34" charset="0"/>
                <a:ea typeface="Calibri" pitchFamily="34" charset="-122"/>
                <a:cs typeface="Calibri" pitchFamily="34" charset="-120"/>
              </a:rPr>
              <a:t>POURQUOI</a:t>
            </a:r>
            <a:endParaRPr lang="en-US" sz="900" dirty="0"/>
          </a:p>
        </p:txBody>
      </p:sp>
      <p:sp>
        <p:nvSpPr>
          <p:cNvPr id="7" name="Text 5"/>
          <p:cNvSpPr txBox="1"/>
          <p:nvPr/>
        </p:nvSpPr>
        <p:spPr>
          <a:xfrm>
            <a:off x="6949440" y="1627632"/>
            <a:ext cx="4480560" cy="219456"/>
          </a:xfrm>
          <a:prstGeom prst="rect">
            <a:avLst/>
          </a:prstGeom>
          <a:noFill/>
          <a:ln/>
        </p:spPr>
        <p:txBody>
          <a:bodyPr wrap="square" lIns="0" tIns="0" rIns="0" bIns="0" rtlCol="0" anchor="t"/>
          <a:lstStyle/>
          <a:p>
            <a:pPr marL="0" indent="0" algn="l">
              <a:lnSpc>
                <a:spcPct val="108000"/>
              </a:lnSpc>
              <a:buNone/>
            </a:pPr>
            <a:r>
              <a:rPr lang="en-US" sz="900" b="1" kern="0" spc="140" dirty="0">
                <a:solidFill>
                  <a:srgbClr val="8697AB"/>
                </a:solidFill>
                <a:latin typeface="Calibri" pitchFamily="34" charset="0"/>
                <a:ea typeface="Calibri" pitchFamily="34" charset="-122"/>
                <a:cs typeface="Calibri" pitchFamily="34" charset="-120"/>
              </a:rPr>
              <a:t>CONTREPARTIE</a:t>
            </a:r>
            <a:endParaRPr lang="en-US" sz="900" dirty="0"/>
          </a:p>
        </p:txBody>
      </p:sp>
      <p:sp>
        <p:nvSpPr>
          <p:cNvPr id="8" name="Shape 6"/>
          <p:cNvSpPr/>
          <p:nvPr/>
        </p:nvSpPr>
        <p:spPr>
          <a:xfrm>
            <a:off x="548640" y="1901952"/>
            <a:ext cx="11064240" cy="457200"/>
          </a:xfrm>
          <a:prstGeom prst="roundRect">
            <a:avLst>
              <a:gd name="adj" fmla="val 10000"/>
            </a:avLst>
          </a:prstGeom>
          <a:solidFill>
            <a:srgbClr val="FFFFFF"/>
          </a:solidFill>
          <a:ln w="9525">
            <a:solidFill>
              <a:srgbClr val="FFFFFF"/>
            </a:solidFill>
            <a:prstDash val="solid"/>
          </a:ln>
        </p:spPr>
      </p:sp>
      <p:sp>
        <p:nvSpPr>
          <p:cNvPr id="9" name="Text 7"/>
          <p:cNvSpPr txBox="1"/>
          <p:nvPr/>
        </p:nvSpPr>
        <p:spPr>
          <a:xfrm>
            <a:off x="777240" y="1920240"/>
            <a:ext cx="3108960" cy="420624"/>
          </a:xfrm>
          <a:prstGeom prst="rect">
            <a:avLst/>
          </a:prstGeom>
          <a:noFill/>
          <a:ln/>
        </p:spPr>
        <p:txBody>
          <a:bodyPr wrap="square" lIns="0" tIns="0" rIns="0" bIns="0" rtlCol="0" anchor="ctr"/>
          <a:lstStyle/>
          <a:p>
            <a:pPr marL="0" indent="0" algn="l">
              <a:lnSpc>
                <a:spcPct val="100000"/>
              </a:lnSpc>
              <a:buNone/>
            </a:pPr>
            <a:r>
              <a:rPr lang="en-US" sz="1100" b="1" dirty="0">
                <a:solidFill>
                  <a:srgbClr val="10243E"/>
                </a:solidFill>
                <a:latin typeface="Calibri" pitchFamily="34" charset="0"/>
                <a:ea typeface="Calibri" pitchFamily="34" charset="-122"/>
                <a:cs typeface="Calibri" pitchFamily="34" charset="-120"/>
              </a:rPr>
              <a:t>SSE plutôt que WebSocket</a:t>
            </a:r>
            <a:endParaRPr lang="en-US" sz="1100" dirty="0"/>
          </a:p>
        </p:txBody>
      </p:sp>
      <p:sp>
        <p:nvSpPr>
          <p:cNvPr id="10" name="Text 8"/>
          <p:cNvSpPr txBox="1"/>
          <p:nvPr/>
        </p:nvSpPr>
        <p:spPr>
          <a:xfrm>
            <a:off x="3931920" y="1920240"/>
            <a:ext cx="2926080" cy="420624"/>
          </a:xfrm>
          <a:prstGeom prst="rect">
            <a:avLst/>
          </a:prstGeom>
          <a:noFill/>
          <a:ln/>
        </p:spPr>
        <p:txBody>
          <a:bodyPr wrap="square" lIns="0" tIns="0" rIns="0" bIns="0" rtlCol="0" anchor="ctr"/>
          <a:lstStyle/>
          <a:p>
            <a:pPr marL="0" indent="0" algn="l">
              <a:lnSpc>
                <a:spcPct val="100000"/>
              </a:lnSpc>
              <a:buNone/>
            </a:pPr>
            <a:r>
              <a:rPr lang="en-US" sz="1050" dirty="0">
                <a:solidFill>
                  <a:srgbClr val="0E8A6A"/>
                </a:solidFill>
                <a:latin typeface="Calibri" pitchFamily="34" charset="0"/>
                <a:ea typeface="Calibri" pitchFamily="34" charset="-122"/>
                <a:cs typeface="Calibri" pitchFamily="34" charset="-120"/>
              </a:rPr>
              <a:t>Événements typés, proxy trivial</a:t>
            </a:r>
            <a:endParaRPr lang="en-US" sz="1050" dirty="0"/>
          </a:p>
        </p:txBody>
      </p:sp>
      <p:sp>
        <p:nvSpPr>
          <p:cNvPr id="11" name="Text 9"/>
          <p:cNvSpPr txBox="1"/>
          <p:nvPr/>
        </p:nvSpPr>
        <p:spPr>
          <a:xfrm>
            <a:off x="6949440" y="1920240"/>
            <a:ext cx="4480560" cy="420624"/>
          </a:xfrm>
          <a:prstGeom prst="rect">
            <a:avLst/>
          </a:prstGeom>
          <a:noFill/>
          <a:ln/>
        </p:spPr>
        <p:txBody>
          <a:bodyPr wrap="square" lIns="0" tIns="0" rIns="0" bIns="0" rtlCol="0" anchor="ctr"/>
          <a:lstStyle/>
          <a:p>
            <a:pPr marL="0" indent="0" algn="l">
              <a:lnSpc>
                <a:spcPct val="100000"/>
              </a:lnSpc>
              <a:buNone/>
            </a:pPr>
            <a:r>
              <a:rPr lang="en-US" sz="1050" dirty="0">
                <a:solidFill>
                  <a:srgbClr val="3F546B"/>
                </a:solidFill>
                <a:latin typeface="Calibri" pitchFamily="34" charset="0"/>
                <a:ea typeface="Calibri" pitchFamily="34" charset="-122"/>
                <a:cs typeface="Calibri" pitchFamily="34" charset="-120"/>
              </a:rPr>
              <a:t>Pas de duplex</a:t>
            </a:r>
            <a:endParaRPr lang="en-US" sz="1050" dirty="0"/>
          </a:p>
        </p:txBody>
      </p:sp>
      <p:sp>
        <p:nvSpPr>
          <p:cNvPr id="12" name="Shape 10"/>
          <p:cNvSpPr/>
          <p:nvPr/>
        </p:nvSpPr>
        <p:spPr>
          <a:xfrm>
            <a:off x="548640" y="2432304"/>
            <a:ext cx="11064240" cy="457200"/>
          </a:xfrm>
          <a:prstGeom prst="roundRect">
            <a:avLst>
              <a:gd name="adj" fmla="val 10000"/>
            </a:avLst>
          </a:prstGeom>
          <a:solidFill>
            <a:srgbClr val="F3F6FA"/>
          </a:solidFill>
          <a:ln w="9525">
            <a:solidFill>
              <a:srgbClr val="D8E1EC"/>
            </a:solidFill>
            <a:prstDash val="solid"/>
          </a:ln>
        </p:spPr>
      </p:sp>
      <p:sp>
        <p:nvSpPr>
          <p:cNvPr id="13" name="Text 11"/>
          <p:cNvSpPr txBox="1"/>
          <p:nvPr/>
        </p:nvSpPr>
        <p:spPr>
          <a:xfrm>
            <a:off x="777240" y="2450592"/>
            <a:ext cx="3108960" cy="420624"/>
          </a:xfrm>
          <a:prstGeom prst="rect">
            <a:avLst/>
          </a:prstGeom>
          <a:noFill/>
          <a:ln/>
        </p:spPr>
        <p:txBody>
          <a:bodyPr wrap="square" lIns="0" tIns="0" rIns="0" bIns="0" rtlCol="0" anchor="ctr"/>
          <a:lstStyle/>
          <a:p>
            <a:pPr marL="0" indent="0" algn="l">
              <a:lnSpc>
                <a:spcPct val="100000"/>
              </a:lnSpc>
              <a:buNone/>
            </a:pPr>
            <a:r>
              <a:rPr lang="en-US" sz="1100" b="1" dirty="0">
                <a:solidFill>
                  <a:srgbClr val="10243E"/>
                </a:solidFill>
                <a:latin typeface="Calibri" pitchFamily="34" charset="0"/>
                <a:ea typeface="Calibri" pitchFamily="34" charset="-122"/>
                <a:cs typeface="Calibri" pitchFamily="34" charset="-120"/>
              </a:rPr>
              <a:t>Stub plutôt qu’Ollama en MVP</a:t>
            </a:r>
            <a:endParaRPr lang="en-US" sz="1100" dirty="0"/>
          </a:p>
        </p:txBody>
      </p:sp>
      <p:sp>
        <p:nvSpPr>
          <p:cNvPr id="14" name="Text 12"/>
          <p:cNvSpPr txBox="1"/>
          <p:nvPr/>
        </p:nvSpPr>
        <p:spPr>
          <a:xfrm>
            <a:off x="3931920" y="2450592"/>
            <a:ext cx="2926080" cy="420624"/>
          </a:xfrm>
          <a:prstGeom prst="rect">
            <a:avLst/>
          </a:prstGeom>
          <a:noFill/>
          <a:ln/>
        </p:spPr>
        <p:txBody>
          <a:bodyPr wrap="square" lIns="0" tIns="0" rIns="0" bIns="0" rtlCol="0" anchor="ctr"/>
          <a:lstStyle/>
          <a:p>
            <a:pPr marL="0" indent="0" algn="l">
              <a:lnSpc>
                <a:spcPct val="100000"/>
              </a:lnSpc>
              <a:buNone/>
            </a:pPr>
            <a:r>
              <a:rPr lang="en-US" sz="1050" dirty="0">
                <a:solidFill>
                  <a:srgbClr val="0E8A6A"/>
                </a:solidFill>
                <a:latin typeface="Calibri" pitchFamily="34" charset="0"/>
                <a:ea typeface="Calibri" pitchFamily="34" charset="-122"/>
                <a:cs typeface="Calibri" pitchFamily="34" charset="-120"/>
              </a:rPr>
              <a:t>Zéro GPU, déterministe</a:t>
            </a:r>
            <a:endParaRPr lang="en-US" sz="1050" dirty="0"/>
          </a:p>
        </p:txBody>
      </p:sp>
      <p:sp>
        <p:nvSpPr>
          <p:cNvPr id="15" name="Text 13"/>
          <p:cNvSpPr txBox="1"/>
          <p:nvPr/>
        </p:nvSpPr>
        <p:spPr>
          <a:xfrm>
            <a:off x="6949440" y="2450592"/>
            <a:ext cx="4480560" cy="420624"/>
          </a:xfrm>
          <a:prstGeom prst="rect">
            <a:avLst/>
          </a:prstGeom>
          <a:noFill/>
          <a:ln/>
        </p:spPr>
        <p:txBody>
          <a:bodyPr wrap="square" lIns="0" tIns="0" rIns="0" bIns="0" rtlCol="0" anchor="ctr"/>
          <a:lstStyle/>
          <a:p>
            <a:pPr marL="0" indent="0" algn="l">
              <a:lnSpc>
                <a:spcPct val="100000"/>
              </a:lnSpc>
              <a:buNone/>
            </a:pPr>
            <a:r>
              <a:rPr lang="en-US" sz="1050" dirty="0">
                <a:solidFill>
                  <a:srgbClr val="3F546B"/>
                </a:solidFill>
                <a:latin typeface="Calibri" pitchFamily="34" charset="0"/>
                <a:ea typeface="Calibri" pitchFamily="34" charset="-122"/>
                <a:cs typeface="Calibri" pitchFamily="34" charset="-120"/>
              </a:rPr>
              <a:t>Le chemin confidentiel ne répond pas vraiment</a:t>
            </a:r>
            <a:endParaRPr lang="en-US" sz="1050" dirty="0"/>
          </a:p>
        </p:txBody>
      </p:sp>
      <p:sp>
        <p:nvSpPr>
          <p:cNvPr id="16" name="Shape 14"/>
          <p:cNvSpPr/>
          <p:nvPr/>
        </p:nvSpPr>
        <p:spPr>
          <a:xfrm>
            <a:off x="548640" y="2962656"/>
            <a:ext cx="11064240" cy="457200"/>
          </a:xfrm>
          <a:prstGeom prst="roundRect">
            <a:avLst>
              <a:gd name="adj" fmla="val 10000"/>
            </a:avLst>
          </a:prstGeom>
          <a:solidFill>
            <a:srgbClr val="FFFFFF"/>
          </a:solidFill>
          <a:ln w="9525">
            <a:solidFill>
              <a:srgbClr val="FFFFFF"/>
            </a:solidFill>
            <a:prstDash val="solid"/>
          </a:ln>
        </p:spPr>
      </p:sp>
      <p:sp>
        <p:nvSpPr>
          <p:cNvPr id="17" name="Text 15"/>
          <p:cNvSpPr txBox="1"/>
          <p:nvPr/>
        </p:nvSpPr>
        <p:spPr>
          <a:xfrm>
            <a:off x="777240" y="2980944"/>
            <a:ext cx="3108960" cy="420624"/>
          </a:xfrm>
          <a:prstGeom prst="rect">
            <a:avLst/>
          </a:prstGeom>
          <a:noFill/>
          <a:ln/>
        </p:spPr>
        <p:txBody>
          <a:bodyPr wrap="square" lIns="0" tIns="0" rIns="0" bIns="0" rtlCol="0" anchor="ctr"/>
          <a:lstStyle/>
          <a:p>
            <a:pPr marL="0" indent="0" algn="l">
              <a:lnSpc>
                <a:spcPct val="100000"/>
              </a:lnSpc>
              <a:buNone/>
            </a:pPr>
            <a:r>
              <a:rPr lang="en-US" sz="1100" b="1" dirty="0">
                <a:solidFill>
                  <a:srgbClr val="10243E"/>
                </a:solidFill>
                <a:latin typeface="Calibri" pitchFamily="34" charset="0"/>
                <a:ea typeface="Calibri" pitchFamily="34" charset="-122"/>
                <a:cs typeface="Calibri" pitchFamily="34" charset="-120"/>
              </a:rPr>
              <a:t>RAG hybride + FlashRank CPU</a:t>
            </a:r>
            <a:endParaRPr lang="en-US" sz="1100" dirty="0"/>
          </a:p>
        </p:txBody>
      </p:sp>
      <p:sp>
        <p:nvSpPr>
          <p:cNvPr id="18" name="Text 16"/>
          <p:cNvSpPr txBox="1"/>
          <p:nvPr/>
        </p:nvSpPr>
        <p:spPr>
          <a:xfrm>
            <a:off x="3931920" y="2980944"/>
            <a:ext cx="2926080" cy="420624"/>
          </a:xfrm>
          <a:prstGeom prst="rect">
            <a:avLst/>
          </a:prstGeom>
          <a:noFill/>
          <a:ln/>
        </p:spPr>
        <p:txBody>
          <a:bodyPr wrap="square" lIns="0" tIns="0" rIns="0" bIns="0" rtlCol="0" anchor="ctr"/>
          <a:lstStyle/>
          <a:p>
            <a:pPr marL="0" indent="0" algn="l">
              <a:lnSpc>
                <a:spcPct val="100000"/>
              </a:lnSpc>
              <a:buNone/>
            </a:pPr>
            <a:r>
              <a:rPr lang="en-US" sz="1050" dirty="0">
                <a:solidFill>
                  <a:srgbClr val="0E8A6A"/>
                </a:solidFill>
                <a:latin typeface="Calibri" pitchFamily="34" charset="0"/>
                <a:ea typeface="Calibri" pitchFamily="34" charset="-122"/>
                <a:cs typeface="Calibri" pitchFamily="34" charset="-120"/>
              </a:rPr>
              <a:t>Tient sur Supabase Free</a:t>
            </a:r>
            <a:endParaRPr lang="en-US" sz="1050" dirty="0"/>
          </a:p>
        </p:txBody>
      </p:sp>
      <p:sp>
        <p:nvSpPr>
          <p:cNvPr id="19" name="Text 17"/>
          <p:cNvSpPr txBox="1"/>
          <p:nvPr/>
        </p:nvSpPr>
        <p:spPr>
          <a:xfrm>
            <a:off x="6949440" y="2980944"/>
            <a:ext cx="4480560" cy="420624"/>
          </a:xfrm>
          <a:prstGeom prst="rect">
            <a:avLst/>
          </a:prstGeom>
          <a:noFill/>
          <a:ln/>
        </p:spPr>
        <p:txBody>
          <a:bodyPr wrap="square" lIns="0" tIns="0" rIns="0" bIns="0" rtlCol="0" anchor="ctr"/>
          <a:lstStyle/>
          <a:p>
            <a:pPr marL="0" indent="0" algn="l">
              <a:lnSpc>
                <a:spcPct val="100000"/>
              </a:lnSpc>
              <a:buNone/>
            </a:pPr>
            <a:r>
              <a:rPr lang="en-US" sz="1050" dirty="0">
                <a:solidFill>
                  <a:srgbClr val="3F546B"/>
                </a:solidFill>
                <a:latin typeface="Calibri" pitchFamily="34" charset="0"/>
                <a:ea typeface="Calibri" pitchFamily="34" charset="-122"/>
                <a:cs typeface="Calibri" pitchFamily="34" charset="-120"/>
              </a:rPr>
              <a:t>Rerank lent sur gros corpus</a:t>
            </a:r>
            <a:endParaRPr lang="en-US" sz="1050" dirty="0"/>
          </a:p>
        </p:txBody>
      </p:sp>
      <p:sp>
        <p:nvSpPr>
          <p:cNvPr id="20" name="Shape 18"/>
          <p:cNvSpPr/>
          <p:nvPr/>
        </p:nvSpPr>
        <p:spPr>
          <a:xfrm>
            <a:off x="548640" y="3493008"/>
            <a:ext cx="11064240" cy="457200"/>
          </a:xfrm>
          <a:prstGeom prst="roundRect">
            <a:avLst>
              <a:gd name="adj" fmla="val 10000"/>
            </a:avLst>
          </a:prstGeom>
          <a:solidFill>
            <a:srgbClr val="F3F6FA"/>
          </a:solidFill>
          <a:ln w="9525">
            <a:solidFill>
              <a:srgbClr val="D8E1EC"/>
            </a:solidFill>
            <a:prstDash val="solid"/>
          </a:ln>
        </p:spPr>
      </p:sp>
      <p:sp>
        <p:nvSpPr>
          <p:cNvPr id="21" name="Text 19"/>
          <p:cNvSpPr txBox="1"/>
          <p:nvPr/>
        </p:nvSpPr>
        <p:spPr>
          <a:xfrm>
            <a:off x="777240" y="3511296"/>
            <a:ext cx="3108960" cy="420624"/>
          </a:xfrm>
          <a:prstGeom prst="rect">
            <a:avLst/>
          </a:prstGeom>
          <a:noFill/>
          <a:ln/>
        </p:spPr>
        <p:txBody>
          <a:bodyPr wrap="square" lIns="0" tIns="0" rIns="0" bIns="0" rtlCol="0" anchor="ctr"/>
          <a:lstStyle/>
          <a:p>
            <a:pPr marL="0" indent="0" algn="l">
              <a:lnSpc>
                <a:spcPct val="100000"/>
              </a:lnSpc>
              <a:buNone/>
            </a:pPr>
            <a:r>
              <a:rPr lang="en-US" sz="1100" b="1" dirty="0">
                <a:solidFill>
                  <a:srgbClr val="10243E"/>
                </a:solidFill>
                <a:latin typeface="Calibri" pitchFamily="34" charset="0"/>
                <a:ea typeface="Calibri" pitchFamily="34" charset="-122"/>
                <a:cs typeface="Calibri" pitchFamily="34" charset="-120"/>
              </a:rPr>
              <a:t>Mapping phase → modèle</a:t>
            </a:r>
            <a:endParaRPr lang="en-US" sz="1100" dirty="0"/>
          </a:p>
        </p:txBody>
      </p:sp>
      <p:sp>
        <p:nvSpPr>
          <p:cNvPr id="22" name="Text 20"/>
          <p:cNvSpPr txBox="1"/>
          <p:nvPr/>
        </p:nvSpPr>
        <p:spPr>
          <a:xfrm>
            <a:off x="3931920" y="3511296"/>
            <a:ext cx="2926080" cy="420624"/>
          </a:xfrm>
          <a:prstGeom prst="rect">
            <a:avLst/>
          </a:prstGeom>
          <a:noFill/>
          <a:ln/>
        </p:spPr>
        <p:txBody>
          <a:bodyPr wrap="square" lIns="0" tIns="0" rIns="0" bIns="0" rtlCol="0" anchor="ctr"/>
          <a:lstStyle/>
          <a:p>
            <a:pPr marL="0" indent="0" algn="l">
              <a:lnSpc>
                <a:spcPct val="100000"/>
              </a:lnSpc>
              <a:buNone/>
            </a:pPr>
            <a:r>
              <a:rPr lang="en-US" sz="1050" dirty="0">
                <a:solidFill>
                  <a:srgbClr val="0E8A6A"/>
                </a:solidFill>
                <a:latin typeface="Calibri" pitchFamily="34" charset="0"/>
                <a:ea typeface="Calibri" pitchFamily="34" charset="-122"/>
                <a:cs typeface="Calibri" pitchFamily="34" charset="-120"/>
              </a:rPr>
              <a:t>Le bon outil par tâche</a:t>
            </a:r>
            <a:endParaRPr lang="en-US" sz="1050" dirty="0"/>
          </a:p>
        </p:txBody>
      </p:sp>
      <p:sp>
        <p:nvSpPr>
          <p:cNvPr id="23" name="Text 21"/>
          <p:cNvSpPr txBox="1"/>
          <p:nvPr/>
        </p:nvSpPr>
        <p:spPr>
          <a:xfrm>
            <a:off x="6949440" y="3511296"/>
            <a:ext cx="4480560" cy="420624"/>
          </a:xfrm>
          <a:prstGeom prst="rect">
            <a:avLst/>
          </a:prstGeom>
          <a:noFill/>
          <a:ln/>
        </p:spPr>
        <p:txBody>
          <a:bodyPr wrap="square" lIns="0" tIns="0" rIns="0" bIns="0" rtlCol="0" anchor="ctr"/>
          <a:lstStyle/>
          <a:p>
            <a:pPr marL="0" indent="0" algn="l">
              <a:lnSpc>
                <a:spcPct val="100000"/>
              </a:lnSpc>
              <a:buNone/>
            </a:pPr>
            <a:r>
              <a:rPr lang="en-US" sz="1050" dirty="0">
                <a:solidFill>
                  <a:srgbClr val="3F546B"/>
                </a:solidFill>
                <a:latin typeface="Calibri" pitchFamily="34" charset="0"/>
                <a:ea typeface="Calibri" pitchFamily="34" charset="-122"/>
                <a:cs typeface="Calibri" pitchFamily="34" charset="-120"/>
              </a:rPr>
              <a:t>Table à maintenir</a:t>
            </a:r>
            <a:endParaRPr lang="en-US" sz="1050" dirty="0"/>
          </a:p>
        </p:txBody>
      </p:sp>
      <p:sp>
        <p:nvSpPr>
          <p:cNvPr id="24" name="Shape 22"/>
          <p:cNvSpPr/>
          <p:nvPr/>
        </p:nvSpPr>
        <p:spPr>
          <a:xfrm>
            <a:off x="548640" y="4023360"/>
            <a:ext cx="11064240" cy="457200"/>
          </a:xfrm>
          <a:prstGeom prst="roundRect">
            <a:avLst>
              <a:gd name="adj" fmla="val 10000"/>
            </a:avLst>
          </a:prstGeom>
          <a:solidFill>
            <a:srgbClr val="FFFFFF"/>
          </a:solidFill>
          <a:ln w="9525">
            <a:solidFill>
              <a:srgbClr val="FFFFFF"/>
            </a:solidFill>
            <a:prstDash val="solid"/>
          </a:ln>
        </p:spPr>
      </p:sp>
      <p:sp>
        <p:nvSpPr>
          <p:cNvPr id="25" name="Text 23"/>
          <p:cNvSpPr txBox="1"/>
          <p:nvPr/>
        </p:nvSpPr>
        <p:spPr>
          <a:xfrm>
            <a:off x="777240" y="4041648"/>
            <a:ext cx="3108960" cy="420624"/>
          </a:xfrm>
          <a:prstGeom prst="rect">
            <a:avLst/>
          </a:prstGeom>
          <a:noFill/>
          <a:ln/>
        </p:spPr>
        <p:txBody>
          <a:bodyPr wrap="square" lIns="0" tIns="0" rIns="0" bIns="0" rtlCol="0" anchor="ctr"/>
          <a:lstStyle/>
          <a:p>
            <a:pPr marL="0" indent="0" algn="l">
              <a:lnSpc>
                <a:spcPct val="100000"/>
              </a:lnSpc>
              <a:buNone/>
            </a:pPr>
            <a:r>
              <a:rPr lang="en-US" sz="1100" b="1" dirty="0">
                <a:solidFill>
                  <a:srgbClr val="10243E"/>
                </a:solidFill>
                <a:latin typeface="Calibri" pitchFamily="34" charset="0"/>
                <a:ea typeface="Calibri" pitchFamily="34" charset="-122"/>
                <a:cs typeface="Calibri" pitchFamily="34" charset="-120"/>
              </a:rPr>
              <a:t>Execute Phase sans auto-send</a:t>
            </a:r>
            <a:endParaRPr lang="en-US" sz="1100" dirty="0"/>
          </a:p>
        </p:txBody>
      </p:sp>
      <p:sp>
        <p:nvSpPr>
          <p:cNvPr id="26" name="Text 24"/>
          <p:cNvSpPr txBox="1"/>
          <p:nvPr/>
        </p:nvSpPr>
        <p:spPr>
          <a:xfrm>
            <a:off x="3931920" y="4041648"/>
            <a:ext cx="2926080" cy="420624"/>
          </a:xfrm>
          <a:prstGeom prst="rect">
            <a:avLst/>
          </a:prstGeom>
          <a:noFill/>
          <a:ln/>
        </p:spPr>
        <p:txBody>
          <a:bodyPr wrap="square" lIns="0" tIns="0" rIns="0" bIns="0" rtlCol="0" anchor="ctr"/>
          <a:lstStyle/>
          <a:p>
            <a:pPr marL="0" indent="0" algn="l">
              <a:lnSpc>
                <a:spcPct val="100000"/>
              </a:lnSpc>
              <a:buNone/>
            </a:pPr>
            <a:r>
              <a:rPr lang="en-US" sz="1050" dirty="0">
                <a:solidFill>
                  <a:srgbClr val="0E8A6A"/>
                </a:solidFill>
                <a:latin typeface="Calibri" pitchFamily="34" charset="0"/>
                <a:ea typeface="Calibri" pitchFamily="34" charset="-122"/>
                <a:cs typeface="Calibri" pitchFamily="34" charset="-120"/>
              </a:rPr>
              <a:t>L’humain relit</a:t>
            </a:r>
            <a:endParaRPr lang="en-US" sz="1050" dirty="0"/>
          </a:p>
        </p:txBody>
      </p:sp>
      <p:sp>
        <p:nvSpPr>
          <p:cNvPr id="27" name="Text 25"/>
          <p:cNvSpPr txBox="1"/>
          <p:nvPr/>
        </p:nvSpPr>
        <p:spPr>
          <a:xfrm>
            <a:off x="6949440" y="4041648"/>
            <a:ext cx="4480560" cy="420624"/>
          </a:xfrm>
          <a:prstGeom prst="rect">
            <a:avLst/>
          </a:prstGeom>
          <a:noFill/>
          <a:ln/>
        </p:spPr>
        <p:txBody>
          <a:bodyPr wrap="square" lIns="0" tIns="0" rIns="0" bIns="0" rtlCol="0" anchor="ctr"/>
          <a:lstStyle/>
          <a:p>
            <a:pPr marL="0" indent="0" algn="l">
              <a:lnSpc>
                <a:spcPct val="100000"/>
              </a:lnSpc>
              <a:buNone/>
            </a:pPr>
            <a:r>
              <a:rPr lang="en-US" sz="1050" dirty="0">
                <a:solidFill>
                  <a:srgbClr val="3F546B"/>
                </a:solidFill>
                <a:latin typeface="Calibri" pitchFamily="34" charset="0"/>
                <a:ea typeface="Calibri" pitchFamily="34" charset="-122"/>
                <a:cs typeface="Calibri" pitchFamily="34" charset="-120"/>
              </a:rPr>
              <a:t>Un clic de plus</a:t>
            </a:r>
            <a:endParaRPr lang="en-US" sz="1050" dirty="0"/>
          </a:p>
        </p:txBody>
      </p:sp>
      <p:sp>
        <p:nvSpPr>
          <p:cNvPr id="28" name="Shape 26"/>
          <p:cNvSpPr/>
          <p:nvPr/>
        </p:nvSpPr>
        <p:spPr>
          <a:xfrm>
            <a:off x="548640" y="4553712"/>
            <a:ext cx="11064240" cy="457200"/>
          </a:xfrm>
          <a:prstGeom prst="roundRect">
            <a:avLst>
              <a:gd name="adj" fmla="val 10000"/>
            </a:avLst>
          </a:prstGeom>
          <a:solidFill>
            <a:srgbClr val="F3F6FA"/>
          </a:solidFill>
          <a:ln w="9525">
            <a:solidFill>
              <a:srgbClr val="D8E1EC"/>
            </a:solidFill>
            <a:prstDash val="solid"/>
          </a:ln>
        </p:spPr>
      </p:sp>
      <p:sp>
        <p:nvSpPr>
          <p:cNvPr id="29" name="Text 27"/>
          <p:cNvSpPr txBox="1"/>
          <p:nvPr/>
        </p:nvSpPr>
        <p:spPr>
          <a:xfrm>
            <a:off x="777240" y="4572000"/>
            <a:ext cx="3108960" cy="420624"/>
          </a:xfrm>
          <a:prstGeom prst="rect">
            <a:avLst/>
          </a:prstGeom>
          <a:noFill/>
          <a:ln/>
        </p:spPr>
        <p:txBody>
          <a:bodyPr wrap="square" lIns="0" tIns="0" rIns="0" bIns="0" rtlCol="0" anchor="ctr"/>
          <a:lstStyle/>
          <a:p>
            <a:pPr marL="0" indent="0" algn="l">
              <a:lnSpc>
                <a:spcPct val="100000"/>
              </a:lnSpc>
              <a:buNone/>
            </a:pPr>
            <a:r>
              <a:rPr lang="en-US" sz="1100" b="1" dirty="0">
                <a:solidFill>
                  <a:srgbClr val="10243E"/>
                </a:solidFill>
                <a:latin typeface="Calibri" pitchFamily="34" charset="0"/>
                <a:ea typeface="Calibri" pitchFamily="34" charset="-122"/>
                <a:cs typeface="Calibri" pitchFamily="34" charset="-120"/>
              </a:rPr>
              <a:t>DOCX / ZIP / MD, pas de PDF</a:t>
            </a:r>
            <a:endParaRPr lang="en-US" sz="1100" dirty="0"/>
          </a:p>
        </p:txBody>
      </p:sp>
      <p:sp>
        <p:nvSpPr>
          <p:cNvPr id="30" name="Text 28"/>
          <p:cNvSpPr txBox="1"/>
          <p:nvPr/>
        </p:nvSpPr>
        <p:spPr>
          <a:xfrm>
            <a:off x="3931920" y="4572000"/>
            <a:ext cx="2926080" cy="420624"/>
          </a:xfrm>
          <a:prstGeom prst="rect">
            <a:avLst/>
          </a:prstGeom>
          <a:noFill/>
          <a:ln/>
        </p:spPr>
        <p:txBody>
          <a:bodyPr wrap="square" lIns="0" tIns="0" rIns="0" bIns="0" rtlCol="0" anchor="ctr"/>
          <a:lstStyle/>
          <a:p>
            <a:pPr marL="0" indent="0" algn="l">
              <a:lnSpc>
                <a:spcPct val="100000"/>
              </a:lnSpc>
              <a:buNone/>
            </a:pPr>
            <a:r>
              <a:rPr lang="en-US" sz="1050" dirty="0">
                <a:solidFill>
                  <a:srgbClr val="0E8A6A"/>
                </a:solidFill>
                <a:latin typeface="Calibri" pitchFamily="34" charset="0"/>
                <a:ea typeface="Calibri" pitchFamily="34" charset="-122"/>
                <a:cs typeface="Calibri" pitchFamily="34" charset="-120"/>
              </a:rPr>
              <a:t>Périmètre tenu</a:t>
            </a:r>
            <a:endParaRPr lang="en-US" sz="1050" dirty="0"/>
          </a:p>
        </p:txBody>
      </p:sp>
      <p:sp>
        <p:nvSpPr>
          <p:cNvPr id="31" name="Text 29"/>
          <p:cNvSpPr txBox="1"/>
          <p:nvPr/>
        </p:nvSpPr>
        <p:spPr>
          <a:xfrm>
            <a:off x="6949440" y="4572000"/>
            <a:ext cx="4480560" cy="420624"/>
          </a:xfrm>
          <a:prstGeom prst="rect">
            <a:avLst/>
          </a:prstGeom>
          <a:noFill/>
          <a:ln/>
        </p:spPr>
        <p:txBody>
          <a:bodyPr wrap="square" lIns="0" tIns="0" rIns="0" bIns="0" rtlCol="0" anchor="ctr"/>
          <a:lstStyle/>
          <a:p>
            <a:pPr marL="0" indent="0" algn="l">
              <a:lnSpc>
                <a:spcPct val="100000"/>
              </a:lnSpc>
              <a:buNone/>
            </a:pPr>
            <a:r>
              <a:rPr lang="en-US" sz="1050" dirty="0">
                <a:solidFill>
                  <a:srgbClr val="3F546B"/>
                </a:solidFill>
                <a:latin typeface="Calibri" pitchFamily="34" charset="0"/>
                <a:ea typeface="Calibri" pitchFamily="34" charset="-122"/>
                <a:cs typeface="Calibri" pitchFamily="34" charset="-120"/>
              </a:rPr>
              <a:t>Conversion manuelle si exigée</a:t>
            </a:r>
            <a:endParaRPr lang="en-US" sz="1050" dirty="0"/>
          </a:p>
        </p:txBody>
      </p:sp>
      <p:sp>
        <p:nvSpPr>
          <p:cNvPr id="32" name="Shape 30"/>
          <p:cNvSpPr/>
          <p:nvPr/>
        </p:nvSpPr>
        <p:spPr>
          <a:xfrm>
            <a:off x="548640" y="5084064"/>
            <a:ext cx="11064240" cy="457200"/>
          </a:xfrm>
          <a:prstGeom prst="roundRect">
            <a:avLst>
              <a:gd name="adj" fmla="val 10000"/>
            </a:avLst>
          </a:prstGeom>
          <a:solidFill>
            <a:srgbClr val="FFFFFF"/>
          </a:solidFill>
          <a:ln w="9525">
            <a:solidFill>
              <a:srgbClr val="FFFFFF"/>
            </a:solidFill>
            <a:prstDash val="solid"/>
          </a:ln>
        </p:spPr>
      </p:sp>
      <p:sp>
        <p:nvSpPr>
          <p:cNvPr id="33" name="Text 31"/>
          <p:cNvSpPr txBox="1"/>
          <p:nvPr/>
        </p:nvSpPr>
        <p:spPr>
          <a:xfrm>
            <a:off x="777240" y="5102352"/>
            <a:ext cx="3108960" cy="420624"/>
          </a:xfrm>
          <a:prstGeom prst="rect">
            <a:avLst/>
          </a:prstGeom>
          <a:noFill/>
          <a:ln/>
        </p:spPr>
        <p:txBody>
          <a:bodyPr wrap="square" lIns="0" tIns="0" rIns="0" bIns="0" rtlCol="0" anchor="ctr"/>
          <a:lstStyle/>
          <a:p>
            <a:pPr marL="0" indent="0" algn="l">
              <a:lnSpc>
                <a:spcPct val="100000"/>
              </a:lnSpc>
              <a:buNone/>
            </a:pPr>
            <a:r>
              <a:rPr lang="en-US" sz="1100" b="1" dirty="0">
                <a:solidFill>
                  <a:srgbClr val="10243E"/>
                </a:solidFill>
                <a:latin typeface="Calibri" pitchFamily="34" charset="0"/>
                <a:ea typeface="Calibri" pitchFamily="34" charset="-122"/>
                <a:cs typeface="Calibri" pitchFamily="34" charset="-120"/>
              </a:rPr>
              <a:t>Bypass E2E Bearer e2e</a:t>
            </a:r>
            <a:endParaRPr lang="en-US" sz="1100" dirty="0"/>
          </a:p>
        </p:txBody>
      </p:sp>
      <p:sp>
        <p:nvSpPr>
          <p:cNvPr id="34" name="Text 32"/>
          <p:cNvSpPr txBox="1"/>
          <p:nvPr/>
        </p:nvSpPr>
        <p:spPr>
          <a:xfrm>
            <a:off x="3931920" y="5102352"/>
            <a:ext cx="2926080" cy="420624"/>
          </a:xfrm>
          <a:prstGeom prst="rect">
            <a:avLst/>
          </a:prstGeom>
          <a:noFill/>
          <a:ln/>
        </p:spPr>
        <p:txBody>
          <a:bodyPr wrap="square" lIns="0" tIns="0" rIns="0" bIns="0" rtlCol="0" anchor="ctr"/>
          <a:lstStyle/>
          <a:p>
            <a:pPr marL="0" indent="0" algn="l">
              <a:lnSpc>
                <a:spcPct val="100000"/>
              </a:lnSpc>
              <a:buNone/>
            </a:pPr>
            <a:r>
              <a:rPr lang="en-US" sz="1050" dirty="0">
                <a:solidFill>
                  <a:srgbClr val="0E8A6A"/>
                </a:solidFill>
                <a:latin typeface="Calibri" pitchFamily="34" charset="0"/>
                <a:ea typeface="Calibri" pitchFamily="34" charset="-122"/>
                <a:cs typeface="Calibri" pitchFamily="34" charset="-120"/>
              </a:rPr>
              <a:t>Démos sans secrets</a:t>
            </a:r>
            <a:endParaRPr lang="en-US" sz="1050" dirty="0"/>
          </a:p>
        </p:txBody>
      </p:sp>
      <p:sp>
        <p:nvSpPr>
          <p:cNvPr id="35" name="Text 33"/>
          <p:cNvSpPr txBox="1"/>
          <p:nvPr/>
        </p:nvSpPr>
        <p:spPr>
          <a:xfrm>
            <a:off x="6949440" y="5102352"/>
            <a:ext cx="4480560" cy="420624"/>
          </a:xfrm>
          <a:prstGeom prst="rect">
            <a:avLst/>
          </a:prstGeom>
          <a:noFill/>
          <a:ln/>
        </p:spPr>
        <p:txBody>
          <a:bodyPr wrap="square" lIns="0" tIns="0" rIns="0" bIns="0" rtlCol="0" anchor="ctr"/>
          <a:lstStyle/>
          <a:p>
            <a:pPr marL="0" indent="0" algn="l">
              <a:lnSpc>
                <a:spcPct val="100000"/>
              </a:lnSpc>
              <a:buNone/>
            </a:pPr>
            <a:r>
              <a:rPr lang="en-US" sz="1050" dirty="0">
                <a:solidFill>
                  <a:srgbClr val="3F546B"/>
                </a:solidFill>
                <a:latin typeface="Calibri" pitchFamily="34" charset="0"/>
                <a:ea typeface="Calibri" pitchFamily="34" charset="-122"/>
                <a:cs typeface="Calibri" pitchFamily="34" charset="-120"/>
              </a:rPr>
              <a:t>À désactiver en prod</a:t>
            </a:r>
            <a:endParaRPr lang="en-US" sz="1050" dirty="0"/>
          </a:p>
        </p:txBody>
      </p:sp>
      <p:sp>
        <p:nvSpPr>
          <p:cNvPr id="36" name="Shape 34"/>
          <p:cNvSpPr/>
          <p:nvPr/>
        </p:nvSpPr>
        <p:spPr>
          <a:xfrm>
            <a:off x="548640" y="5614416"/>
            <a:ext cx="11064240" cy="457200"/>
          </a:xfrm>
          <a:prstGeom prst="roundRect">
            <a:avLst>
              <a:gd name="adj" fmla="val 10000"/>
            </a:avLst>
          </a:prstGeom>
          <a:solidFill>
            <a:srgbClr val="F3F6FA"/>
          </a:solidFill>
          <a:ln w="9525">
            <a:solidFill>
              <a:srgbClr val="D8E1EC"/>
            </a:solidFill>
            <a:prstDash val="solid"/>
          </a:ln>
        </p:spPr>
      </p:sp>
      <p:sp>
        <p:nvSpPr>
          <p:cNvPr id="37" name="Text 35"/>
          <p:cNvSpPr txBox="1"/>
          <p:nvPr/>
        </p:nvSpPr>
        <p:spPr>
          <a:xfrm>
            <a:off x="777240" y="5632704"/>
            <a:ext cx="3108960" cy="420624"/>
          </a:xfrm>
          <a:prstGeom prst="rect">
            <a:avLst/>
          </a:prstGeom>
          <a:noFill/>
          <a:ln/>
        </p:spPr>
        <p:txBody>
          <a:bodyPr wrap="square" lIns="0" tIns="0" rIns="0" bIns="0" rtlCol="0" anchor="ctr"/>
          <a:lstStyle/>
          <a:p>
            <a:pPr marL="0" indent="0" algn="l">
              <a:lnSpc>
                <a:spcPct val="100000"/>
              </a:lnSpc>
              <a:buNone/>
            </a:pPr>
            <a:r>
              <a:rPr lang="en-US" sz="1100" b="1" dirty="0">
                <a:solidFill>
                  <a:srgbClr val="10243E"/>
                </a:solidFill>
                <a:latin typeface="Calibri" pitchFamily="34" charset="0"/>
                <a:ea typeface="Calibri" pitchFamily="34" charset="-122"/>
                <a:cs typeface="Calibri" pitchFamily="34" charset="-120"/>
              </a:rPr>
              <a:t>Fences lang path</a:t>
            </a:r>
            <a:endParaRPr lang="en-US" sz="1100" dirty="0"/>
          </a:p>
        </p:txBody>
      </p:sp>
      <p:sp>
        <p:nvSpPr>
          <p:cNvPr id="38" name="Text 36"/>
          <p:cNvSpPr txBox="1"/>
          <p:nvPr/>
        </p:nvSpPr>
        <p:spPr>
          <a:xfrm>
            <a:off x="3931920" y="5632704"/>
            <a:ext cx="2926080" cy="420624"/>
          </a:xfrm>
          <a:prstGeom prst="rect">
            <a:avLst/>
          </a:prstGeom>
          <a:noFill/>
          <a:ln/>
        </p:spPr>
        <p:txBody>
          <a:bodyPr wrap="square" lIns="0" tIns="0" rIns="0" bIns="0" rtlCol="0" anchor="ctr"/>
          <a:lstStyle/>
          <a:p>
            <a:pPr marL="0" indent="0" algn="l">
              <a:lnSpc>
                <a:spcPct val="100000"/>
              </a:lnSpc>
              <a:buNone/>
            </a:pPr>
            <a:r>
              <a:rPr lang="en-US" sz="1050" dirty="0">
                <a:solidFill>
                  <a:srgbClr val="0E8A6A"/>
                </a:solidFill>
                <a:latin typeface="Calibri" pitchFamily="34" charset="0"/>
                <a:ea typeface="Calibri" pitchFamily="34" charset="-122"/>
                <a:cs typeface="Calibri" pitchFamily="34" charset="-120"/>
              </a:rPr>
              <a:t>Apply déterministe</a:t>
            </a:r>
            <a:endParaRPr lang="en-US" sz="1050" dirty="0"/>
          </a:p>
        </p:txBody>
      </p:sp>
      <p:sp>
        <p:nvSpPr>
          <p:cNvPr id="39" name="Text 37"/>
          <p:cNvSpPr txBox="1"/>
          <p:nvPr/>
        </p:nvSpPr>
        <p:spPr>
          <a:xfrm>
            <a:off x="6949440" y="5632704"/>
            <a:ext cx="4480560" cy="420624"/>
          </a:xfrm>
          <a:prstGeom prst="rect">
            <a:avLst/>
          </a:prstGeom>
          <a:noFill/>
          <a:ln/>
        </p:spPr>
        <p:txBody>
          <a:bodyPr wrap="square" lIns="0" tIns="0" rIns="0" bIns="0" rtlCol="0" anchor="ctr"/>
          <a:lstStyle/>
          <a:p>
            <a:pPr marL="0" indent="0" algn="l">
              <a:lnSpc>
                <a:spcPct val="100000"/>
              </a:lnSpc>
              <a:buNone/>
            </a:pPr>
            <a:r>
              <a:rPr lang="en-US" sz="1050" dirty="0">
                <a:solidFill>
                  <a:srgbClr val="3F546B"/>
                </a:solidFill>
                <a:latin typeface="Calibri" pitchFamily="34" charset="0"/>
                <a:ea typeface="Calibri" pitchFamily="34" charset="-122"/>
                <a:cs typeface="Calibri" pitchFamily="34" charset="-120"/>
              </a:rPr>
              <a:t>Le modèle doit respecter la convention</a:t>
            </a:r>
            <a:endParaRPr lang="en-US" sz="1050" dirty="0"/>
          </a:p>
        </p:txBody>
      </p:sp>
      <p:sp>
        <p:nvSpPr>
          <p:cNvPr id="40" name="Text 38"/>
          <p:cNvSpPr txBox="1"/>
          <p:nvPr/>
        </p:nvSpPr>
        <p:spPr>
          <a:xfrm>
            <a:off x="566928" y="6291072"/>
            <a:ext cx="10424160" cy="292608"/>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Une décision sans contrepartie écrite est une décision qu’on ne pourra pas réexaminer dans six mois.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20</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CE QUI A CASSÉ</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Sept incidents, et la même leçon cinq fois.</a:t>
            </a:r>
            <a:endParaRPr lang="en-US" sz="2700" dirty="0"/>
          </a:p>
        </p:txBody>
      </p:sp>
      <p:sp>
        <p:nvSpPr>
          <p:cNvPr id="5" name="Text 3"/>
          <p:cNvSpPr txBox="1"/>
          <p:nvPr/>
        </p:nvSpPr>
        <p:spPr>
          <a:xfrm>
            <a:off x="777240" y="1627632"/>
            <a:ext cx="3566160" cy="219456"/>
          </a:xfrm>
          <a:prstGeom prst="rect">
            <a:avLst/>
          </a:prstGeom>
          <a:noFill/>
          <a:ln/>
        </p:spPr>
        <p:txBody>
          <a:bodyPr wrap="square" lIns="0" tIns="0" rIns="0" bIns="0" rtlCol="0" anchor="t"/>
          <a:lstStyle/>
          <a:p>
            <a:pPr marL="0" indent="0" algn="l">
              <a:lnSpc>
                <a:spcPct val="108000"/>
              </a:lnSpc>
              <a:buNone/>
            </a:pPr>
            <a:r>
              <a:rPr lang="en-US" sz="900" b="1" kern="0" spc="140" dirty="0">
                <a:solidFill>
                  <a:srgbClr val="8697AB"/>
                </a:solidFill>
                <a:latin typeface="Calibri" pitchFamily="34" charset="0"/>
                <a:ea typeface="Calibri" pitchFamily="34" charset="-122"/>
                <a:cs typeface="Calibri" pitchFamily="34" charset="-120"/>
              </a:rPr>
              <a:t>INCIDENT</a:t>
            </a:r>
            <a:endParaRPr lang="en-US" sz="900" dirty="0"/>
          </a:p>
        </p:txBody>
      </p:sp>
      <p:sp>
        <p:nvSpPr>
          <p:cNvPr id="6" name="Text 4"/>
          <p:cNvSpPr txBox="1"/>
          <p:nvPr/>
        </p:nvSpPr>
        <p:spPr>
          <a:xfrm>
            <a:off x="4572000" y="1627632"/>
            <a:ext cx="3566160" cy="219456"/>
          </a:xfrm>
          <a:prstGeom prst="rect">
            <a:avLst/>
          </a:prstGeom>
          <a:noFill/>
          <a:ln/>
        </p:spPr>
        <p:txBody>
          <a:bodyPr wrap="square" lIns="0" tIns="0" rIns="0" bIns="0" rtlCol="0" anchor="t"/>
          <a:lstStyle/>
          <a:p>
            <a:pPr marL="0" indent="0" algn="l">
              <a:lnSpc>
                <a:spcPct val="108000"/>
              </a:lnSpc>
              <a:buNone/>
            </a:pPr>
            <a:r>
              <a:rPr lang="en-US" sz="900" b="1" kern="0" spc="140" dirty="0">
                <a:solidFill>
                  <a:srgbClr val="8697AB"/>
                </a:solidFill>
                <a:latin typeface="Calibri" pitchFamily="34" charset="0"/>
                <a:ea typeface="Calibri" pitchFamily="34" charset="-122"/>
                <a:cs typeface="Calibri" pitchFamily="34" charset="-120"/>
              </a:rPr>
              <a:t>CORRECTIF</a:t>
            </a:r>
            <a:endParaRPr lang="en-US" sz="900" dirty="0"/>
          </a:p>
        </p:txBody>
      </p:sp>
      <p:sp>
        <p:nvSpPr>
          <p:cNvPr id="7" name="Text 5"/>
          <p:cNvSpPr txBox="1"/>
          <p:nvPr/>
        </p:nvSpPr>
        <p:spPr>
          <a:xfrm>
            <a:off x="8321040" y="1627632"/>
            <a:ext cx="3200400" cy="219456"/>
          </a:xfrm>
          <a:prstGeom prst="rect">
            <a:avLst/>
          </a:prstGeom>
          <a:noFill/>
          <a:ln/>
        </p:spPr>
        <p:txBody>
          <a:bodyPr wrap="square" lIns="0" tIns="0" rIns="0" bIns="0" rtlCol="0" anchor="t"/>
          <a:lstStyle/>
          <a:p>
            <a:pPr marL="0" indent="0" algn="l">
              <a:lnSpc>
                <a:spcPct val="108000"/>
              </a:lnSpc>
              <a:buNone/>
            </a:pPr>
            <a:r>
              <a:rPr lang="en-US" sz="900" b="1" kern="0" spc="140" dirty="0">
                <a:solidFill>
                  <a:srgbClr val="8697AB"/>
                </a:solidFill>
                <a:latin typeface="Calibri" pitchFamily="34" charset="0"/>
                <a:ea typeface="Calibri" pitchFamily="34" charset="-122"/>
                <a:cs typeface="Calibri" pitchFamily="34" charset="-120"/>
              </a:rPr>
              <a:t>LEÇON</a:t>
            </a:r>
            <a:endParaRPr lang="en-US" sz="900" dirty="0"/>
          </a:p>
        </p:txBody>
      </p:sp>
      <p:sp>
        <p:nvSpPr>
          <p:cNvPr id="8" name="Shape 6"/>
          <p:cNvSpPr/>
          <p:nvPr/>
        </p:nvSpPr>
        <p:spPr>
          <a:xfrm>
            <a:off x="548640" y="1901952"/>
            <a:ext cx="11064240" cy="493776"/>
          </a:xfrm>
          <a:prstGeom prst="roundRect">
            <a:avLst>
              <a:gd name="adj" fmla="val 9259"/>
            </a:avLst>
          </a:prstGeom>
          <a:solidFill>
            <a:srgbClr val="FFFFFF"/>
          </a:solidFill>
          <a:ln w="9525">
            <a:solidFill>
              <a:srgbClr val="FFFFFF"/>
            </a:solidFill>
            <a:prstDash val="solid"/>
          </a:ln>
        </p:spPr>
      </p:sp>
      <p:sp>
        <p:nvSpPr>
          <p:cNvPr id="9" name="Text 7"/>
          <p:cNvSpPr txBox="1"/>
          <p:nvPr/>
        </p:nvSpPr>
        <p:spPr>
          <a:xfrm>
            <a:off x="777240" y="1920240"/>
            <a:ext cx="3566160" cy="457200"/>
          </a:xfrm>
          <a:prstGeom prst="rect">
            <a:avLst/>
          </a:prstGeom>
          <a:noFill/>
          <a:ln/>
        </p:spPr>
        <p:txBody>
          <a:bodyPr wrap="square" lIns="0" tIns="0" rIns="0" bIns="0" rtlCol="0" anchor="ctr"/>
          <a:lstStyle/>
          <a:p>
            <a:pPr marL="0" indent="0" algn="l">
              <a:lnSpc>
                <a:spcPct val="100000"/>
              </a:lnSpc>
              <a:buNone/>
            </a:pPr>
            <a:r>
              <a:rPr lang="en-US" sz="1050" b="1" dirty="0">
                <a:solidFill>
                  <a:srgbClr val="10243E"/>
                </a:solidFill>
                <a:latin typeface="Calibri" pitchFamily="34" charset="0"/>
                <a:ea typeface="Calibri" pitchFamily="34" charset="-122"/>
                <a:cs typeface="Calibri" pitchFamily="34" charset="-120"/>
              </a:rPr>
              <a:t>Une clé d’API dans un prompt</a:t>
            </a:r>
            <a:endParaRPr lang="en-US" sz="1050" dirty="0"/>
          </a:p>
        </p:txBody>
      </p:sp>
      <p:sp>
        <p:nvSpPr>
          <p:cNvPr id="10" name="Text 8"/>
          <p:cNvSpPr txBox="1"/>
          <p:nvPr/>
        </p:nvSpPr>
        <p:spPr>
          <a:xfrm>
            <a:off x="4572000" y="1920240"/>
            <a:ext cx="3566160" cy="457200"/>
          </a:xfrm>
          <a:prstGeom prst="rect">
            <a:avLst/>
          </a:prstGeom>
          <a:noFill/>
          <a:ln/>
        </p:spPr>
        <p:txBody>
          <a:bodyPr wrap="square" lIns="0" tIns="0" rIns="0" bIns="0" rtlCol="0" anchor="ctr"/>
          <a:lstStyle/>
          <a:p>
            <a:pPr marL="0" indent="0" algn="l">
              <a:lnSpc>
                <a:spcPct val="100000"/>
              </a:lnSpc>
              <a:buNone/>
            </a:pPr>
            <a:r>
              <a:rPr lang="en-US" sz="1000" dirty="0">
                <a:solidFill>
                  <a:srgbClr val="3F546B"/>
                </a:solidFill>
                <a:latin typeface="Calibri" pitchFamily="34" charset="0"/>
                <a:ea typeface="Calibri" pitchFamily="34" charset="-122"/>
                <a:cs typeface="Calibri" pitchFamily="34" charset="-120"/>
              </a:rPr>
              <a:t>Regex + classifieur + bascule + stub</a:t>
            </a:r>
            <a:endParaRPr lang="en-US" sz="1000" dirty="0"/>
          </a:p>
        </p:txBody>
      </p:sp>
      <p:sp>
        <p:nvSpPr>
          <p:cNvPr id="11" name="Text 9"/>
          <p:cNvSpPr txBox="1"/>
          <p:nvPr/>
        </p:nvSpPr>
        <p:spPr>
          <a:xfrm>
            <a:off x="8321040" y="1920240"/>
            <a:ext cx="3200400" cy="457200"/>
          </a:xfrm>
          <a:prstGeom prst="rect">
            <a:avLst/>
          </a:prstGeom>
          <a:noFill/>
          <a:ln/>
        </p:spPr>
        <p:txBody>
          <a:bodyPr wrap="square" lIns="0" tIns="0" rIns="0" bIns="0" rtlCol="0" anchor="ctr"/>
          <a:lstStyle/>
          <a:p>
            <a:pPr marL="0" indent="0" algn="l">
              <a:lnSpc>
                <a:spcPct val="100000"/>
              </a:lnSpc>
              <a:buNone/>
            </a:pPr>
            <a:r>
              <a:rPr lang="en-US" sz="1000" dirty="0">
                <a:solidFill>
                  <a:srgbClr val="0E8A6A"/>
                </a:solidFill>
                <a:latin typeface="Calibri" pitchFamily="34" charset="0"/>
                <a:ea typeface="Calibri" pitchFamily="34" charset="-122"/>
                <a:cs typeface="Calibri" pitchFamily="34" charset="-120"/>
              </a:rPr>
              <a:t>Logger le label, jamais la valeur</a:t>
            </a:r>
            <a:endParaRPr lang="en-US" sz="1000" dirty="0"/>
          </a:p>
        </p:txBody>
      </p:sp>
      <p:sp>
        <p:nvSpPr>
          <p:cNvPr id="12" name="Shape 10"/>
          <p:cNvSpPr/>
          <p:nvPr/>
        </p:nvSpPr>
        <p:spPr>
          <a:xfrm>
            <a:off x="548640" y="2468880"/>
            <a:ext cx="11064240" cy="493776"/>
          </a:xfrm>
          <a:prstGeom prst="roundRect">
            <a:avLst>
              <a:gd name="adj" fmla="val 9259"/>
            </a:avLst>
          </a:prstGeom>
          <a:solidFill>
            <a:srgbClr val="F3F6FA"/>
          </a:solidFill>
          <a:ln w="9525">
            <a:solidFill>
              <a:srgbClr val="D8E1EC"/>
            </a:solidFill>
            <a:prstDash val="solid"/>
          </a:ln>
        </p:spPr>
      </p:sp>
      <p:sp>
        <p:nvSpPr>
          <p:cNvPr id="13" name="Text 11"/>
          <p:cNvSpPr txBox="1"/>
          <p:nvPr/>
        </p:nvSpPr>
        <p:spPr>
          <a:xfrm>
            <a:off x="777240" y="2487168"/>
            <a:ext cx="3566160" cy="457200"/>
          </a:xfrm>
          <a:prstGeom prst="rect">
            <a:avLst/>
          </a:prstGeom>
          <a:noFill/>
          <a:ln/>
        </p:spPr>
        <p:txBody>
          <a:bodyPr wrap="square" lIns="0" tIns="0" rIns="0" bIns="0" rtlCol="0" anchor="ctr"/>
          <a:lstStyle/>
          <a:p>
            <a:pPr marL="0" indent="0" algn="l">
              <a:lnSpc>
                <a:spcPct val="100000"/>
              </a:lnSpc>
              <a:buNone/>
            </a:pPr>
            <a:r>
              <a:rPr lang="en-US" sz="1050" b="1" dirty="0">
                <a:solidFill>
                  <a:srgbClr val="10243E"/>
                </a:solidFill>
                <a:latin typeface="Calibri" pitchFamily="34" charset="0"/>
                <a:ea typeface="Calibri" pitchFamily="34" charset="-122"/>
                <a:cs typeface="Calibri" pitchFamily="34" charset="-120"/>
              </a:rPr>
              <a:t>HTTP 402 confondu avec 429</a:t>
            </a:r>
            <a:endParaRPr lang="en-US" sz="1050" dirty="0"/>
          </a:p>
        </p:txBody>
      </p:sp>
      <p:sp>
        <p:nvSpPr>
          <p:cNvPr id="14" name="Text 12"/>
          <p:cNvSpPr txBox="1"/>
          <p:nvPr/>
        </p:nvSpPr>
        <p:spPr>
          <a:xfrm>
            <a:off x="4572000" y="2487168"/>
            <a:ext cx="3566160" cy="457200"/>
          </a:xfrm>
          <a:prstGeom prst="rect">
            <a:avLst/>
          </a:prstGeom>
          <a:noFill/>
          <a:ln/>
        </p:spPr>
        <p:txBody>
          <a:bodyPr wrap="square" lIns="0" tIns="0" rIns="0" bIns="0" rtlCol="0" anchor="ctr"/>
          <a:lstStyle/>
          <a:p>
            <a:pPr marL="0" indent="0" algn="l">
              <a:lnSpc>
                <a:spcPct val="100000"/>
              </a:lnSpc>
              <a:buNone/>
            </a:pPr>
            <a:r>
              <a:rPr lang="en-US" sz="1000" dirty="0">
                <a:solidFill>
                  <a:srgbClr val="3F546B"/>
                </a:solidFill>
                <a:latin typeface="Calibri" pitchFamily="34" charset="0"/>
                <a:ea typeface="Calibri" pitchFamily="34" charset="-122"/>
                <a:cs typeface="Calibri" pitchFamily="34" charset="-120"/>
              </a:rPr>
              <a:t>Stub + bandeau d’un côté, OpenRouter de l’autre</a:t>
            </a:r>
            <a:endParaRPr lang="en-US" sz="1000" dirty="0"/>
          </a:p>
        </p:txBody>
      </p:sp>
      <p:sp>
        <p:nvSpPr>
          <p:cNvPr id="15" name="Text 13"/>
          <p:cNvSpPr txBox="1"/>
          <p:nvPr/>
        </p:nvSpPr>
        <p:spPr>
          <a:xfrm>
            <a:off x="8321040" y="2487168"/>
            <a:ext cx="3200400" cy="457200"/>
          </a:xfrm>
          <a:prstGeom prst="rect">
            <a:avLst/>
          </a:prstGeom>
          <a:noFill/>
          <a:ln/>
        </p:spPr>
        <p:txBody>
          <a:bodyPr wrap="square" lIns="0" tIns="0" rIns="0" bIns="0" rtlCol="0" anchor="ctr"/>
          <a:lstStyle/>
          <a:p>
            <a:pPr marL="0" indent="0" algn="l">
              <a:lnSpc>
                <a:spcPct val="100000"/>
              </a:lnSpc>
              <a:buNone/>
            </a:pPr>
            <a:r>
              <a:rPr lang="en-US" sz="1000" dirty="0">
                <a:solidFill>
                  <a:srgbClr val="0E8A6A"/>
                </a:solidFill>
                <a:latin typeface="Calibri" pitchFamily="34" charset="0"/>
                <a:ea typeface="Calibri" pitchFamily="34" charset="-122"/>
                <a:cs typeface="Calibri" pitchFamily="34" charset="-120"/>
              </a:rPr>
              <a:t>Deux causes, deux réponses</a:t>
            </a:r>
            <a:endParaRPr lang="en-US" sz="1000" dirty="0"/>
          </a:p>
        </p:txBody>
      </p:sp>
      <p:sp>
        <p:nvSpPr>
          <p:cNvPr id="16" name="Shape 14"/>
          <p:cNvSpPr/>
          <p:nvPr/>
        </p:nvSpPr>
        <p:spPr>
          <a:xfrm>
            <a:off x="548640" y="3035808"/>
            <a:ext cx="11064240" cy="493776"/>
          </a:xfrm>
          <a:prstGeom prst="roundRect">
            <a:avLst>
              <a:gd name="adj" fmla="val 9259"/>
            </a:avLst>
          </a:prstGeom>
          <a:solidFill>
            <a:srgbClr val="FFFFFF"/>
          </a:solidFill>
          <a:ln w="9525">
            <a:solidFill>
              <a:srgbClr val="FFFFFF"/>
            </a:solidFill>
            <a:prstDash val="solid"/>
          </a:ln>
        </p:spPr>
      </p:sp>
      <p:sp>
        <p:nvSpPr>
          <p:cNvPr id="17" name="Text 15"/>
          <p:cNvSpPr txBox="1"/>
          <p:nvPr/>
        </p:nvSpPr>
        <p:spPr>
          <a:xfrm>
            <a:off x="777240" y="3054096"/>
            <a:ext cx="3566160" cy="457200"/>
          </a:xfrm>
          <a:prstGeom prst="rect">
            <a:avLst/>
          </a:prstGeom>
          <a:noFill/>
          <a:ln/>
        </p:spPr>
        <p:txBody>
          <a:bodyPr wrap="square" lIns="0" tIns="0" rIns="0" bIns="0" rtlCol="0" anchor="ctr"/>
          <a:lstStyle/>
          <a:p>
            <a:pPr marL="0" indent="0" algn="l">
              <a:lnSpc>
                <a:spcPct val="100000"/>
              </a:lnSpc>
              <a:buNone/>
            </a:pPr>
            <a:r>
              <a:rPr lang="en-US" sz="1050" b="1" dirty="0">
                <a:solidFill>
                  <a:srgbClr val="10243E"/>
                </a:solidFill>
                <a:latin typeface="Calibri" pitchFamily="34" charset="0"/>
                <a:ea typeface="Calibri" pitchFamily="34" charset="-122"/>
                <a:cs typeface="Calibri" pitchFamily="34" charset="-120"/>
              </a:rPr>
              <a:t>Mermaid cassé par des IDs numériques</a:t>
            </a:r>
            <a:endParaRPr lang="en-US" sz="1050" dirty="0"/>
          </a:p>
        </p:txBody>
      </p:sp>
      <p:sp>
        <p:nvSpPr>
          <p:cNvPr id="18" name="Text 16"/>
          <p:cNvSpPr txBox="1"/>
          <p:nvPr/>
        </p:nvSpPr>
        <p:spPr>
          <a:xfrm>
            <a:off x="4572000" y="3054096"/>
            <a:ext cx="3566160" cy="457200"/>
          </a:xfrm>
          <a:prstGeom prst="rect">
            <a:avLst/>
          </a:prstGeom>
          <a:noFill/>
          <a:ln/>
        </p:spPr>
        <p:txBody>
          <a:bodyPr wrap="square" lIns="0" tIns="0" rIns="0" bIns="0" rtlCol="0" anchor="ctr"/>
          <a:lstStyle/>
          <a:p>
            <a:pPr marL="0" indent="0" algn="l">
              <a:lnSpc>
                <a:spcPct val="100000"/>
              </a:lnSpc>
              <a:buNone/>
            </a:pPr>
            <a:r>
              <a:rPr lang="en-US" sz="1000" dirty="0">
                <a:solidFill>
                  <a:srgbClr val="3F546B"/>
                </a:solidFill>
                <a:latin typeface="Calibri" pitchFamily="34" charset="0"/>
                <a:ea typeface="Calibri" pitchFamily="34" charset="-122"/>
                <a:cs typeface="Calibri" pitchFamily="34" charset="-120"/>
              </a:rPr>
              <a:t>Règles strictes dans le prompt de phase 3</a:t>
            </a:r>
            <a:endParaRPr lang="en-US" sz="1000" dirty="0"/>
          </a:p>
        </p:txBody>
      </p:sp>
      <p:sp>
        <p:nvSpPr>
          <p:cNvPr id="19" name="Text 17"/>
          <p:cNvSpPr txBox="1"/>
          <p:nvPr/>
        </p:nvSpPr>
        <p:spPr>
          <a:xfrm>
            <a:off x="8321040" y="3054096"/>
            <a:ext cx="3200400" cy="457200"/>
          </a:xfrm>
          <a:prstGeom prst="rect">
            <a:avLst/>
          </a:prstGeom>
          <a:noFill/>
          <a:ln/>
        </p:spPr>
        <p:txBody>
          <a:bodyPr wrap="square" lIns="0" tIns="0" rIns="0" bIns="0" rtlCol="0" anchor="ctr"/>
          <a:lstStyle/>
          <a:p>
            <a:pPr marL="0" indent="0" algn="l">
              <a:lnSpc>
                <a:spcPct val="100000"/>
              </a:lnSpc>
              <a:buNone/>
            </a:pPr>
            <a:r>
              <a:rPr lang="en-US" sz="1000" dirty="0">
                <a:solidFill>
                  <a:srgbClr val="0E8A6A"/>
                </a:solidFill>
                <a:latin typeface="Calibri" pitchFamily="34" charset="0"/>
                <a:ea typeface="Calibri" pitchFamily="34" charset="-122"/>
                <a:cs typeface="Calibri" pitchFamily="34" charset="-120"/>
              </a:rPr>
              <a:t>Le prompt est une spécification</a:t>
            </a:r>
            <a:endParaRPr lang="en-US" sz="1000" dirty="0"/>
          </a:p>
        </p:txBody>
      </p:sp>
      <p:sp>
        <p:nvSpPr>
          <p:cNvPr id="20" name="Shape 18"/>
          <p:cNvSpPr/>
          <p:nvPr/>
        </p:nvSpPr>
        <p:spPr>
          <a:xfrm>
            <a:off x="548640" y="3602736"/>
            <a:ext cx="11064240" cy="493776"/>
          </a:xfrm>
          <a:prstGeom prst="roundRect">
            <a:avLst>
              <a:gd name="adj" fmla="val 9259"/>
            </a:avLst>
          </a:prstGeom>
          <a:solidFill>
            <a:srgbClr val="F3F6FA"/>
          </a:solidFill>
          <a:ln w="9525">
            <a:solidFill>
              <a:srgbClr val="D8E1EC"/>
            </a:solidFill>
            <a:prstDash val="solid"/>
          </a:ln>
        </p:spPr>
      </p:sp>
      <p:sp>
        <p:nvSpPr>
          <p:cNvPr id="21" name="Text 19"/>
          <p:cNvSpPr txBox="1"/>
          <p:nvPr/>
        </p:nvSpPr>
        <p:spPr>
          <a:xfrm>
            <a:off x="777240" y="3621024"/>
            <a:ext cx="3566160" cy="457200"/>
          </a:xfrm>
          <a:prstGeom prst="rect">
            <a:avLst/>
          </a:prstGeom>
          <a:noFill/>
          <a:ln/>
        </p:spPr>
        <p:txBody>
          <a:bodyPr wrap="square" lIns="0" tIns="0" rIns="0" bIns="0" rtlCol="0" anchor="ctr"/>
          <a:lstStyle/>
          <a:p>
            <a:pPr marL="0" indent="0" algn="l">
              <a:lnSpc>
                <a:spcPct val="100000"/>
              </a:lnSpc>
              <a:buNone/>
            </a:pPr>
            <a:r>
              <a:rPr lang="en-US" sz="1050" b="1" dirty="0">
                <a:solidFill>
                  <a:srgbClr val="10243E"/>
                </a:solidFill>
                <a:latin typeface="Calibri" pitchFamily="34" charset="0"/>
                <a:ea typeface="Calibri" pitchFamily="34" charset="-122"/>
                <a:cs typeface="Calibri" pitchFamily="34" charset="-120"/>
              </a:rPr>
              <a:t>L’auth bloquait les démos</a:t>
            </a:r>
            <a:endParaRPr lang="en-US" sz="1050" dirty="0"/>
          </a:p>
        </p:txBody>
      </p:sp>
      <p:sp>
        <p:nvSpPr>
          <p:cNvPr id="22" name="Text 20"/>
          <p:cNvSpPr txBox="1"/>
          <p:nvPr/>
        </p:nvSpPr>
        <p:spPr>
          <a:xfrm>
            <a:off x="4572000" y="3621024"/>
            <a:ext cx="3566160" cy="457200"/>
          </a:xfrm>
          <a:prstGeom prst="rect">
            <a:avLst/>
          </a:prstGeom>
          <a:noFill/>
          <a:ln/>
        </p:spPr>
        <p:txBody>
          <a:bodyPr wrap="square" lIns="0" tIns="0" rIns="0" bIns="0" rtlCol="0" anchor="ctr"/>
          <a:lstStyle/>
          <a:p>
            <a:pPr marL="0" indent="0" algn="l">
              <a:lnSpc>
                <a:spcPct val="100000"/>
              </a:lnSpc>
              <a:buNone/>
            </a:pPr>
            <a:r>
              <a:rPr lang="en-US" sz="1000" dirty="0">
                <a:solidFill>
                  <a:srgbClr val="3F546B"/>
                </a:solidFill>
                <a:latin typeface="Calibri" pitchFamily="34" charset="0"/>
                <a:ea typeface="Calibri" pitchFamily="34" charset="-122"/>
                <a:cs typeface="Calibri" pitchFamily="34" charset="-120"/>
              </a:rPr>
              <a:t>FUZYO_E2E_AUTH_BYPASS + JWT e2e</a:t>
            </a:r>
            <a:endParaRPr lang="en-US" sz="1000" dirty="0"/>
          </a:p>
        </p:txBody>
      </p:sp>
      <p:sp>
        <p:nvSpPr>
          <p:cNvPr id="23" name="Text 21"/>
          <p:cNvSpPr txBox="1"/>
          <p:nvPr/>
        </p:nvSpPr>
        <p:spPr>
          <a:xfrm>
            <a:off x="8321040" y="3621024"/>
            <a:ext cx="3200400" cy="457200"/>
          </a:xfrm>
          <a:prstGeom prst="rect">
            <a:avLst/>
          </a:prstGeom>
          <a:noFill/>
          <a:ln/>
        </p:spPr>
        <p:txBody>
          <a:bodyPr wrap="square" lIns="0" tIns="0" rIns="0" bIns="0" rtlCol="0" anchor="ctr"/>
          <a:lstStyle/>
          <a:p>
            <a:pPr marL="0" indent="0" algn="l">
              <a:lnSpc>
                <a:spcPct val="100000"/>
              </a:lnSpc>
              <a:buNone/>
            </a:pPr>
            <a:r>
              <a:rPr lang="en-US" sz="1000" dirty="0">
                <a:solidFill>
                  <a:srgbClr val="0E8A6A"/>
                </a:solidFill>
                <a:latin typeface="Calibri" pitchFamily="34" charset="0"/>
                <a:ea typeface="Calibri" pitchFamily="34" charset="-122"/>
                <a:cs typeface="Calibri" pitchFamily="34" charset="-120"/>
              </a:rPr>
              <a:t>Séparer démo et production</a:t>
            </a:r>
            <a:endParaRPr lang="en-US" sz="1000" dirty="0"/>
          </a:p>
        </p:txBody>
      </p:sp>
      <p:sp>
        <p:nvSpPr>
          <p:cNvPr id="24" name="Shape 22"/>
          <p:cNvSpPr/>
          <p:nvPr/>
        </p:nvSpPr>
        <p:spPr>
          <a:xfrm>
            <a:off x="548640" y="4169664"/>
            <a:ext cx="11064240" cy="493776"/>
          </a:xfrm>
          <a:prstGeom prst="roundRect">
            <a:avLst>
              <a:gd name="adj" fmla="val 9259"/>
            </a:avLst>
          </a:prstGeom>
          <a:solidFill>
            <a:srgbClr val="FFFFFF"/>
          </a:solidFill>
          <a:ln w="9525">
            <a:solidFill>
              <a:srgbClr val="FFFFFF"/>
            </a:solidFill>
            <a:prstDash val="solid"/>
          </a:ln>
        </p:spPr>
      </p:sp>
      <p:sp>
        <p:nvSpPr>
          <p:cNvPr id="25" name="Text 23"/>
          <p:cNvSpPr txBox="1"/>
          <p:nvPr/>
        </p:nvSpPr>
        <p:spPr>
          <a:xfrm>
            <a:off x="777240" y="4187952"/>
            <a:ext cx="3566160" cy="457200"/>
          </a:xfrm>
          <a:prstGeom prst="rect">
            <a:avLst/>
          </a:prstGeom>
          <a:noFill/>
          <a:ln/>
        </p:spPr>
        <p:txBody>
          <a:bodyPr wrap="square" lIns="0" tIns="0" rIns="0" bIns="0" rtlCol="0" anchor="ctr"/>
          <a:lstStyle/>
          <a:p>
            <a:pPr marL="0" indent="0" algn="l">
              <a:lnSpc>
                <a:spcPct val="100000"/>
              </a:lnSpc>
              <a:buNone/>
            </a:pPr>
            <a:r>
              <a:rPr lang="en-US" sz="1050" b="1" dirty="0">
                <a:solidFill>
                  <a:srgbClr val="10243E"/>
                </a:solidFill>
                <a:latin typeface="Calibri" pitchFamily="34" charset="0"/>
                <a:ea typeface="Calibri" pitchFamily="34" charset="-122"/>
                <a:cs typeface="Calibri" pitchFamily="34" charset="-120"/>
              </a:rPr>
              <a:t>Apply-to-host écrivait n’importe où</a:t>
            </a:r>
            <a:endParaRPr lang="en-US" sz="1050" dirty="0"/>
          </a:p>
        </p:txBody>
      </p:sp>
      <p:sp>
        <p:nvSpPr>
          <p:cNvPr id="26" name="Text 24"/>
          <p:cNvSpPr txBox="1"/>
          <p:nvPr/>
        </p:nvSpPr>
        <p:spPr>
          <a:xfrm>
            <a:off x="4572000" y="4187952"/>
            <a:ext cx="3566160" cy="457200"/>
          </a:xfrm>
          <a:prstGeom prst="rect">
            <a:avLst/>
          </a:prstGeom>
          <a:noFill/>
          <a:ln/>
        </p:spPr>
        <p:txBody>
          <a:bodyPr wrap="square" lIns="0" tIns="0" rIns="0" bIns="0" rtlCol="0" anchor="ctr"/>
          <a:lstStyle/>
          <a:p>
            <a:pPr marL="0" indent="0" algn="l">
              <a:lnSpc>
                <a:spcPct val="100000"/>
              </a:lnSpc>
              <a:buNone/>
            </a:pPr>
            <a:r>
              <a:rPr lang="en-US" sz="1000" dirty="0">
                <a:solidFill>
                  <a:srgbClr val="3F546B"/>
                </a:solidFill>
                <a:latin typeface="Calibri" pitchFamily="34" charset="0"/>
                <a:ea typeface="Calibri" pitchFamily="34" charset="-122"/>
                <a:cs typeface="Calibri" pitchFamily="34" charset="-120"/>
              </a:rPr>
              <a:t>Allowlist de préfixes + relative_path</a:t>
            </a:r>
            <a:endParaRPr lang="en-US" sz="1000" dirty="0"/>
          </a:p>
        </p:txBody>
      </p:sp>
      <p:sp>
        <p:nvSpPr>
          <p:cNvPr id="27" name="Text 25"/>
          <p:cNvSpPr txBox="1"/>
          <p:nvPr/>
        </p:nvSpPr>
        <p:spPr>
          <a:xfrm>
            <a:off x="8321040" y="4187952"/>
            <a:ext cx="3200400" cy="457200"/>
          </a:xfrm>
          <a:prstGeom prst="rect">
            <a:avLst/>
          </a:prstGeom>
          <a:noFill/>
          <a:ln/>
        </p:spPr>
        <p:txBody>
          <a:bodyPr wrap="square" lIns="0" tIns="0" rIns="0" bIns="0" rtlCol="0" anchor="ctr"/>
          <a:lstStyle/>
          <a:p>
            <a:pPr marL="0" indent="0" algn="l">
              <a:lnSpc>
                <a:spcPct val="100000"/>
              </a:lnSpc>
              <a:buNone/>
            </a:pPr>
            <a:r>
              <a:rPr lang="en-US" sz="1000" dirty="0">
                <a:solidFill>
                  <a:srgbClr val="0E8A6A"/>
                </a:solidFill>
                <a:latin typeface="Calibri" pitchFamily="34" charset="0"/>
                <a:ea typeface="Calibri" pitchFamily="34" charset="-122"/>
                <a:cs typeface="Calibri" pitchFamily="34" charset="-120"/>
              </a:rPr>
              <a:t>Le fence info est un contrat</a:t>
            </a:r>
            <a:endParaRPr lang="en-US" sz="1000" dirty="0"/>
          </a:p>
        </p:txBody>
      </p:sp>
      <p:sp>
        <p:nvSpPr>
          <p:cNvPr id="28" name="Shape 26"/>
          <p:cNvSpPr/>
          <p:nvPr/>
        </p:nvSpPr>
        <p:spPr>
          <a:xfrm>
            <a:off x="548640" y="4736592"/>
            <a:ext cx="11064240" cy="493776"/>
          </a:xfrm>
          <a:prstGeom prst="roundRect">
            <a:avLst>
              <a:gd name="adj" fmla="val 9259"/>
            </a:avLst>
          </a:prstGeom>
          <a:solidFill>
            <a:srgbClr val="F3F6FA"/>
          </a:solidFill>
          <a:ln w="9525">
            <a:solidFill>
              <a:srgbClr val="D8E1EC"/>
            </a:solidFill>
            <a:prstDash val="solid"/>
          </a:ln>
        </p:spPr>
      </p:sp>
      <p:sp>
        <p:nvSpPr>
          <p:cNvPr id="29" name="Text 27"/>
          <p:cNvSpPr txBox="1"/>
          <p:nvPr/>
        </p:nvSpPr>
        <p:spPr>
          <a:xfrm>
            <a:off x="777240" y="4754880"/>
            <a:ext cx="3566160" cy="457200"/>
          </a:xfrm>
          <a:prstGeom prst="rect">
            <a:avLst/>
          </a:prstGeom>
          <a:noFill/>
          <a:ln/>
        </p:spPr>
        <p:txBody>
          <a:bodyPr wrap="square" lIns="0" tIns="0" rIns="0" bIns="0" rtlCol="0" anchor="ctr"/>
          <a:lstStyle/>
          <a:p>
            <a:pPr marL="0" indent="0" algn="l">
              <a:lnSpc>
                <a:spcPct val="100000"/>
              </a:lnSpc>
              <a:buNone/>
            </a:pPr>
            <a:r>
              <a:rPr lang="en-US" sz="1050" b="1" dirty="0">
                <a:solidFill>
                  <a:srgbClr val="10243E"/>
                </a:solidFill>
                <a:latin typeface="Calibri" pitchFamily="34" charset="0"/>
                <a:ea typeface="Calibri" pitchFamily="34" charset="-122"/>
                <a:cs typeface="Calibri" pitchFamily="34" charset="-120"/>
              </a:rPr>
              <a:t>Les prompts Execute Phase étaient plats</a:t>
            </a:r>
            <a:endParaRPr lang="en-US" sz="1050" dirty="0"/>
          </a:p>
        </p:txBody>
      </p:sp>
      <p:sp>
        <p:nvSpPr>
          <p:cNvPr id="30" name="Text 28"/>
          <p:cNvSpPr txBox="1"/>
          <p:nvPr/>
        </p:nvSpPr>
        <p:spPr>
          <a:xfrm>
            <a:off x="4572000" y="4754880"/>
            <a:ext cx="3566160" cy="457200"/>
          </a:xfrm>
          <a:prstGeom prst="rect">
            <a:avLst/>
          </a:prstGeom>
          <a:noFill/>
          <a:ln/>
        </p:spPr>
        <p:txBody>
          <a:bodyPr wrap="square" lIns="0" tIns="0" rIns="0" bIns="0" rtlCol="0" anchor="ctr"/>
          <a:lstStyle/>
          <a:p>
            <a:pPr marL="0" indent="0" algn="l">
              <a:lnSpc>
                <a:spcPct val="100000"/>
              </a:lnSpc>
              <a:buNone/>
            </a:pPr>
            <a:r>
              <a:rPr lang="en-US" sz="1000" dirty="0">
                <a:solidFill>
                  <a:srgbClr val="3F546B"/>
                </a:solidFill>
                <a:latin typeface="Calibri" pitchFamily="34" charset="0"/>
                <a:ea typeface="Calibri" pitchFamily="34" charset="-122"/>
                <a:cs typeface="Calibri" pitchFamily="34" charset="-120"/>
              </a:rPr>
              <a:t>Catalogue en cinq composantes, interpolé</a:t>
            </a:r>
            <a:endParaRPr lang="en-US" sz="1000" dirty="0"/>
          </a:p>
        </p:txBody>
      </p:sp>
      <p:sp>
        <p:nvSpPr>
          <p:cNvPr id="31" name="Text 29"/>
          <p:cNvSpPr txBox="1"/>
          <p:nvPr/>
        </p:nvSpPr>
        <p:spPr>
          <a:xfrm>
            <a:off x="8321040" y="4754880"/>
            <a:ext cx="3200400" cy="457200"/>
          </a:xfrm>
          <a:prstGeom prst="rect">
            <a:avLst/>
          </a:prstGeom>
          <a:noFill/>
          <a:ln/>
        </p:spPr>
        <p:txBody>
          <a:bodyPr wrap="square" lIns="0" tIns="0" rIns="0" bIns="0" rtlCol="0" anchor="ctr"/>
          <a:lstStyle/>
          <a:p>
            <a:pPr marL="0" indent="0" algn="l">
              <a:lnSpc>
                <a:spcPct val="100000"/>
              </a:lnSpc>
              <a:buNone/>
            </a:pPr>
            <a:r>
              <a:rPr lang="en-US" sz="1000" dirty="0">
                <a:solidFill>
                  <a:srgbClr val="0E8A6A"/>
                </a:solidFill>
                <a:latin typeface="Calibri" pitchFamily="34" charset="0"/>
                <a:ea typeface="Calibri" pitchFamily="34" charset="-122"/>
                <a:cs typeface="Calibri" pitchFamily="34" charset="-120"/>
              </a:rPr>
              <a:t>Un rôle plus un format battent un one-liner</a:t>
            </a:r>
            <a:endParaRPr lang="en-US" sz="1000" dirty="0"/>
          </a:p>
        </p:txBody>
      </p:sp>
      <p:sp>
        <p:nvSpPr>
          <p:cNvPr id="32" name="Shape 30"/>
          <p:cNvSpPr/>
          <p:nvPr/>
        </p:nvSpPr>
        <p:spPr>
          <a:xfrm>
            <a:off x="548640" y="5303520"/>
            <a:ext cx="11064240" cy="493776"/>
          </a:xfrm>
          <a:prstGeom prst="roundRect">
            <a:avLst>
              <a:gd name="adj" fmla="val 9259"/>
            </a:avLst>
          </a:prstGeom>
          <a:solidFill>
            <a:srgbClr val="FFFFFF"/>
          </a:solidFill>
          <a:ln w="9525">
            <a:solidFill>
              <a:srgbClr val="FFFFFF"/>
            </a:solidFill>
            <a:prstDash val="solid"/>
          </a:ln>
        </p:spPr>
      </p:sp>
      <p:sp>
        <p:nvSpPr>
          <p:cNvPr id="33" name="Text 31"/>
          <p:cNvSpPr txBox="1"/>
          <p:nvPr/>
        </p:nvSpPr>
        <p:spPr>
          <a:xfrm>
            <a:off x="777240" y="5321808"/>
            <a:ext cx="3566160" cy="457200"/>
          </a:xfrm>
          <a:prstGeom prst="rect">
            <a:avLst/>
          </a:prstGeom>
          <a:noFill/>
          <a:ln/>
        </p:spPr>
        <p:txBody>
          <a:bodyPr wrap="square" lIns="0" tIns="0" rIns="0" bIns="0" rtlCol="0" anchor="ctr"/>
          <a:lstStyle/>
          <a:p>
            <a:pPr marL="0" indent="0" algn="l">
              <a:lnSpc>
                <a:spcPct val="100000"/>
              </a:lnSpc>
              <a:buNone/>
            </a:pPr>
            <a:r>
              <a:rPr lang="en-US" sz="1050" b="1" dirty="0">
                <a:solidFill>
                  <a:srgbClr val="10243E"/>
                </a:solidFill>
                <a:latin typeface="Calibri" pitchFamily="34" charset="0"/>
                <a:ea typeface="Calibri" pitchFamily="34" charset="-122"/>
                <a:cs typeface="Calibri" pitchFamily="34" charset="-120"/>
              </a:rPr>
              <a:t>Les skills promettaient trop</a:t>
            </a:r>
            <a:endParaRPr lang="en-US" sz="1050" dirty="0"/>
          </a:p>
        </p:txBody>
      </p:sp>
      <p:sp>
        <p:nvSpPr>
          <p:cNvPr id="34" name="Text 32"/>
          <p:cNvSpPr txBox="1"/>
          <p:nvPr/>
        </p:nvSpPr>
        <p:spPr>
          <a:xfrm>
            <a:off x="4572000" y="5321808"/>
            <a:ext cx="3566160" cy="457200"/>
          </a:xfrm>
          <a:prstGeom prst="rect">
            <a:avLst/>
          </a:prstGeom>
          <a:noFill/>
          <a:ln/>
        </p:spPr>
        <p:txBody>
          <a:bodyPr wrap="square" lIns="0" tIns="0" rIns="0" bIns="0" rtlCol="0" anchor="ctr"/>
          <a:lstStyle/>
          <a:p>
            <a:pPr marL="0" indent="0" algn="l">
              <a:lnSpc>
                <a:spcPct val="100000"/>
              </a:lnSpc>
              <a:buNone/>
            </a:pPr>
            <a:r>
              <a:rPr lang="en-US" sz="1000" dirty="0">
                <a:solidFill>
                  <a:srgbClr val="3F546B"/>
                </a:solidFill>
                <a:latin typeface="Calibri" pitchFamily="34" charset="0"/>
                <a:ea typeface="Calibri" pitchFamily="34" charset="-122"/>
                <a:cs typeface="Calibri" pitchFamily="34" charset="-120"/>
              </a:rPr>
              <a:t>Documenter l’écart UI / backend</a:t>
            </a:r>
            <a:endParaRPr lang="en-US" sz="1000" dirty="0"/>
          </a:p>
        </p:txBody>
      </p:sp>
      <p:sp>
        <p:nvSpPr>
          <p:cNvPr id="35" name="Text 33"/>
          <p:cNvSpPr txBox="1"/>
          <p:nvPr/>
        </p:nvSpPr>
        <p:spPr>
          <a:xfrm>
            <a:off x="8321040" y="5321808"/>
            <a:ext cx="3200400" cy="457200"/>
          </a:xfrm>
          <a:prstGeom prst="rect">
            <a:avLst/>
          </a:prstGeom>
          <a:noFill/>
          <a:ln/>
        </p:spPr>
        <p:txBody>
          <a:bodyPr wrap="square" lIns="0" tIns="0" rIns="0" bIns="0" rtlCol="0" anchor="ctr"/>
          <a:lstStyle/>
          <a:p>
            <a:pPr marL="0" indent="0" algn="l">
              <a:lnSpc>
                <a:spcPct val="100000"/>
              </a:lnSpc>
              <a:buNone/>
            </a:pPr>
            <a:r>
              <a:rPr lang="en-US" sz="1000" dirty="0">
                <a:solidFill>
                  <a:srgbClr val="0E8A6A"/>
                </a:solidFill>
                <a:latin typeface="Calibri" pitchFamily="34" charset="0"/>
                <a:ea typeface="Calibri" pitchFamily="34" charset="-122"/>
                <a:cs typeface="Calibri" pitchFamily="34" charset="-120"/>
              </a:rPr>
              <a:t>Le statut honnête vaut mieux qu’une démo</a:t>
            </a:r>
            <a:endParaRPr lang="en-US" sz="1000" dirty="0"/>
          </a:p>
        </p:txBody>
      </p:sp>
      <p:sp>
        <p:nvSpPr>
          <p:cNvPr id="36" name="Shape 34"/>
          <p:cNvSpPr/>
          <p:nvPr/>
        </p:nvSpPr>
        <p:spPr>
          <a:xfrm>
            <a:off x="548640" y="5870448"/>
            <a:ext cx="11064240" cy="658368"/>
          </a:xfrm>
          <a:prstGeom prst="roundRect">
            <a:avLst>
              <a:gd name="adj" fmla="val 6944"/>
            </a:avLst>
          </a:prstGeom>
          <a:solidFill>
            <a:srgbClr val="E8EEF6"/>
          </a:solidFill>
          <a:ln w="9525">
            <a:solidFill>
              <a:srgbClr val="D8E1EC"/>
            </a:solidFill>
            <a:prstDash val="solid"/>
          </a:ln>
        </p:spPr>
      </p:sp>
      <p:sp>
        <p:nvSpPr>
          <p:cNvPr id="37" name="Text 35"/>
          <p:cNvSpPr txBox="1"/>
          <p:nvPr/>
        </p:nvSpPr>
        <p:spPr>
          <a:xfrm>
            <a:off x="749808" y="6007608"/>
            <a:ext cx="10661904" cy="274320"/>
          </a:xfrm>
          <a:prstGeom prst="rect">
            <a:avLst/>
          </a:prstGeom>
          <a:noFill/>
          <a:ln/>
        </p:spPr>
        <p:txBody>
          <a:bodyPr wrap="square" lIns="0" tIns="0" rIns="0" bIns="0" rtlCol="0" anchor="t"/>
          <a:lstStyle/>
          <a:p>
            <a:pPr marL="0" indent="0" algn="l">
              <a:lnSpc>
                <a:spcPct val="108000"/>
              </a:lnSpc>
              <a:buNone/>
            </a:pPr>
            <a:r>
              <a:rPr lang="en-US" sz="1200" b="1" dirty="0">
                <a:solidFill>
                  <a:srgbClr val="10243E"/>
                </a:solidFill>
                <a:latin typeface="Calibri" pitchFamily="34" charset="0"/>
                <a:ea typeface="Calibri" pitchFamily="34" charset="-122"/>
                <a:cs typeface="Calibri" pitchFamily="34" charset="-120"/>
              </a:rPr>
              <a:t>La leçon transversale</a:t>
            </a:r>
            <a:endParaRPr lang="en-US" sz="1200" dirty="0"/>
          </a:p>
        </p:txBody>
      </p:sp>
      <p:sp>
        <p:nvSpPr>
          <p:cNvPr id="38" name="Text 36"/>
          <p:cNvSpPr txBox="1"/>
          <p:nvPr/>
        </p:nvSpPr>
        <p:spPr>
          <a:xfrm>
            <a:off x="749808" y="6345936"/>
            <a:ext cx="10661904" cy="54864"/>
          </a:xfrm>
          <a:prstGeom prst="rect">
            <a:avLst/>
          </a:prstGeom>
          <a:noFill/>
          <a:ln/>
        </p:spPr>
        <p:txBody>
          <a:bodyPr wrap="square" lIns="0" tIns="0" rIns="0" bIns="0" rtlCol="0" anchor="t"/>
          <a:lstStyle/>
          <a:p>
            <a:pPr marL="0" indent="0" algn="l">
              <a:lnSpc>
                <a:spcPct val="112000"/>
              </a:lnSpc>
              <a:buNone/>
            </a:pPr>
            <a:r>
              <a:rPr lang="en-US" sz="1050" dirty="0">
                <a:solidFill>
                  <a:srgbClr val="3F546B"/>
                </a:solidFill>
                <a:latin typeface="Calibri" pitchFamily="34" charset="0"/>
                <a:ea typeface="Calibri" pitchFamily="34" charset="-122"/>
                <a:cs typeface="Calibri" pitchFamily="34" charset="-120"/>
              </a:rPr>
              <a:t>Cinq incidents sur sept se règlent par un contrat explicite : format dans le prompt, chemin dans le fence, rôle dans le RBAC, événement dans le SSE.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21</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LA DÉMO</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Quatre minutes pour les neuf phases, parce que c’est un test Playwright.</a:t>
            </a:r>
            <a:endParaRPr lang="en-US" sz="2700" dirty="0"/>
          </a:p>
        </p:txBody>
      </p:sp>
      <p:sp>
        <p:nvSpPr>
          <p:cNvPr id="5" name="Shape 3"/>
          <p:cNvSpPr/>
          <p:nvPr/>
        </p:nvSpPr>
        <p:spPr>
          <a:xfrm>
            <a:off x="548640" y="1783080"/>
            <a:ext cx="6949440" cy="594360"/>
          </a:xfrm>
          <a:prstGeom prst="roundRect">
            <a:avLst>
              <a:gd name="adj" fmla="val 7692"/>
            </a:avLst>
          </a:prstGeom>
          <a:solidFill>
            <a:srgbClr val="F3F6FA"/>
          </a:solidFill>
          <a:ln w="9525">
            <a:solidFill>
              <a:srgbClr val="D8E1EC"/>
            </a:solidFill>
            <a:prstDash val="solid"/>
          </a:ln>
        </p:spPr>
      </p:sp>
      <p:sp>
        <p:nvSpPr>
          <p:cNvPr id="6" name="Text 4"/>
          <p:cNvSpPr txBox="1"/>
          <p:nvPr/>
        </p:nvSpPr>
        <p:spPr>
          <a:xfrm>
            <a:off x="749808" y="1810512"/>
            <a:ext cx="411480" cy="548640"/>
          </a:xfrm>
          <a:prstGeom prst="rect">
            <a:avLst/>
          </a:prstGeom>
          <a:noFill/>
          <a:ln/>
        </p:spPr>
        <p:txBody>
          <a:bodyPr wrap="square" lIns="0" tIns="0" rIns="0" bIns="0" rtlCol="0" anchor="ctr"/>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1</a:t>
            </a:r>
            <a:endParaRPr lang="en-US" sz="1200" dirty="0"/>
          </a:p>
        </p:txBody>
      </p:sp>
      <p:sp>
        <p:nvSpPr>
          <p:cNvPr id="7" name="Text 5"/>
          <p:cNvSpPr txBox="1"/>
          <p:nvPr/>
        </p:nvSpPr>
        <p:spPr>
          <a:xfrm>
            <a:off x="1207008" y="1856232"/>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Auth + workspace</a:t>
            </a:r>
            <a:endParaRPr lang="en-US" sz="1150" dirty="0"/>
          </a:p>
        </p:txBody>
      </p:sp>
      <p:sp>
        <p:nvSpPr>
          <p:cNvPr id="8" name="Text 6"/>
          <p:cNvSpPr txBox="1"/>
          <p:nvPr/>
        </p:nvSpPr>
        <p:spPr>
          <a:xfrm>
            <a:off x="4023360" y="1865376"/>
            <a:ext cx="3291840" cy="256032"/>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todo_master sur e2e_test_workspaces/</a:t>
            </a:r>
            <a:endParaRPr lang="en-US" sz="1000" dirty="0"/>
          </a:p>
        </p:txBody>
      </p:sp>
      <p:sp>
        <p:nvSpPr>
          <p:cNvPr id="9" name="Shape 7"/>
          <p:cNvSpPr/>
          <p:nvPr/>
        </p:nvSpPr>
        <p:spPr>
          <a:xfrm>
            <a:off x="950976" y="2386584"/>
            <a:ext cx="0" cy="82296"/>
          </a:xfrm>
          <a:prstGeom prst="line">
            <a:avLst/>
          </a:prstGeom>
          <a:noFill/>
          <a:ln w="15875">
            <a:solidFill>
              <a:srgbClr val="9AACBF"/>
            </a:solidFill>
            <a:prstDash val="solid"/>
          </a:ln>
        </p:spPr>
      </p:sp>
      <p:sp>
        <p:nvSpPr>
          <p:cNvPr id="10" name="Shape 8"/>
          <p:cNvSpPr/>
          <p:nvPr/>
        </p:nvSpPr>
        <p:spPr>
          <a:xfrm>
            <a:off x="548640" y="2468880"/>
            <a:ext cx="6949440" cy="594360"/>
          </a:xfrm>
          <a:prstGeom prst="roundRect">
            <a:avLst>
              <a:gd name="adj" fmla="val 7692"/>
            </a:avLst>
          </a:prstGeom>
          <a:solidFill>
            <a:srgbClr val="F3F6FA"/>
          </a:solidFill>
          <a:ln w="9525">
            <a:solidFill>
              <a:srgbClr val="D8E1EC"/>
            </a:solidFill>
            <a:prstDash val="solid"/>
          </a:ln>
        </p:spPr>
      </p:sp>
      <p:sp>
        <p:nvSpPr>
          <p:cNvPr id="11" name="Text 9"/>
          <p:cNvSpPr txBox="1"/>
          <p:nvPr/>
        </p:nvSpPr>
        <p:spPr>
          <a:xfrm>
            <a:off x="749808" y="2496312"/>
            <a:ext cx="411480" cy="548640"/>
          </a:xfrm>
          <a:prstGeom prst="rect">
            <a:avLst/>
          </a:prstGeom>
          <a:noFill/>
          <a:ln/>
        </p:spPr>
        <p:txBody>
          <a:bodyPr wrap="square" lIns="0" tIns="0" rIns="0" bIns="0" rtlCol="0" anchor="ctr"/>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2</a:t>
            </a:r>
            <a:endParaRPr lang="en-US" sz="1200" dirty="0"/>
          </a:p>
        </p:txBody>
      </p:sp>
      <p:sp>
        <p:nvSpPr>
          <p:cNvPr id="12" name="Text 10"/>
          <p:cNvSpPr txBox="1"/>
          <p:nvPr/>
        </p:nvSpPr>
        <p:spPr>
          <a:xfrm>
            <a:off x="1207008" y="2542032"/>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Ph.01 → Ph.03</a:t>
            </a:r>
            <a:endParaRPr lang="en-US" sz="1150" dirty="0"/>
          </a:p>
        </p:txBody>
      </p:sp>
      <p:sp>
        <p:nvSpPr>
          <p:cNvPr id="13" name="Text 11"/>
          <p:cNvSpPr txBox="1"/>
          <p:nvPr/>
        </p:nvSpPr>
        <p:spPr>
          <a:xfrm>
            <a:off x="4023360" y="2551176"/>
            <a:ext cx="3291840" cy="256032"/>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CDC, SFD, DAT + Mermaid → Canvas</a:t>
            </a:r>
            <a:endParaRPr lang="en-US" sz="1000" dirty="0"/>
          </a:p>
        </p:txBody>
      </p:sp>
      <p:sp>
        <p:nvSpPr>
          <p:cNvPr id="14" name="Shape 12"/>
          <p:cNvSpPr/>
          <p:nvPr/>
        </p:nvSpPr>
        <p:spPr>
          <a:xfrm>
            <a:off x="950976" y="3072384"/>
            <a:ext cx="0" cy="82296"/>
          </a:xfrm>
          <a:prstGeom prst="line">
            <a:avLst/>
          </a:prstGeom>
          <a:noFill/>
          <a:ln w="15875">
            <a:solidFill>
              <a:srgbClr val="9AACBF"/>
            </a:solidFill>
            <a:prstDash val="solid"/>
          </a:ln>
        </p:spPr>
      </p:sp>
      <p:sp>
        <p:nvSpPr>
          <p:cNvPr id="15" name="Shape 13"/>
          <p:cNvSpPr/>
          <p:nvPr/>
        </p:nvSpPr>
        <p:spPr>
          <a:xfrm>
            <a:off x="548640" y="3154680"/>
            <a:ext cx="6949440" cy="594360"/>
          </a:xfrm>
          <a:prstGeom prst="roundRect">
            <a:avLst>
              <a:gd name="adj" fmla="val 7692"/>
            </a:avLst>
          </a:prstGeom>
          <a:solidFill>
            <a:srgbClr val="F3F6FA"/>
          </a:solidFill>
          <a:ln w="9525">
            <a:solidFill>
              <a:srgbClr val="D8E1EC"/>
            </a:solidFill>
            <a:prstDash val="solid"/>
          </a:ln>
        </p:spPr>
      </p:sp>
      <p:sp>
        <p:nvSpPr>
          <p:cNvPr id="16" name="Text 14"/>
          <p:cNvSpPr txBox="1"/>
          <p:nvPr/>
        </p:nvSpPr>
        <p:spPr>
          <a:xfrm>
            <a:off x="749808" y="3182112"/>
            <a:ext cx="411480" cy="548640"/>
          </a:xfrm>
          <a:prstGeom prst="rect">
            <a:avLst/>
          </a:prstGeom>
          <a:noFill/>
          <a:ln/>
        </p:spPr>
        <p:txBody>
          <a:bodyPr wrap="square" lIns="0" tIns="0" rIns="0" bIns="0" rtlCol="0" anchor="ctr"/>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3</a:t>
            </a:r>
            <a:endParaRPr lang="en-US" sz="1200" dirty="0"/>
          </a:p>
        </p:txBody>
      </p:sp>
      <p:sp>
        <p:nvSpPr>
          <p:cNvPr id="17" name="Text 15"/>
          <p:cNvSpPr txBox="1"/>
          <p:nvPr/>
        </p:nvSpPr>
        <p:spPr>
          <a:xfrm>
            <a:off x="1207008" y="3227832"/>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Ph.04 → Ph.06</a:t>
            </a:r>
            <a:endParaRPr lang="en-US" sz="1150" dirty="0"/>
          </a:p>
        </p:txBody>
      </p:sp>
      <p:sp>
        <p:nvSpPr>
          <p:cNvPr id="18" name="Text 16"/>
          <p:cNvSpPr txBox="1"/>
          <p:nvPr/>
        </p:nvSpPr>
        <p:spPr>
          <a:xfrm>
            <a:off x="4023360" y="3236976"/>
            <a:ext cx="3291840" cy="256032"/>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Backlog, code vers src/, tests</a:t>
            </a:r>
            <a:endParaRPr lang="en-US" sz="1000" dirty="0"/>
          </a:p>
        </p:txBody>
      </p:sp>
      <p:sp>
        <p:nvSpPr>
          <p:cNvPr id="19" name="Shape 17"/>
          <p:cNvSpPr/>
          <p:nvPr/>
        </p:nvSpPr>
        <p:spPr>
          <a:xfrm>
            <a:off x="950976" y="3758184"/>
            <a:ext cx="0" cy="82296"/>
          </a:xfrm>
          <a:prstGeom prst="line">
            <a:avLst/>
          </a:prstGeom>
          <a:noFill/>
          <a:ln w="15875">
            <a:solidFill>
              <a:srgbClr val="9AACBF"/>
            </a:solidFill>
            <a:prstDash val="solid"/>
          </a:ln>
        </p:spPr>
      </p:sp>
      <p:sp>
        <p:nvSpPr>
          <p:cNvPr id="20" name="Shape 18"/>
          <p:cNvSpPr/>
          <p:nvPr/>
        </p:nvSpPr>
        <p:spPr>
          <a:xfrm>
            <a:off x="548640" y="3840480"/>
            <a:ext cx="6949440" cy="594360"/>
          </a:xfrm>
          <a:prstGeom prst="roundRect">
            <a:avLst>
              <a:gd name="adj" fmla="val 7692"/>
            </a:avLst>
          </a:prstGeom>
          <a:solidFill>
            <a:srgbClr val="F3F6FA"/>
          </a:solidFill>
          <a:ln w="9525">
            <a:solidFill>
              <a:srgbClr val="D8E1EC"/>
            </a:solidFill>
            <a:prstDash val="solid"/>
          </a:ln>
        </p:spPr>
      </p:sp>
      <p:sp>
        <p:nvSpPr>
          <p:cNvPr id="21" name="Text 19"/>
          <p:cNvSpPr txBox="1"/>
          <p:nvPr/>
        </p:nvSpPr>
        <p:spPr>
          <a:xfrm>
            <a:off x="749808" y="3867912"/>
            <a:ext cx="411480" cy="548640"/>
          </a:xfrm>
          <a:prstGeom prst="rect">
            <a:avLst/>
          </a:prstGeom>
          <a:noFill/>
          <a:ln/>
        </p:spPr>
        <p:txBody>
          <a:bodyPr wrap="square" lIns="0" tIns="0" rIns="0" bIns="0" rtlCol="0" anchor="ctr"/>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4</a:t>
            </a:r>
            <a:endParaRPr lang="en-US" sz="1200" dirty="0"/>
          </a:p>
        </p:txBody>
      </p:sp>
      <p:sp>
        <p:nvSpPr>
          <p:cNvPr id="22" name="Text 20"/>
          <p:cNvSpPr txBox="1"/>
          <p:nvPr/>
        </p:nvSpPr>
        <p:spPr>
          <a:xfrm>
            <a:off x="1207008" y="3913632"/>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Ph.07 → Ph.09</a:t>
            </a:r>
            <a:endParaRPr lang="en-US" sz="1150" dirty="0"/>
          </a:p>
        </p:txBody>
      </p:sp>
      <p:sp>
        <p:nvSpPr>
          <p:cNvPr id="23" name="Text 21"/>
          <p:cNvSpPr txBox="1"/>
          <p:nvPr/>
        </p:nvSpPr>
        <p:spPr>
          <a:xfrm>
            <a:off x="4023360" y="3922776"/>
            <a:ext cx="3291840" cy="256032"/>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Recette UAT, GitHub Actions, runbook</a:t>
            </a:r>
            <a:endParaRPr lang="en-US" sz="1000" dirty="0"/>
          </a:p>
        </p:txBody>
      </p:sp>
      <p:sp>
        <p:nvSpPr>
          <p:cNvPr id="24" name="Shape 22"/>
          <p:cNvSpPr/>
          <p:nvPr/>
        </p:nvSpPr>
        <p:spPr>
          <a:xfrm>
            <a:off x="950976" y="4443984"/>
            <a:ext cx="0" cy="82296"/>
          </a:xfrm>
          <a:prstGeom prst="line">
            <a:avLst/>
          </a:prstGeom>
          <a:noFill/>
          <a:ln w="15875">
            <a:solidFill>
              <a:srgbClr val="9AACBF"/>
            </a:solidFill>
            <a:prstDash val="solid"/>
          </a:ln>
        </p:spPr>
      </p:sp>
      <p:sp>
        <p:nvSpPr>
          <p:cNvPr id="25" name="Shape 23"/>
          <p:cNvSpPr/>
          <p:nvPr/>
        </p:nvSpPr>
        <p:spPr>
          <a:xfrm>
            <a:off x="548640" y="4526280"/>
            <a:ext cx="6949440" cy="594360"/>
          </a:xfrm>
          <a:prstGeom prst="roundRect">
            <a:avLst>
              <a:gd name="adj" fmla="val 7692"/>
            </a:avLst>
          </a:prstGeom>
          <a:solidFill>
            <a:srgbClr val="F3F6FA"/>
          </a:solidFill>
          <a:ln w="9525">
            <a:solidFill>
              <a:srgbClr val="D8E1EC"/>
            </a:solidFill>
            <a:prstDash val="solid"/>
          </a:ln>
        </p:spPr>
      </p:sp>
      <p:sp>
        <p:nvSpPr>
          <p:cNvPr id="26" name="Text 24"/>
          <p:cNvSpPr txBox="1"/>
          <p:nvPr/>
        </p:nvSpPr>
        <p:spPr>
          <a:xfrm>
            <a:off x="749808" y="4553712"/>
            <a:ext cx="411480" cy="548640"/>
          </a:xfrm>
          <a:prstGeom prst="rect">
            <a:avLst/>
          </a:prstGeom>
          <a:noFill/>
          <a:ln/>
        </p:spPr>
        <p:txBody>
          <a:bodyPr wrap="square" lIns="0" tIns="0" rIns="0" bIns="0" rtlCol="0" anchor="ctr"/>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5</a:t>
            </a:r>
            <a:endParaRPr lang="en-US" sz="1200" dirty="0"/>
          </a:p>
        </p:txBody>
      </p:sp>
      <p:sp>
        <p:nvSpPr>
          <p:cNvPr id="27" name="Text 25"/>
          <p:cNvSpPr txBox="1"/>
          <p:nvPr/>
        </p:nvSpPr>
        <p:spPr>
          <a:xfrm>
            <a:off x="1207008" y="4599432"/>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Scan project</a:t>
            </a:r>
            <a:endParaRPr lang="en-US" sz="1150" dirty="0"/>
          </a:p>
        </p:txBody>
      </p:sp>
      <p:sp>
        <p:nvSpPr>
          <p:cNvPr id="28" name="Text 26"/>
          <p:cNvSpPr txBox="1"/>
          <p:nvPr/>
        </p:nvSpPr>
        <p:spPr>
          <a:xfrm>
            <a:off x="4023360" y="4608576"/>
            <a:ext cx="3291840" cy="256032"/>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Le graphe des neuf nœuds se remplit</a:t>
            </a:r>
            <a:endParaRPr lang="en-US" sz="1000" dirty="0"/>
          </a:p>
        </p:txBody>
      </p:sp>
      <p:sp>
        <p:nvSpPr>
          <p:cNvPr id="29" name="Shape 27"/>
          <p:cNvSpPr/>
          <p:nvPr/>
        </p:nvSpPr>
        <p:spPr>
          <a:xfrm>
            <a:off x="950976" y="5129784"/>
            <a:ext cx="0" cy="82296"/>
          </a:xfrm>
          <a:prstGeom prst="line">
            <a:avLst/>
          </a:prstGeom>
          <a:noFill/>
          <a:ln w="15875">
            <a:solidFill>
              <a:srgbClr val="9AACBF"/>
            </a:solidFill>
            <a:prstDash val="solid"/>
          </a:ln>
        </p:spPr>
      </p:sp>
      <p:sp>
        <p:nvSpPr>
          <p:cNvPr id="30" name="Shape 28"/>
          <p:cNvSpPr/>
          <p:nvPr/>
        </p:nvSpPr>
        <p:spPr>
          <a:xfrm>
            <a:off x="548640" y="5212080"/>
            <a:ext cx="6949440" cy="594360"/>
          </a:xfrm>
          <a:prstGeom prst="roundRect">
            <a:avLst>
              <a:gd name="adj" fmla="val 7692"/>
            </a:avLst>
          </a:prstGeom>
          <a:solidFill>
            <a:srgbClr val="F3F6FA"/>
          </a:solidFill>
          <a:ln w="9525">
            <a:solidFill>
              <a:srgbClr val="D8E1EC"/>
            </a:solidFill>
            <a:prstDash val="solid"/>
          </a:ln>
        </p:spPr>
      </p:sp>
      <p:sp>
        <p:nvSpPr>
          <p:cNvPr id="31" name="Text 29"/>
          <p:cNvSpPr txBox="1"/>
          <p:nvPr/>
        </p:nvSpPr>
        <p:spPr>
          <a:xfrm>
            <a:off x="749808" y="5239512"/>
            <a:ext cx="411480" cy="548640"/>
          </a:xfrm>
          <a:prstGeom prst="rect">
            <a:avLst/>
          </a:prstGeom>
          <a:noFill/>
          <a:ln/>
        </p:spPr>
        <p:txBody>
          <a:bodyPr wrap="square" lIns="0" tIns="0" rIns="0" bIns="0" rtlCol="0" anchor="ctr"/>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6</a:t>
            </a:r>
            <a:endParaRPr lang="en-US" sz="1200" dirty="0"/>
          </a:p>
        </p:txBody>
      </p:sp>
      <p:sp>
        <p:nvSpPr>
          <p:cNvPr id="32" name="Text 30"/>
          <p:cNvSpPr txBox="1"/>
          <p:nvPr/>
        </p:nvSpPr>
        <p:spPr>
          <a:xfrm>
            <a:off x="1207008" y="5285232"/>
            <a:ext cx="2743200" cy="256032"/>
          </a:xfrm>
          <a:prstGeom prst="rect">
            <a:avLst/>
          </a:prstGeom>
          <a:noFill/>
          <a:ln/>
        </p:spPr>
        <p:txBody>
          <a:bodyPr wrap="square" lIns="0" tIns="0" rIns="0" bIns="0" rtlCol="0" anchor="t"/>
          <a:lstStyle/>
          <a:p>
            <a:pPr marL="0" indent="0" algn="l">
              <a:lnSpc>
                <a:spcPct val="108000"/>
              </a:lnSpc>
              <a:buNone/>
            </a:pPr>
            <a:r>
              <a:rPr lang="en-US" sz="1150" b="1" dirty="0">
                <a:solidFill>
                  <a:srgbClr val="10243E"/>
                </a:solidFill>
                <a:latin typeface="Calibri" pitchFamily="34" charset="0"/>
                <a:ea typeface="Calibri" pitchFamily="34" charset="-122"/>
                <a:cs typeface="Calibri" pitchFamily="34" charset="-120"/>
              </a:rPr>
              <a:t>Execute Phase + download</a:t>
            </a:r>
            <a:endParaRPr lang="en-US" sz="1150" dirty="0"/>
          </a:p>
        </p:txBody>
      </p:sp>
      <p:sp>
        <p:nvSpPr>
          <p:cNvPr id="33" name="Text 31"/>
          <p:cNvSpPr txBox="1"/>
          <p:nvPr/>
        </p:nvSpPr>
        <p:spPr>
          <a:xfrm>
            <a:off x="4023360" y="5294376"/>
            <a:ext cx="3291840" cy="256032"/>
          </a:xfrm>
          <a:prstGeom prst="rect">
            <a:avLst/>
          </a:prstGeom>
          <a:noFill/>
          <a:ln/>
        </p:spPr>
        <p:txBody>
          <a:bodyPr wrap="square" lIns="0" tIns="0" rIns="0" bIns="0" rtlCol="0" anchor="t"/>
          <a:lstStyle/>
          <a:p>
            <a:pPr marL="0" indent="0" algn="l">
              <a:lnSpc>
                <a:spcPct val="108000"/>
              </a:lnSpc>
              <a:buNone/>
            </a:pPr>
            <a:r>
              <a:rPr lang="en-US" sz="1000" dirty="0">
                <a:solidFill>
                  <a:srgbClr val="8697AB"/>
                </a:solidFill>
                <a:latin typeface="Calibri" pitchFamily="34" charset="0"/>
                <a:ea typeface="Calibri" pitchFamily="34" charset="-122"/>
                <a:cs typeface="Calibri" pitchFamily="34" charset="-120"/>
              </a:rPr>
              <a:t>Meta-prompt relu, puis CDC .docx</a:t>
            </a:r>
            <a:endParaRPr lang="en-US" sz="1000" dirty="0"/>
          </a:p>
        </p:txBody>
      </p:sp>
      <p:sp>
        <p:nvSpPr>
          <p:cNvPr id="34" name="Shape 32"/>
          <p:cNvSpPr/>
          <p:nvPr/>
        </p:nvSpPr>
        <p:spPr>
          <a:xfrm>
            <a:off x="7772400" y="1783080"/>
            <a:ext cx="1828800" cy="1371600"/>
          </a:xfrm>
          <a:prstGeom prst="roundRect">
            <a:avLst>
              <a:gd name="adj" fmla="val 3333"/>
            </a:avLst>
          </a:prstGeom>
          <a:solidFill>
            <a:srgbClr val="F3F6FA"/>
          </a:solidFill>
          <a:ln w="9525">
            <a:solidFill>
              <a:srgbClr val="D8E1EC"/>
            </a:solidFill>
            <a:prstDash val="solid"/>
          </a:ln>
        </p:spPr>
      </p:sp>
      <p:sp>
        <p:nvSpPr>
          <p:cNvPr id="35" name="Text 33"/>
          <p:cNvSpPr txBox="1"/>
          <p:nvPr/>
        </p:nvSpPr>
        <p:spPr>
          <a:xfrm>
            <a:off x="7863840" y="1947672"/>
            <a:ext cx="1645920" cy="640080"/>
          </a:xfrm>
          <a:prstGeom prst="rect">
            <a:avLst/>
          </a:prstGeom>
          <a:noFill/>
          <a:ln/>
        </p:spPr>
        <p:txBody>
          <a:bodyPr wrap="square" lIns="0" tIns="0" rIns="0" bIns="0" rtlCol="0" anchor="t"/>
          <a:lstStyle/>
          <a:p>
            <a:pPr marL="0" indent="0" algn="ctr">
              <a:lnSpc>
                <a:spcPct val="108000"/>
              </a:lnSpc>
              <a:buNone/>
            </a:pPr>
            <a:r>
              <a:rPr lang="en-US" sz="2400" b="1" dirty="0">
                <a:solidFill>
                  <a:srgbClr val="0E8A6A"/>
                </a:solidFill>
                <a:latin typeface="Calibri" pitchFamily="34" charset="0"/>
                <a:ea typeface="Calibri" pitchFamily="34" charset="-122"/>
                <a:cs typeface="Calibri" pitchFamily="34" charset="-120"/>
              </a:rPr>
              <a:t>4 min</a:t>
            </a:r>
            <a:endParaRPr lang="en-US" sz="2400" dirty="0"/>
          </a:p>
        </p:txBody>
      </p:sp>
      <p:sp>
        <p:nvSpPr>
          <p:cNvPr id="36" name="Text 34"/>
          <p:cNvSpPr txBox="1"/>
          <p:nvPr/>
        </p:nvSpPr>
        <p:spPr>
          <a:xfrm>
            <a:off x="7882128" y="2624328"/>
            <a:ext cx="1609344" cy="457200"/>
          </a:xfrm>
          <a:prstGeom prst="rect">
            <a:avLst/>
          </a:prstGeom>
          <a:noFill/>
          <a:ln/>
        </p:spPr>
        <p:txBody>
          <a:bodyPr wrap="square" lIns="0" tIns="0" rIns="0" bIns="0" rtlCol="0" anchor="t"/>
          <a:lstStyle/>
          <a:p>
            <a:pPr marL="0" indent="0" algn="ctr">
              <a:lnSpc>
                <a:spcPct val="105000"/>
              </a:lnSpc>
              <a:buNone/>
            </a:pPr>
            <a:r>
              <a:rPr lang="en-US" sz="1050" dirty="0">
                <a:solidFill>
                  <a:srgbClr val="8697AB"/>
                </a:solidFill>
                <a:latin typeface="Calibri" pitchFamily="34" charset="0"/>
                <a:ea typeface="Calibri" pitchFamily="34" charset="-122"/>
                <a:cs typeface="Calibri" pitchFamily="34" charset="-120"/>
              </a:rPr>
              <a:t>en headed slowMo, sans intervention</a:t>
            </a:r>
            <a:endParaRPr lang="en-US" sz="1050" dirty="0"/>
          </a:p>
        </p:txBody>
      </p:sp>
      <p:sp>
        <p:nvSpPr>
          <p:cNvPr id="37" name="Shape 35"/>
          <p:cNvSpPr/>
          <p:nvPr/>
        </p:nvSpPr>
        <p:spPr>
          <a:xfrm>
            <a:off x="9784080" y="1783080"/>
            <a:ext cx="1828800" cy="1371600"/>
          </a:xfrm>
          <a:prstGeom prst="roundRect">
            <a:avLst>
              <a:gd name="adj" fmla="val 3333"/>
            </a:avLst>
          </a:prstGeom>
          <a:solidFill>
            <a:srgbClr val="F3F6FA"/>
          </a:solidFill>
          <a:ln w="9525">
            <a:solidFill>
              <a:srgbClr val="D8E1EC"/>
            </a:solidFill>
            <a:prstDash val="solid"/>
          </a:ln>
        </p:spPr>
      </p:sp>
      <p:sp>
        <p:nvSpPr>
          <p:cNvPr id="38" name="Text 36"/>
          <p:cNvSpPr txBox="1"/>
          <p:nvPr/>
        </p:nvSpPr>
        <p:spPr>
          <a:xfrm>
            <a:off x="9875520" y="1947672"/>
            <a:ext cx="1645920" cy="640080"/>
          </a:xfrm>
          <a:prstGeom prst="rect">
            <a:avLst/>
          </a:prstGeom>
          <a:noFill/>
          <a:ln/>
        </p:spPr>
        <p:txBody>
          <a:bodyPr wrap="square" lIns="0" tIns="0" rIns="0" bIns="0" rtlCol="0" anchor="t"/>
          <a:lstStyle/>
          <a:p>
            <a:pPr marL="0" indent="0" algn="ctr">
              <a:lnSpc>
                <a:spcPct val="108000"/>
              </a:lnSpc>
              <a:buNone/>
            </a:pPr>
            <a:r>
              <a:rPr lang="en-US" sz="2400" b="1" dirty="0">
                <a:solidFill>
                  <a:srgbClr val="2B6CB0"/>
                </a:solidFill>
                <a:latin typeface="Calibri" pitchFamily="34" charset="0"/>
                <a:ea typeface="Calibri" pitchFamily="34" charset="-122"/>
                <a:cs typeface="Calibri" pitchFamily="34" charset="-120"/>
              </a:rPr>
              <a:t>8–10</a:t>
            </a:r>
            <a:endParaRPr lang="en-US" sz="2400" dirty="0"/>
          </a:p>
        </p:txBody>
      </p:sp>
      <p:sp>
        <p:nvSpPr>
          <p:cNvPr id="39" name="Text 37"/>
          <p:cNvSpPr txBox="1"/>
          <p:nvPr/>
        </p:nvSpPr>
        <p:spPr>
          <a:xfrm>
            <a:off x="9893808" y="2624328"/>
            <a:ext cx="1609344" cy="457200"/>
          </a:xfrm>
          <a:prstGeom prst="rect">
            <a:avLst/>
          </a:prstGeom>
          <a:noFill/>
          <a:ln/>
        </p:spPr>
        <p:txBody>
          <a:bodyPr wrap="square" lIns="0" tIns="0" rIns="0" bIns="0" rtlCol="0" anchor="t"/>
          <a:lstStyle/>
          <a:p>
            <a:pPr marL="0" indent="0" algn="ctr">
              <a:lnSpc>
                <a:spcPct val="105000"/>
              </a:lnSpc>
              <a:buNone/>
            </a:pPr>
            <a:r>
              <a:rPr lang="en-US" sz="1050" dirty="0">
                <a:solidFill>
                  <a:srgbClr val="8697AB"/>
                </a:solidFill>
                <a:latin typeface="Calibri" pitchFamily="34" charset="0"/>
                <a:ea typeface="Calibri" pitchFamily="34" charset="-122"/>
                <a:cs typeface="Calibri" pitchFamily="34" charset="-120"/>
              </a:rPr>
              <a:t>minutes commentées pour un CEO</a:t>
            </a:r>
            <a:endParaRPr lang="en-US" sz="1050" dirty="0"/>
          </a:p>
        </p:txBody>
      </p:sp>
      <p:sp>
        <p:nvSpPr>
          <p:cNvPr id="40" name="Shape 38"/>
          <p:cNvSpPr/>
          <p:nvPr/>
        </p:nvSpPr>
        <p:spPr>
          <a:xfrm>
            <a:off x="7772400" y="3291840"/>
            <a:ext cx="3840480" cy="1371600"/>
          </a:xfrm>
          <a:prstGeom prst="roundRect">
            <a:avLst>
              <a:gd name="adj" fmla="val 3333"/>
            </a:avLst>
          </a:prstGeom>
          <a:solidFill>
            <a:srgbClr val="F3F6FA"/>
          </a:solidFill>
          <a:ln w="9525">
            <a:solidFill>
              <a:srgbClr val="D8E1EC"/>
            </a:solidFill>
            <a:prstDash val="solid"/>
          </a:ln>
        </p:spPr>
      </p:sp>
      <p:sp>
        <p:nvSpPr>
          <p:cNvPr id="41" name="Text 39"/>
          <p:cNvSpPr txBox="1"/>
          <p:nvPr/>
        </p:nvSpPr>
        <p:spPr>
          <a:xfrm>
            <a:off x="7973568" y="3429000"/>
            <a:ext cx="3438144" cy="274320"/>
          </a:xfrm>
          <a:prstGeom prst="rect">
            <a:avLst/>
          </a:prstGeom>
          <a:noFill/>
          <a:ln/>
        </p:spPr>
        <p:txBody>
          <a:bodyPr wrap="square" lIns="0" tIns="0" rIns="0" bIns="0" rtlCol="0" anchor="t"/>
          <a:lstStyle/>
          <a:p>
            <a:pPr marL="0" indent="0" algn="l">
              <a:lnSpc>
                <a:spcPct val="108000"/>
              </a:lnSpc>
              <a:buNone/>
            </a:pPr>
            <a:r>
              <a:rPr lang="en-US" sz="1350" b="1" dirty="0">
                <a:solidFill>
                  <a:srgbClr val="10243E"/>
                </a:solidFill>
                <a:latin typeface="Calibri" pitchFamily="34" charset="0"/>
                <a:ea typeface="Calibri" pitchFamily="34" charset="-122"/>
                <a:cs typeface="Calibri" pitchFamily="34" charset="-120"/>
              </a:rPr>
              <a:t>Les deux moments à ne pas rater</a:t>
            </a:r>
            <a:endParaRPr lang="en-US" sz="1350" dirty="0"/>
          </a:p>
        </p:txBody>
      </p:sp>
      <p:sp>
        <p:nvSpPr>
          <p:cNvPr id="42" name="Text 40"/>
          <p:cNvSpPr txBox="1"/>
          <p:nvPr/>
        </p:nvSpPr>
        <p:spPr>
          <a:xfrm>
            <a:off x="7973568" y="3767328"/>
            <a:ext cx="3438144" cy="76809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La bascule Confidential, pour montrer que le prompt ne sort pas. Et l’Inspector, pour montrer que la réponse est traçable.</a:t>
            </a:r>
            <a:endParaRPr lang="en-US" sz="1100" dirty="0"/>
          </a:p>
        </p:txBody>
      </p:sp>
      <p:sp>
        <p:nvSpPr>
          <p:cNvPr id="43" name="Shape 41"/>
          <p:cNvSpPr/>
          <p:nvPr/>
        </p:nvSpPr>
        <p:spPr>
          <a:xfrm>
            <a:off x="7772400" y="4800600"/>
            <a:ext cx="3840480" cy="1234440"/>
          </a:xfrm>
          <a:prstGeom prst="roundRect">
            <a:avLst>
              <a:gd name="adj" fmla="val 3704"/>
            </a:avLst>
          </a:prstGeom>
          <a:solidFill>
            <a:srgbClr val="E8EEF6"/>
          </a:solidFill>
          <a:ln w="9525">
            <a:solidFill>
              <a:srgbClr val="D8E1EC"/>
            </a:solidFill>
            <a:prstDash val="solid"/>
          </a:ln>
        </p:spPr>
      </p:sp>
      <p:sp>
        <p:nvSpPr>
          <p:cNvPr id="44" name="Text 42"/>
          <p:cNvSpPr txBox="1"/>
          <p:nvPr/>
        </p:nvSpPr>
        <p:spPr>
          <a:xfrm>
            <a:off x="7973568" y="4937760"/>
            <a:ext cx="3438144" cy="274320"/>
          </a:xfrm>
          <a:prstGeom prst="rect">
            <a:avLst/>
          </a:prstGeom>
          <a:noFill/>
          <a:ln/>
        </p:spPr>
        <p:txBody>
          <a:bodyPr wrap="square" lIns="0" tIns="0" rIns="0" bIns="0" rtlCol="0" anchor="t"/>
          <a:lstStyle/>
          <a:p>
            <a:pPr marL="0" indent="0" algn="l">
              <a:lnSpc>
                <a:spcPct val="108000"/>
              </a:lnSpc>
              <a:buNone/>
            </a:pPr>
            <a:r>
              <a:rPr lang="en-US" sz="1350" b="1" dirty="0">
                <a:solidFill>
                  <a:srgbClr val="10243E"/>
                </a:solidFill>
                <a:latin typeface="Calibri" pitchFamily="34" charset="0"/>
                <a:ea typeface="Calibri" pitchFamily="34" charset="-122"/>
                <a:cs typeface="Calibri" pitchFamily="34" charset="-120"/>
              </a:rPr>
              <a:t>Si le live tombe en panne</a:t>
            </a:r>
            <a:endParaRPr lang="en-US" sz="1350" dirty="0"/>
          </a:p>
        </p:txBody>
      </p:sp>
      <p:sp>
        <p:nvSpPr>
          <p:cNvPr id="45" name="Text 43"/>
          <p:cNvSpPr txBox="1"/>
          <p:nvPr/>
        </p:nvSpPr>
        <p:spPr>
          <a:xfrm>
            <a:off x="7973568" y="5276088"/>
            <a:ext cx="3438144" cy="630936"/>
          </a:xfrm>
          <a:prstGeom prst="rect">
            <a:avLst/>
          </a:prstGeom>
          <a:noFill/>
          <a:ln/>
        </p:spPr>
        <p:txBody>
          <a:bodyPr wrap="square" lIns="0" tIns="0" rIns="0" bIns="0" rtlCol="0" anchor="t"/>
          <a:lstStyle/>
          <a:p>
            <a:pPr marL="0" indent="0" algn="l">
              <a:lnSpc>
                <a:spcPct val="112000"/>
              </a:lnSpc>
              <a:buNone/>
            </a:pPr>
            <a:r>
              <a:rPr lang="en-US" sz="1100" dirty="0">
                <a:solidFill>
                  <a:srgbClr val="3F546B"/>
                </a:solidFill>
                <a:latin typeface="Calibri" pitchFamily="34" charset="0"/>
                <a:ea typeface="Calibri" pitchFamily="34" charset="-122"/>
                <a:cs typeface="Calibri" pitchFamily="34" charset="-120"/>
              </a:rPr>
              <a:t>La spec s’appelle full_sdlc_todo_simulation.spec.js et enregistre une vidéo. Elle sert de plan B.</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6FA"/>
          </a:solidFill>
          <a:ln w="9525">
            <a:solidFill>
              <a:srgbClr val="F3F6FA"/>
            </a:solidFill>
            <a:prstDash val="solid"/>
          </a:ln>
        </p:spPr>
      </p:sp>
      <p:sp>
        <p:nvSpPr>
          <p:cNvPr id="3" name="Text 1"/>
          <p:cNvSpPr txBox="1"/>
          <p:nvPr/>
        </p:nvSpPr>
        <p:spPr>
          <a:xfrm>
            <a:off x="777240" y="777240"/>
            <a:ext cx="10607040" cy="237744"/>
          </a:xfrm>
          <a:prstGeom prst="rect">
            <a:avLst/>
          </a:prstGeom>
          <a:noFill/>
          <a:ln/>
        </p:spPr>
        <p:txBody>
          <a:bodyPr wrap="square" lIns="0" tIns="0" rIns="0" bIns="0" rtlCol="0" anchor="t"/>
          <a:lstStyle/>
          <a:p>
            <a:pPr marL="0" indent="0" algn="l">
              <a:lnSpc>
                <a:spcPct val="108000"/>
              </a:lnSpc>
              <a:buNone/>
            </a:pPr>
            <a:r>
              <a:rPr lang="en-US" sz="1100" b="1" kern="0" spc="220" dirty="0">
                <a:solidFill>
                  <a:srgbClr val="0E8A6A"/>
                </a:solidFill>
                <a:latin typeface="Calibri" pitchFamily="34" charset="0"/>
                <a:ea typeface="Calibri" pitchFamily="34" charset="-122"/>
                <a:cs typeface="Calibri" pitchFamily="34" charset="-120"/>
              </a:rPr>
              <a:t>CE QUE JE DEMANDE</a:t>
            </a:r>
            <a:endParaRPr lang="en-US" sz="1100" dirty="0"/>
          </a:p>
        </p:txBody>
      </p:sp>
      <p:sp>
        <p:nvSpPr>
          <p:cNvPr id="4" name="Text 2"/>
          <p:cNvSpPr txBox="1"/>
          <p:nvPr/>
        </p:nvSpPr>
        <p:spPr>
          <a:xfrm>
            <a:off x="749808" y="1097280"/>
            <a:ext cx="10607040" cy="1188720"/>
          </a:xfrm>
          <a:prstGeom prst="rect">
            <a:avLst/>
          </a:prstGeom>
          <a:noFill/>
          <a:ln/>
        </p:spPr>
        <p:txBody>
          <a:bodyPr wrap="square" lIns="0" tIns="0" rIns="0" bIns="0" rtlCol="0" anchor="t"/>
          <a:lstStyle/>
          <a:p>
            <a:pPr marL="0" indent="0" algn="l">
              <a:lnSpc>
                <a:spcPct val="115000"/>
              </a:lnSpc>
              <a:buNone/>
            </a:pPr>
            <a:r>
              <a:rPr lang="en-US" sz="3000" b="1" kern="0" spc="-50" dirty="0">
                <a:solidFill>
                  <a:srgbClr val="10243E"/>
                </a:solidFill>
                <a:latin typeface="Calibri" pitchFamily="34" charset="0"/>
                <a:ea typeface="Calibri" pitchFamily="34" charset="-122"/>
                <a:cs typeface="Calibri" pitchFamily="34" charset="-120"/>
              </a:rPr>
              <a:t>Deux chantiers, et le prototype devient un outil</a:t>
            </a:r>
            <a:endParaRPr lang="en-US" sz="3000" dirty="0"/>
          </a:p>
          <a:p>
            <a:pPr marL="0" indent="0" algn="l">
              <a:lnSpc>
                <a:spcPct val="115000"/>
              </a:lnSpc>
              <a:buNone/>
            </a:pPr>
            <a:r>
              <a:rPr lang="en-US" sz="3000" b="1" kern="0" spc="-50" dirty="0">
                <a:solidFill>
                  <a:srgbClr val="10243E"/>
                </a:solidFill>
                <a:latin typeface="Calibri" pitchFamily="34" charset="0"/>
                <a:ea typeface="Calibri" pitchFamily="34" charset="-122"/>
                <a:cs typeface="Calibri" pitchFamily="34" charset="-120"/>
              </a:rPr>
              <a:t>qu’on peut mettre devant un client.</a:t>
            </a:r>
            <a:endParaRPr lang="en-US" sz="3000" dirty="0"/>
          </a:p>
        </p:txBody>
      </p:sp>
      <p:sp>
        <p:nvSpPr>
          <p:cNvPr id="5" name="Shape 3"/>
          <p:cNvSpPr/>
          <p:nvPr/>
        </p:nvSpPr>
        <p:spPr>
          <a:xfrm>
            <a:off x="777240" y="2468880"/>
            <a:ext cx="1554480" cy="41148"/>
          </a:xfrm>
          <a:prstGeom prst="rect">
            <a:avLst/>
          </a:prstGeom>
          <a:solidFill>
            <a:srgbClr val="0E8A6A"/>
          </a:solidFill>
          <a:ln w="12700">
            <a:solidFill>
              <a:srgbClr val="0E8A6A"/>
            </a:solidFill>
            <a:prstDash val="solid"/>
          </a:ln>
        </p:spPr>
      </p:sp>
      <p:sp>
        <p:nvSpPr>
          <p:cNvPr id="6" name="Shape 4"/>
          <p:cNvSpPr/>
          <p:nvPr/>
        </p:nvSpPr>
        <p:spPr>
          <a:xfrm>
            <a:off x="777240" y="2834640"/>
            <a:ext cx="5120640" cy="1965960"/>
          </a:xfrm>
          <a:prstGeom prst="roundRect">
            <a:avLst>
              <a:gd name="adj" fmla="val 2326"/>
            </a:avLst>
          </a:prstGeom>
          <a:solidFill>
            <a:srgbClr val="FFFFFF"/>
          </a:solidFill>
          <a:ln w="9525">
            <a:solidFill>
              <a:srgbClr val="0E8A6A"/>
            </a:solidFill>
            <a:prstDash val="solid"/>
          </a:ln>
        </p:spPr>
      </p:sp>
      <p:sp>
        <p:nvSpPr>
          <p:cNvPr id="7" name="Text 5"/>
          <p:cNvSpPr txBox="1"/>
          <p:nvPr/>
        </p:nvSpPr>
        <p:spPr>
          <a:xfrm>
            <a:off x="1033272" y="3017520"/>
            <a:ext cx="914400" cy="256032"/>
          </a:xfrm>
          <a:prstGeom prst="rect">
            <a:avLst/>
          </a:prstGeom>
          <a:noFill/>
          <a:ln/>
        </p:spPr>
        <p:txBody>
          <a:bodyPr wrap="square" lIns="0" tIns="0" rIns="0" bIns="0" rtlCol="0" anchor="t"/>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01</a:t>
            </a:r>
            <a:endParaRPr lang="en-US" sz="1200" dirty="0"/>
          </a:p>
        </p:txBody>
      </p:sp>
      <p:sp>
        <p:nvSpPr>
          <p:cNvPr id="8" name="Text 6"/>
          <p:cNvSpPr txBox="1"/>
          <p:nvPr/>
        </p:nvSpPr>
        <p:spPr>
          <a:xfrm>
            <a:off x="1033272" y="3310128"/>
            <a:ext cx="4572000" cy="310896"/>
          </a:xfrm>
          <a:prstGeom prst="rect">
            <a:avLst/>
          </a:prstGeom>
          <a:noFill/>
          <a:ln/>
        </p:spPr>
        <p:txBody>
          <a:bodyPr wrap="square" lIns="0" tIns="0" rIns="0" bIns="0" rtlCol="0" anchor="t"/>
          <a:lstStyle/>
          <a:p>
            <a:pPr marL="0" indent="0" algn="l">
              <a:lnSpc>
                <a:spcPct val="108000"/>
              </a:lnSpc>
              <a:buNone/>
            </a:pPr>
            <a:r>
              <a:rPr lang="en-US" sz="1700" b="1" dirty="0">
                <a:solidFill>
                  <a:srgbClr val="10243E"/>
                </a:solidFill>
                <a:latin typeface="Calibri" pitchFamily="34" charset="0"/>
                <a:ea typeface="Calibri" pitchFamily="34" charset="-122"/>
                <a:cs typeface="Calibri" pitchFamily="34" charset="-120"/>
              </a:rPr>
              <a:t>Un LLM local réel</a:t>
            </a:r>
            <a:endParaRPr lang="en-US" sz="1700" dirty="0"/>
          </a:p>
        </p:txBody>
      </p:sp>
      <p:sp>
        <p:nvSpPr>
          <p:cNvPr id="9" name="Text 7"/>
          <p:cNvSpPr txBox="1"/>
          <p:nvPr/>
        </p:nvSpPr>
        <p:spPr>
          <a:xfrm>
            <a:off x="1033272" y="3703320"/>
            <a:ext cx="4617720" cy="960120"/>
          </a:xfrm>
          <a:prstGeom prst="rect">
            <a:avLst/>
          </a:prstGeom>
          <a:noFill/>
          <a:ln/>
        </p:spPr>
        <p:txBody>
          <a:bodyPr wrap="square" lIns="0" tIns="0" rIns="0" bIns="0" rtlCol="0" anchor="t"/>
          <a:lstStyle/>
          <a:p>
            <a:pPr marL="0" indent="0" algn="l">
              <a:lnSpc>
                <a:spcPct val="116000"/>
              </a:lnSpc>
              <a:buNone/>
            </a:pPr>
            <a:r>
              <a:rPr lang="en-US" sz="1150" dirty="0">
                <a:solidFill>
                  <a:srgbClr val="3F546B"/>
                </a:solidFill>
                <a:latin typeface="Calibri" pitchFamily="34" charset="0"/>
                <a:ea typeface="Calibri" pitchFamily="34" charset="-122"/>
                <a:cs typeface="Calibri" pitchFamily="34" charset="-120"/>
              </a:rPr>
              <a:t>Ollama ou LM Studio à la place du stub. C’est ce qui transforme la promesse de souveraineté en fait vérifiable : aujourd’hui le chemin confidentiel protège le prompt mais ne répond pas.</a:t>
            </a:r>
            <a:endParaRPr lang="en-US" sz="1150" dirty="0"/>
          </a:p>
        </p:txBody>
      </p:sp>
      <p:sp>
        <p:nvSpPr>
          <p:cNvPr id="10" name="Shape 8"/>
          <p:cNvSpPr/>
          <p:nvPr/>
        </p:nvSpPr>
        <p:spPr>
          <a:xfrm>
            <a:off x="6263640" y="2834640"/>
            <a:ext cx="5120640" cy="1965960"/>
          </a:xfrm>
          <a:prstGeom prst="roundRect">
            <a:avLst>
              <a:gd name="adj" fmla="val 2326"/>
            </a:avLst>
          </a:prstGeom>
          <a:solidFill>
            <a:srgbClr val="FFFFFF"/>
          </a:solidFill>
          <a:ln w="9525">
            <a:solidFill>
              <a:srgbClr val="0E8A6A"/>
            </a:solidFill>
            <a:prstDash val="solid"/>
          </a:ln>
        </p:spPr>
      </p:sp>
      <p:sp>
        <p:nvSpPr>
          <p:cNvPr id="11" name="Text 9"/>
          <p:cNvSpPr txBox="1"/>
          <p:nvPr/>
        </p:nvSpPr>
        <p:spPr>
          <a:xfrm>
            <a:off x="6519672" y="3017520"/>
            <a:ext cx="914400" cy="256032"/>
          </a:xfrm>
          <a:prstGeom prst="rect">
            <a:avLst/>
          </a:prstGeom>
          <a:noFill/>
          <a:ln/>
        </p:spPr>
        <p:txBody>
          <a:bodyPr wrap="square" lIns="0" tIns="0" rIns="0" bIns="0" rtlCol="0" anchor="t"/>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02</a:t>
            </a:r>
            <a:endParaRPr lang="en-US" sz="1200" dirty="0"/>
          </a:p>
        </p:txBody>
      </p:sp>
      <p:sp>
        <p:nvSpPr>
          <p:cNvPr id="12" name="Text 10"/>
          <p:cNvSpPr txBox="1"/>
          <p:nvPr/>
        </p:nvSpPr>
        <p:spPr>
          <a:xfrm>
            <a:off x="6519672" y="3310128"/>
            <a:ext cx="4572000" cy="310896"/>
          </a:xfrm>
          <a:prstGeom prst="rect">
            <a:avLst/>
          </a:prstGeom>
          <a:noFill/>
          <a:ln/>
        </p:spPr>
        <p:txBody>
          <a:bodyPr wrap="square" lIns="0" tIns="0" rIns="0" bIns="0" rtlCol="0" anchor="t"/>
          <a:lstStyle/>
          <a:p>
            <a:pPr marL="0" indent="0" algn="l">
              <a:lnSpc>
                <a:spcPct val="108000"/>
              </a:lnSpc>
              <a:buNone/>
            </a:pPr>
            <a:r>
              <a:rPr lang="en-US" sz="1700" b="1" dirty="0">
                <a:solidFill>
                  <a:srgbClr val="10243E"/>
                </a:solidFill>
                <a:latin typeface="Calibri" pitchFamily="34" charset="0"/>
                <a:ea typeface="Calibri" pitchFamily="34" charset="-122"/>
                <a:cs typeface="Calibri" pitchFamily="34" charset="-120"/>
              </a:rPr>
              <a:t>La boucle de re-prompt</a:t>
            </a:r>
            <a:endParaRPr lang="en-US" sz="1700" dirty="0"/>
          </a:p>
        </p:txBody>
      </p:sp>
      <p:sp>
        <p:nvSpPr>
          <p:cNvPr id="13" name="Text 11"/>
          <p:cNvSpPr txBox="1"/>
          <p:nvPr/>
        </p:nvSpPr>
        <p:spPr>
          <a:xfrm>
            <a:off x="6519672" y="3703320"/>
            <a:ext cx="4617720" cy="960120"/>
          </a:xfrm>
          <a:prstGeom prst="rect">
            <a:avLst/>
          </a:prstGeom>
          <a:noFill/>
          <a:ln/>
        </p:spPr>
        <p:txBody>
          <a:bodyPr wrap="square" lIns="0" tIns="0" rIns="0" bIns="0" rtlCol="0" anchor="t"/>
          <a:lstStyle/>
          <a:p>
            <a:pPr marL="0" indent="0" algn="l">
              <a:lnSpc>
                <a:spcPct val="116000"/>
              </a:lnSpc>
              <a:buNone/>
            </a:pPr>
            <a:r>
              <a:rPr lang="en-US" sz="1150" dirty="0">
                <a:solidFill>
                  <a:srgbClr val="3F546B"/>
                </a:solidFill>
                <a:latin typeface="Calibri" pitchFamily="34" charset="0"/>
                <a:ea typeface="Calibri" pitchFamily="34" charset="-122"/>
                <a:cs typeface="Calibri" pitchFamily="34" charset="-120"/>
              </a:rPr>
              <a:t>Régénération automatique quand le juge T3 passe sous 7. SFD-04 le prévoyait. Sans elle, le gatekeeper signale un problème que personne ne corrige.</a:t>
            </a:r>
            <a:endParaRPr lang="en-US" sz="1150" dirty="0"/>
          </a:p>
        </p:txBody>
      </p:sp>
      <p:sp>
        <p:nvSpPr>
          <p:cNvPr id="14" name="Text 12"/>
          <p:cNvSpPr txBox="1"/>
          <p:nvPr/>
        </p:nvSpPr>
        <p:spPr>
          <a:xfrm>
            <a:off x="777240" y="5120640"/>
            <a:ext cx="10607040" cy="548640"/>
          </a:xfrm>
          <a:prstGeom prst="rect">
            <a:avLst/>
          </a:prstGeom>
          <a:noFill/>
          <a:ln/>
        </p:spPr>
        <p:txBody>
          <a:bodyPr wrap="square" lIns="0" tIns="0" rIns="0" bIns="0" rtlCol="0" anchor="t"/>
          <a:lstStyle/>
          <a:p>
            <a:pPr marL="0" indent="0" algn="l">
              <a:lnSpc>
                <a:spcPct val="115000"/>
              </a:lnSpc>
              <a:buNone/>
            </a:pPr>
            <a:r>
              <a:rPr lang="en-US" sz="1200" i="1" dirty="0">
                <a:solidFill>
                  <a:srgbClr val="8697AB"/>
                </a:solidFill>
                <a:latin typeface="Calibri" pitchFamily="34" charset="0"/>
                <a:ea typeface="Calibri" pitchFamily="34" charset="-122"/>
                <a:cs typeface="Calibri" pitchFamily="34" charset="-120"/>
              </a:rPr>
              <a:t>Les trois autres écarts — skills backend, connecteurs GitHub/Jira, export PDF — peuvent attendre le prochain cycle. Ils n’empêchent personne de travailler.</a:t>
            </a:r>
            <a:endParaRPr lang="en-US" sz="1200" dirty="0"/>
          </a:p>
        </p:txBody>
      </p:sp>
      <p:sp>
        <p:nvSpPr>
          <p:cNvPr id="15" name="Text 13"/>
          <p:cNvSpPr txBox="1"/>
          <p:nvPr/>
        </p:nvSpPr>
        <p:spPr>
          <a:xfrm>
            <a:off x="777240" y="6035040"/>
            <a:ext cx="1060704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ourier New" pitchFamily="34" charset="0"/>
                <a:ea typeface="Courier New" pitchFamily="34" charset="-122"/>
                <a:cs typeface="Courier New" pitchFamily="34" charset="-120"/>
              </a:rPr>
              <a:t>Fuzyo Copilot · FUZYO France SAS · restitution 2026</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92840" y="6327648"/>
            <a:ext cx="457200" cy="274320"/>
          </a:xfrm>
          <a:prstGeom prst="rect">
            <a:avLst/>
          </a:prstGeom>
          <a:noFill/>
          <a:ln/>
        </p:spPr>
        <p:txBody>
          <a:bodyPr wrap="square" lIns="0" tIns="0" rIns="0" bIns="0" rtlCol="0" anchor="ctr"/>
          <a:lstStyle/>
          <a:p>
            <a:pPr marL="0" indent="0" algn="r">
              <a:buNone/>
            </a:pPr>
            <a:r>
              <a:rPr lang="en-US" sz="1000" dirty="0">
                <a:solidFill>
                  <a:srgbClr val="8697AB"/>
                </a:solidFill>
                <a:latin typeface="Courier New" pitchFamily="34" charset="0"/>
                <a:ea typeface="Courier New" pitchFamily="34" charset="-122"/>
                <a:cs typeface="Courier New" pitchFamily="34" charset="-120"/>
              </a:rPr>
              <a:t>02</a:t>
            </a:r>
            <a:endParaRPr lang="en-US" sz="1000" dirty="0"/>
          </a:p>
        </p:txBody>
      </p:sp>
      <p:sp>
        <p:nvSpPr>
          <p:cNvPr id="3" name="Text 1"/>
          <p:cNvSpPr txBox="1"/>
          <p:nvPr/>
        </p:nvSpPr>
        <p:spPr>
          <a:xfrm>
            <a:off x="566928" y="384048"/>
            <a:ext cx="10058400" cy="219456"/>
          </a:xfrm>
          <a:prstGeom prst="rect">
            <a:avLst/>
          </a:prstGeom>
          <a:noFill/>
          <a:ln/>
        </p:spPr>
        <p:txBody>
          <a:bodyPr wrap="square" lIns="0" tIns="0" rIns="0" bIns="0" rtlCol="0" anchor="ctr"/>
          <a:lstStyle/>
          <a:p>
            <a:pPr marL="0" indent="0">
              <a:buNone/>
            </a:pPr>
            <a:r>
              <a:rPr lang="en-US" sz="1050" b="1" kern="0" spc="220" dirty="0">
                <a:solidFill>
                  <a:srgbClr val="0E8A6A"/>
                </a:solidFill>
                <a:latin typeface="Calibri" pitchFamily="34" charset="0"/>
                <a:ea typeface="Calibri" pitchFamily="34" charset="-122"/>
                <a:cs typeface="Calibri" pitchFamily="34" charset="-120"/>
              </a:rPr>
              <a:t>LE PLAN</a:t>
            </a:r>
            <a:endParaRPr lang="en-US" sz="1050" dirty="0"/>
          </a:p>
        </p:txBody>
      </p:sp>
      <p:sp>
        <p:nvSpPr>
          <p:cNvPr id="4" name="Text 2"/>
          <p:cNvSpPr txBox="1"/>
          <p:nvPr/>
        </p:nvSpPr>
        <p:spPr>
          <a:xfrm>
            <a:off x="548640" y="640080"/>
            <a:ext cx="11064240" cy="603504"/>
          </a:xfrm>
          <a:prstGeom prst="rect">
            <a:avLst/>
          </a:prstGeom>
          <a:noFill/>
          <a:ln/>
        </p:spPr>
        <p:txBody>
          <a:bodyPr wrap="square" lIns="0" tIns="0" rIns="0" bIns="0" rtlCol="0" anchor="ctr"/>
          <a:lstStyle/>
          <a:p>
            <a:pPr marL="0" indent="0">
              <a:buNone/>
            </a:pPr>
            <a:r>
              <a:rPr lang="en-US" sz="2700" b="1" kern="0" spc="-40" dirty="0">
                <a:solidFill>
                  <a:srgbClr val="10243E"/>
                </a:solidFill>
                <a:latin typeface="Calibri" pitchFamily="34" charset="0"/>
                <a:ea typeface="Calibri" pitchFamily="34" charset="-122"/>
                <a:cs typeface="Calibri" pitchFamily="34" charset="-120"/>
              </a:rPr>
              <a:t>Six temps, du constat à la demande d’arbitrage.</a:t>
            </a:r>
            <a:endParaRPr lang="en-US" sz="2700" dirty="0"/>
          </a:p>
        </p:txBody>
      </p:sp>
      <p:sp>
        <p:nvSpPr>
          <p:cNvPr id="5" name="Shape 3"/>
          <p:cNvSpPr/>
          <p:nvPr/>
        </p:nvSpPr>
        <p:spPr>
          <a:xfrm>
            <a:off x="548640" y="2350000"/>
            <a:ext cx="3547872" cy="1298448"/>
          </a:xfrm>
          <a:prstGeom prst="roundRect">
            <a:avLst>
              <a:gd name="adj" fmla="val 3521"/>
            </a:avLst>
          </a:prstGeom>
          <a:solidFill>
            <a:srgbClr val="F3F6FA"/>
          </a:solidFill>
          <a:ln w="9525">
            <a:solidFill>
              <a:srgbClr val="D8E1EC"/>
            </a:solidFill>
            <a:prstDash val="solid"/>
          </a:ln>
        </p:spPr>
      </p:sp>
      <p:sp>
        <p:nvSpPr>
          <p:cNvPr id="6" name="Text 4"/>
          <p:cNvSpPr txBox="1"/>
          <p:nvPr/>
        </p:nvSpPr>
        <p:spPr>
          <a:xfrm>
            <a:off x="749808" y="247801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01</a:t>
            </a:r>
            <a:endParaRPr lang="en-US" sz="1300" dirty="0"/>
          </a:p>
        </p:txBody>
      </p:sp>
      <p:sp>
        <p:nvSpPr>
          <p:cNvPr id="7" name="Text 5"/>
          <p:cNvSpPr txBox="1"/>
          <p:nvPr/>
        </p:nvSpPr>
        <p:spPr>
          <a:xfrm>
            <a:off x="1335024" y="246887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La thèse</a:t>
            </a:r>
            <a:endParaRPr lang="en-US" sz="1300" dirty="0"/>
          </a:p>
        </p:txBody>
      </p:sp>
      <p:sp>
        <p:nvSpPr>
          <p:cNvPr id="8" name="Text 6"/>
          <p:cNvSpPr txBox="1"/>
          <p:nvPr/>
        </p:nvSpPr>
        <p:spPr>
          <a:xfrm>
            <a:off x="749808" y="286206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Un chat qui connaît les neuf phases, et une garantie de confidentialité.</a:t>
            </a:r>
            <a:endParaRPr lang="en-US" sz="1050" dirty="0"/>
          </a:p>
        </p:txBody>
      </p:sp>
      <p:sp>
        <p:nvSpPr>
          <p:cNvPr id="10" name="Text 8"/>
          <p:cNvSpPr txBox="1"/>
          <p:nvPr/>
        </p:nvSpPr>
        <p:spPr>
          <a:xfrm>
            <a:off x="749808" y="328268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Thèse &amp; constat</a:t>
            </a:r>
            <a:endParaRPr lang="en-US" sz="1050" dirty="0"/>
          </a:p>
        </p:txBody>
      </p:sp>
      <p:sp>
        <p:nvSpPr>
          <p:cNvPr id="11" name="Shape 9"/>
          <p:cNvSpPr/>
          <p:nvPr/>
        </p:nvSpPr>
        <p:spPr>
          <a:xfrm>
            <a:off x="4315968" y="2350000"/>
            <a:ext cx="3547872" cy="1298448"/>
          </a:xfrm>
          <a:prstGeom prst="roundRect">
            <a:avLst>
              <a:gd name="adj" fmla="val 3521"/>
            </a:avLst>
          </a:prstGeom>
          <a:solidFill>
            <a:srgbClr val="F3F6FA"/>
          </a:solidFill>
          <a:ln w="9525">
            <a:solidFill>
              <a:srgbClr val="D8E1EC"/>
            </a:solidFill>
            <a:prstDash val="solid"/>
          </a:ln>
        </p:spPr>
      </p:sp>
      <p:sp>
        <p:nvSpPr>
          <p:cNvPr id="12" name="Text 10"/>
          <p:cNvSpPr txBox="1"/>
          <p:nvPr/>
        </p:nvSpPr>
        <p:spPr>
          <a:xfrm>
            <a:off x="4517136" y="247801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02</a:t>
            </a:r>
            <a:endParaRPr lang="en-US" sz="1300" dirty="0"/>
          </a:p>
        </p:txBody>
      </p:sp>
      <p:sp>
        <p:nvSpPr>
          <p:cNvPr id="13" name="Text 11"/>
          <p:cNvSpPr txBox="1"/>
          <p:nvPr/>
        </p:nvSpPr>
        <p:spPr>
          <a:xfrm>
            <a:off x="5102352" y="246887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Le produit</a:t>
            </a:r>
            <a:endParaRPr lang="en-US" sz="1300" dirty="0"/>
          </a:p>
        </p:txBody>
      </p:sp>
      <p:sp>
        <p:nvSpPr>
          <p:cNvPr id="14" name="Text 12"/>
          <p:cNvSpPr txBox="1"/>
          <p:nvPr/>
        </p:nvSpPr>
        <p:spPr>
          <a:xfrm>
            <a:off x="4517136" y="286206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Neuf phases, un parcours en huit gestes, cinq couches d’architecture.</a:t>
            </a:r>
            <a:endParaRPr lang="en-US" sz="1050" dirty="0"/>
          </a:p>
        </p:txBody>
      </p:sp>
      <p:sp>
        <p:nvSpPr>
          <p:cNvPr id="16" name="Text 14"/>
          <p:cNvSpPr txBox="1"/>
          <p:nvPr/>
        </p:nvSpPr>
        <p:spPr>
          <a:xfrm>
            <a:off x="4517136" y="328268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Squelette &amp; architecture</a:t>
            </a:r>
            <a:endParaRPr lang="en-US" sz="1050" dirty="0"/>
          </a:p>
        </p:txBody>
      </p:sp>
      <p:sp>
        <p:nvSpPr>
          <p:cNvPr id="17" name="Shape 15"/>
          <p:cNvSpPr/>
          <p:nvPr/>
        </p:nvSpPr>
        <p:spPr>
          <a:xfrm>
            <a:off x="8083296" y="2350000"/>
            <a:ext cx="3547872" cy="1298448"/>
          </a:xfrm>
          <a:prstGeom prst="roundRect">
            <a:avLst>
              <a:gd name="adj" fmla="val 3521"/>
            </a:avLst>
          </a:prstGeom>
          <a:solidFill>
            <a:srgbClr val="F3F6FA"/>
          </a:solidFill>
          <a:ln w="9525">
            <a:solidFill>
              <a:srgbClr val="D8E1EC"/>
            </a:solidFill>
            <a:prstDash val="solid"/>
          </a:ln>
        </p:spPr>
      </p:sp>
      <p:sp>
        <p:nvSpPr>
          <p:cNvPr id="18" name="Text 16"/>
          <p:cNvSpPr txBox="1"/>
          <p:nvPr/>
        </p:nvSpPr>
        <p:spPr>
          <a:xfrm>
            <a:off x="8284464" y="247801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03</a:t>
            </a:r>
            <a:endParaRPr lang="en-US" sz="1300" dirty="0"/>
          </a:p>
        </p:txBody>
      </p:sp>
      <p:sp>
        <p:nvSpPr>
          <p:cNvPr id="19" name="Text 17"/>
          <p:cNvSpPr txBox="1"/>
          <p:nvPr/>
        </p:nvSpPr>
        <p:spPr>
          <a:xfrm>
            <a:off x="8869680" y="246887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Le moteur</a:t>
            </a:r>
            <a:endParaRPr lang="en-US" sz="1300" dirty="0"/>
          </a:p>
        </p:txBody>
      </p:sp>
      <p:sp>
        <p:nvSpPr>
          <p:cNvPr id="20" name="Text 18"/>
          <p:cNvSpPr txBox="1"/>
          <p:nvPr/>
        </p:nvSpPr>
        <p:spPr>
          <a:xfrm>
            <a:off x="8284464" y="286206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Streaming, routeur de confidentialité, mémoire RAG, orchestration.</a:t>
            </a:r>
            <a:endParaRPr lang="en-US" sz="1050" dirty="0"/>
          </a:p>
        </p:txBody>
      </p:sp>
      <p:sp>
        <p:nvSpPr>
          <p:cNvPr id="22" name="Text 20"/>
          <p:cNvSpPr txBox="1"/>
          <p:nvPr/>
        </p:nvSpPr>
        <p:spPr>
          <a:xfrm>
            <a:off x="8284464" y="328268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Confidentialité &amp; IA</a:t>
            </a:r>
            <a:endParaRPr lang="en-US" sz="1050" dirty="0"/>
          </a:p>
        </p:txBody>
      </p:sp>
      <p:sp>
        <p:nvSpPr>
          <p:cNvPr id="23" name="Shape 21"/>
          <p:cNvSpPr/>
          <p:nvPr/>
        </p:nvSpPr>
        <p:spPr>
          <a:xfrm>
            <a:off x="548640" y="3813040"/>
            <a:ext cx="3547872" cy="1298448"/>
          </a:xfrm>
          <a:prstGeom prst="roundRect">
            <a:avLst>
              <a:gd name="adj" fmla="val 3521"/>
            </a:avLst>
          </a:prstGeom>
          <a:solidFill>
            <a:srgbClr val="F3F6FA"/>
          </a:solidFill>
          <a:ln w="9525">
            <a:solidFill>
              <a:srgbClr val="D8E1EC"/>
            </a:solidFill>
            <a:prstDash val="solid"/>
          </a:ln>
        </p:spPr>
      </p:sp>
      <p:sp>
        <p:nvSpPr>
          <p:cNvPr id="24" name="Text 22"/>
          <p:cNvSpPr txBox="1"/>
          <p:nvPr/>
        </p:nvSpPr>
        <p:spPr>
          <a:xfrm>
            <a:off x="749808" y="394105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04</a:t>
            </a:r>
            <a:endParaRPr lang="en-US" sz="1300" dirty="0"/>
          </a:p>
        </p:txBody>
      </p:sp>
      <p:sp>
        <p:nvSpPr>
          <p:cNvPr id="25" name="Text 23"/>
          <p:cNvSpPr txBox="1"/>
          <p:nvPr/>
        </p:nvSpPr>
        <p:spPr>
          <a:xfrm>
            <a:off x="1335024" y="393191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La preuve</a:t>
            </a:r>
            <a:endParaRPr lang="en-US" sz="1300" dirty="0"/>
          </a:p>
        </p:txBody>
      </p:sp>
      <p:sp>
        <p:nvSpPr>
          <p:cNvPr id="26" name="Text 24"/>
          <p:cNvSpPr txBox="1"/>
          <p:nvPr/>
        </p:nvSpPr>
        <p:spPr>
          <a:xfrm>
            <a:off x="749808" y="432510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Interface, traçabilité de chaque réponse, pilotage par l’audit du disque.</a:t>
            </a:r>
            <a:endParaRPr lang="en-US" sz="1050" dirty="0"/>
          </a:p>
        </p:txBody>
      </p:sp>
      <p:sp>
        <p:nvSpPr>
          <p:cNvPr id="28" name="Text 26"/>
          <p:cNvSpPr txBox="1"/>
          <p:nvPr/>
        </p:nvSpPr>
        <p:spPr>
          <a:xfrm>
            <a:off x="749808" y="474572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Interface &amp; pilotage</a:t>
            </a:r>
            <a:endParaRPr lang="en-US" sz="1050" dirty="0"/>
          </a:p>
        </p:txBody>
      </p:sp>
      <p:sp>
        <p:nvSpPr>
          <p:cNvPr id="29" name="Shape 27"/>
          <p:cNvSpPr/>
          <p:nvPr/>
        </p:nvSpPr>
        <p:spPr>
          <a:xfrm>
            <a:off x="4315968" y="3813040"/>
            <a:ext cx="3547872" cy="1298448"/>
          </a:xfrm>
          <a:prstGeom prst="roundRect">
            <a:avLst>
              <a:gd name="adj" fmla="val 3521"/>
            </a:avLst>
          </a:prstGeom>
          <a:solidFill>
            <a:srgbClr val="F3F6FA"/>
          </a:solidFill>
          <a:ln w="9525">
            <a:solidFill>
              <a:srgbClr val="D8E1EC"/>
            </a:solidFill>
            <a:prstDash val="solid"/>
          </a:ln>
        </p:spPr>
      </p:sp>
      <p:sp>
        <p:nvSpPr>
          <p:cNvPr id="30" name="Text 28"/>
          <p:cNvSpPr txBox="1"/>
          <p:nvPr/>
        </p:nvSpPr>
        <p:spPr>
          <a:xfrm>
            <a:off x="4517136" y="394105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05</a:t>
            </a:r>
            <a:endParaRPr lang="en-US" sz="1300" dirty="0"/>
          </a:p>
        </p:txBody>
      </p:sp>
      <p:sp>
        <p:nvSpPr>
          <p:cNvPr id="31" name="Text 29"/>
          <p:cNvSpPr txBox="1"/>
          <p:nvPr/>
        </p:nvSpPr>
        <p:spPr>
          <a:xfrm>
            <a:off x="5102352" y="393191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Le bilan</a:t>
            </a:r>
            <a:endParaRPr lang="en-US" sz="1300" dirty="0"/>
          </a:p>
        </p:txBody>
      </p:sp>
      <p:sp>
        <p:nvSpPr>
          <p:cNvPr id="32" name="Text 30"/>
          <p:cNvSpPr txBox="1"/>
          <p:nvPr/>
        </p:nvSpPr>
        <p:spPr>
          <a:xfrm>
            <a:off x="4517136" y="432510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Onze capacités livrées, huit arbitrages, sept incidents et leur leçon.</a:t>
            </a:r>
            <a:endParaRPr lang="en-US" sz="1050" dirty="0"/>
          </a:p>
        </p:txBody>
      </p:sp>
      <p:sp>
        <p:nvSpPr>
          <p:cNvPr id="34" name="Text 32"/>
          <p:cNvSpPr txBox="1"/>
          <p:nvPr/>
        </p:nvSpPr>
        <p:spPr>
          <a:xfrm>
            <a:off x="4517136" y="474572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Maturité &amp; arbitrages</a:t>
            </a:r>
            <a:endParaRPr lang="en-US" sz="1050" dirty="0"/>
          </a:p>
        </p:txBody>
      </p:sp>
      <p:sp>
        <p:nvSpPr>
          <p:cNvPr id="35" name="Shape 33"/>
          <p:cNvSpPr/>
          <p:nvPr/>
        </p:nvSpPr>
        <p:spPr>
          <a:xfrm>
            <a:off x="8083296" y="3813040"/>
            <a:ext cx="3547872" cy="1298448"/>
          </a:xfrm>
          <a:prstGeom prst="roundRect">
            <a:avLst>
              <a:gd name="adj" fmla="val 3521"/>
            </a:avLst>
          </a:prstGeom>
          <a:solidFill>
            <a:srgbClr val="F3F6FA"/>
          </a:solidFill>
          <a:ln w="9525">
            <a:solidFill>
              <a:srgbClr val="D8E1EC"/>
            </a:solidFill>
            <a:prstDash val="solid"/>
          </a:ln>
        </p:spPr>
      </p:sp>
      <p:sp>
        <p:nvSpPr>
          <p:cNvPr id="36" name="Text 34"/>
          <p:cNvSpPr txBox="1"/>
          <p:nvPr/>
        </p:nvSpPr>
        <p:spPr>
          <a:xfrm>
            <a:off x="8284464" y="3941056"/>
            <a:ext cx="548640" cy="274320"/>
          </a:xfrm>
          <a:prstGeom prst="rect">
            <a:avLst/>
          </a:prstGeom>
          <a:noFill/>
          <a:ln/>
        </p:spPr>
        <p:txBody>
          <a:bodyPr wrap="square" lIns="0" tIns="0" rIns="0" bIns="0" rtlCol="0" anchor="t"/>
          <a:lstStyle/>
          <a:p>
            <a:pPr marL="0" indent="0" algn="l">
              <a:lnSpc>
                <a:spcPct val="108000"/>
              </a:lnSpc>
              <a:buNone/>
            </a:pPr>
            <a:r>
              <a:rPr lang="en-US" sz="1300" b="1" dirty="0">
                <a:solidFill>
                  <a:srgbClr val="0E8A6A"/>
                </a:solidFill>
                <a:latin typeface="Courier New" pitchFamily="34" charset="0"/>
                <a:ea typeface="Courier New" pitchFamily="34" charset="-122"/>
                <a:cs typeface="Courier New" pitchFamily="34" charset="-120"/>
              </a:rPr>
              <a:t>06</a:t>
            </a:r>
            <a:endParaRPr lang="en-US" sz="1300" dirty="0"/>
          </a:p>
        </p:txBody>
      </p:sp>
      <p:sp>
        <p:nvSpPr>
          <p:cNvPr id="37" name="Text 35"/>
          <p:cNvSpPr txBox="1"/>
          <p:nvPr/>
        </p:nvSpPr>
        <p:spPr>
          <a:xfrm>
            <a:off x="8869680" y="3931912"/>
            <a:ext cx="2606040" cy="292608"/>
          </a:xfrm>
          <a:prstGeom prst="rect">
            <a:avLst/>
          </a:prstGeom>
          <a:noFill/>
          <a:ln/>
        </p:spPr>
        <p:txBody>
          <a:bodyPr wrap="square" lIns="0" tIns="0" rIns="0" bIns="0" rtlCol="0" anchor="t"/>
          <a:lstStyle/>
          <a:p>
            <a:pPr marL="0" indent="0" algn="l">
              <a:lnSpc>
                <a:spcPct val="108000"/>
              </a:lnSpc>
              <a:buNone/>
            </a:pPr>
            <a:r>
              <a:rPr lang="en-US" sz="1300" b="1" dirty="0">
                <a:solidFill>
                  <a:srgbClr val="10243E"/>
                </a:solidFill>
                <a:latin typeface="Calibri" pitchFamily="34" charset="0"/>
                <a:ea typeface="Calibri" pitchFamily="34" charset="-122"/>
                <a:cs typeface="Calibri" pitchFamily="34" charset="-120"/>
              </a:rPr>
              <a:t>La démonstration</a:t>
            </a:r>
            <a:endParaRPr lang="en-US" sz="1300" dirty="0"/>
          </a:p>
        </p:txBody>
      </p:sp>
      <p:sp>
        <p:nvSpPr>
          <p:cNvPr id="38" name="Text 36"/>
          <p:cNvSpPr txBox="1"/>
          <p:nvPr/>
        </p:nvSpPr>
        <p:spPr>
          <a:xfrm>
            <a:off x="8284464" y="4325104"/>
            <a:ext cx="315468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Neuf phases en quatre minutes, puis deux chantiers à trancher.</a:t>
            </a:r>
            <a:endParaRPr lang="en-US" sz="1050" dirty="0"/>
          </a:p>
        </p:txBody>
      </p:sp>
      <p:sp>
        <p:nvSpPr>
          <p:cNvPr id="40" name="Text 38"/>
          <p:cNvSpPr txBox="1"/>
          <p:nvPr/>
        </p:nvSpPr>
        <p:spPr>
          <a:xfrm>
            <a:off x="8284464" y="4745728"/>
            <a:ext cx="3154680" cy="256032"/>
          </a:xfrm>
          <a:prstGeom prst="rect">
            <a:avLst/>
          </a:prstGeom>
          <a:noFill/>
          <a:ln/>
        </p:spPr>
        <p:txBody>
          <a:bodyPr wrap="square" lIns="0" tIns="0" rIns="0" bIns="0" rtlCol="0" anchor="t"/>
          <a:lstStyle/>
          <a:p>
            <a:pPr marL="0" indent="0" algn="l">
              <a:lnSpc>
                <a:spcPct val="108000"/>
              </a:lnSpc>
              <a:buNone/>
            </a:pPr>
            <a:r>
              <a:rPr lang="en-US" sz="1050" b="1" dirty="0">
                <a:solidFill>
                  <a:srgbClr val="0E8A6A"/>
                </a:solidFill>
                <a:latin typeface="Calibri" pitchFamily="34" charset="0"/>
                <a:ea typeface="Calibri" pitchFamily="34" charset="-122"/>
                <a:cs typeface="Calibri" pitchFamily="34" charset="-120"/>
              </a:rPr>
              <a:t>Démo &amp; demande</a:t>
            </a:r>
            <a:endParaRPr lang="en-US" sz="1050" dirty="0"/>
          </a:p>
        </p:txBody>
      </p:sp>
      <p:sp>
        <p:nvSpPr>
          <p:cNvPr id="59" name="Text 57"/>
          <p:cNvSpPr txBox="1"/>
          <p:nvPr/>
        </p:nvSpPr>
        <p:spPr>
          <a:xfrm>
            <a:off x="566928" y="5450000"/>
            <a:ext cx="10424160" cy="292608"/>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alibri" pitchFamily="34" charset="0"/>
                <a:ea typeface="Calibri" pitchFamily="34" charset="-122"/>
                <a:cs typeface="Calibri" pitchFamily="34" charset="-120"/>
              </a:rPr>
              <a:t>Chaque temps s’appuie sur le précédent : la thèse pose la garantie, le bilan et la démo en administrent la preuve.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6FA"/>
          </a:solidFill>
          <a:ln w="9525">
            <a:solidFill>
              <a:srgbClr val="F3F6FA"/>
            </a:solidFill>
            <a:prstDash val="solid"/>
          </a:ln>
        </p:spPr>
      </p:sp>
      <p:sp>
        <p:nvSpPr>
          <p:cNvPr id="3" name="Text 1"/>
          <p:cNvSpPr txBox="1"/>
          <p:nvPr/>
        </p:nvSpPr>
        <p:spPr>
          <a:xfrm>
            <a:off x="777240" y="777240"/>
            <a:ext cx="10607040" cy="237744"/>
          </a:xfrm>
          <a:prstGeom prst="rect">
            <a:avLst/>
          </a:prstGeom>
          <a:noFill/>
          <a:ln/>
        </p:spPr>
        <p:txBody>
          <a:bodyPr wrap="square" lIns="0" tIns="0" rIns="0" bIns="0" rtlCol="0" anchor="t"/>
          <a:lstStyle/>
          <a:p>
            <a:pPr marL="0" indent="0" algn="l">
              <a:lnSpc>
                <a:spcPct val="108000"/>
              </a:lnSpc>
              <a:buNone/>
            </a:pPr>
            <a:r>
              <a:rPr lang="en-US" sz="1100" b="1" kern="0" spc="220" dirty="0">
                <a:solidFill>
                  <a:srgbClr val="0E8A6A"/>
                </a:solidFill>
                <a:latin typeface="Calibri" pitchFamily="34" charset="0"/>
                <a:ea typeface="Calibri" pitchFamily="34" charset="-122"/>
                <a:cs typeface="Calibri" pitchFamily="34" charset="-120"/>
              </a:rPr>
              <a:t>CONCLUSION</a:t>
            </a:r>
            <a:endParaRPr lang="en-US" sz="1100" dirty="0"/>
          </a:p>
        </p:txBody>
      </p:sp>
      <p:sp>
        <p:nvSpPr>
          <p:cNvPr id="4" name="Text 2"/>
          <p:cNvSpPr txBox="1"/>
          <p:nvPr/>
        </p:nvSpPr>
        <p:spPr>
          <a:xfrm>
            <a:off x="749808" y="1097280"/>
            <a:ext cx="10607040" cy="1188720"/>
          </a:xfrm>
          <a:prstGeom prst="rect">
            <a:avLst/>
          </a:prstGeom>
          <a:noFill/>
          <a:ln/>
        </p:spPr>
        <p:txBody>
          <a:bodyPr wrap="square" lIns="0" tIns="0" rIns="0" bIns="0" rtlCol="0" anchor="t"/>
          <a:lstStyle/>
          <a:p>
            <a:pPr marL="0" indent="0" algn="l">
              <a:lnSpc>
                <a:spcPct val="115000"/>
              </a:lnSpc>
              <a:buNone/>
            </a:pPr>
            <a:r>
              <a:rPr lang="en-US" sz="3000" b="1" kern="0" spc="-50" dirty="0">
                <a:solidFill>
                  <a:srgbClr val="10243E"/>
                </a:solidFill>
                <a:latin typeface="Calibri" pitchFamily="34" charset="0"/>
                <a:ea typeface="Calibri" pitchFamily="34" charset="-122"/>
                <a:cs typeface="Calibri" pitchFamily="34" charset="-120"/>
              </a:rPr>
              <a:t>Le prototype tient sa promesse technique.</a:t>
            </a:r>
            <a:endParaRPr lang="en-US" sz="3000" dirty="0"/>
          </a:p>
          <a:p>
            <a:pPr marL="0" indent="0" algn="l">
              <a:lnSpc>
                <a:spcPct val="115000"/>
              </a:lnSpc>
              <a:buNone/>
            </a:pPr>
            <a:r>
              <a:rPr lang="en-US" sz="3000" b="1" kern="0" spc="-50" dirty="0">
                <a:solidFill>
                  <a:srgbClr val="10243E"/>
                </a:solidFill>
                <a:latin typeface="Calibri" pitchFamily="34" charset="0"/>
                <a:ea typeface="Calibri" pitchFamily="34" charset="-122"/>
                <a:cs typeface="Calibri" pitchFamily="34" charset="-120"/>
              </a:rPr>
              <a:t>Reste à trancher deux chantiers pour en faire un outil.</a:t>
            </a:r>
            <a:endParaRPr lang="en-US" sz="3000" dirty="0"/>
          </a:p>
        </p:txBody>
      </p:sp>
      <p:sp>
        <p:nvSpPr>
          <p:cNvPr id="5" name="Shape 3"/>
          <p:cNvSpPr/>
          <p:nvPr/>
        </p:nvSpPr>
        <p:spPr>
          <a:xfrm>
            <a:off x="777240" y="2468880"/>
            <a:ext cx="1554480" cy="41148"/>
          </a:xfrm>
          <a:prstGeom prst="rect">
            <a:avLst/>
          </a:prstGeom>
          <a:solidFill>
            <a:srgbClr val="0E8A6A"/>
          </a:solidFill>
          <a:ln w="12700">
            <a:solidFill>
              <a:srgbClr val="0E8A6A"/>
            </a:solidFill>
            <a:prstDash val="solid"/>
          </a:ln>
        </p:spPr>
      </p:sp>
      <p:sp>
        <p:nvSpPr>
          <p:cNvPr id="6" name="Shape 4"/>
          <p:cNvSpPr/>
          <p:nvPr/>
        </p:nvSpPr>
        <p:spPr>
          <a:xfrm>
            <a:off x="777240" y="2834640"/>
            <a:ext cx="5120640" cy="1965960"/>
          </a:xfrm>
          <a:prstGeom prst="roundRect">
            <a:avLst>
              <a:gd name="adj" fmla="val 2326"/>
            </a:avLst>
          </a:prstGeom>
          <a:solidFill>
            <a:srgbClr val="FFFFFF"/>
          </a:solidFill>
          <a:ln w="9525">
            <a:solidFill>
              <a:srgbClr val="0E8A6A"/>
            </a:solidFill>
            <a:prstDash val="solid"/>
          </a:ln>
        </p:spPr>
      </p:sp>
      <p:sp>
        <p:nvSpPr>
          <p:cNvPr id="7" name="Text 5"/>
          <p:cNvSpPr txBox="1"/>
          <p:nvPr/>
        </p:nvSpPr>
        <p:spPr>
          <a:xfrm>
            <a:off x="1033272" y="3017520"/>
            <a:ext cx="914400" cy="256032"/>
          </a:xfrm>
          <a:prstGeom prst="rect">
            <a:avLst/>
          </a:prstGeom>
          <a:noFill/>
          <a:ln/>
        </p:spPr>
        <p:txBody>
          <a:bodyPr wrap="square" lIns="0" tIns="0" rIns="0" bIns="0" rtlCol="0" anchor="t"/>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01</a:t>
            </a:r>
            <a:endParaRPr lang="en-US" sz="1200" dirty="0"/>
          </a:p>
        </p:txBody>
      </p:sp>
      <p:sp>
        <p:nvSpPr>
          <p:cNvPr id="8" name="Text 6"/>
          <p:cNvSpPr txBox="1"/>
          <p:nvPr/>
        </p:nvSpPr>
        <p:spPr>
          <a:xfrm>
            <a:off x="1033272" y="3310128"/>
            <a:ext cx="4572000" cy="310896"/>
          </a:xfrm>
          <a:prstGeom prst="rect">
            <a:avLst/>
          </a:prstGeom>
          <a:noFill/>
          <a:ln/>
        </p:spPr>
        <p:txBody>
          <a:bodyPr wrap="square" lIns="0" tIns="0" rIns="0" bIns="0" rtlCol="0" anchor="t"/>
          <a:lstStyle/>
          <a:p>
            <a:pPr marL="0" indent="0" algn="l">
              <a:lnSpc>
                <a:spcPct val="108000"/>
              </a:lnSpc>
              <a:buNone/>
            </a:pPr>
            <a:r>
              <a:rPr lang="en-US" sz="1700" b="1" dirty="0">
                <a:solidFill>
                  <a:srgbClr val="10243E"/>
                </a:solidFill>
                <a:latin typeface="Calibri" pitchFamily="34" charset="0"/>
                <a:ea typeface="Calibri" pitchFamily="34" charset="-122"/>
                <a:cs typeface="Calibri" pitchFamily="34" charset="-120"/>
              </a:rPr>
              <a:t>Ce qui est prouvé</a:t>
            </a:r>
            <a:endParaRPr lang="en-US" sz="1700" dirty="0"/>
          </a:p>
        </p:txBody>
      </p:sp>
      <p:sp>
        <p:nvSpPr>
          <p:cNvPr id="9" name="Text 7"/>
          <p:cNvSpPr txBox="1"/>
          <p:nvPr/>
        </p:nvSpPr>
        <p:spPr>
          <a:xfrm>
            <a:off x="1033272" y="3703320"/>
            <a:ext cx="4617720" cy="960120"/>
          </a:xfrm>
          <a:prstGeom prst="rect">
            <a:avLst/>
          </a:prstGeom>
          <a:noFill/>
          <a:ln/>
        </p:spPr>
        <p:txBody>
          <a:bodyPr wrap="square" lIns="0" tIns="0" rIns="0" bIns="0" rtlCol="0" anchor="t"/>
          <a:lstStyle/>
          <a:p>
            <a:pPr marL="0" indent="0" algn="l">
              <a:lnSpc>
                <a:spcPct val="116000"/>
              </a:lnSpc>
              <a:buNone/>
            </a:pPr>
            <a:r>
              <a:rPr lang="en-US" sz="1150" dirty="0">
                <a:solidFill>
                  <a:srgbClr val="3F546B"/>
                </a:solidFill>
                <a:latin typeface="Calibri" pitchFamily="34" charset="0"/>
                <a:ea typeface="Calibri" pitchFamily="34" charset="-122"/>
                <a:cs typeface="Calibri" pitchFamily="34" charset="-120"/>
              </a:rPr>
              <a:t>Le routeur de confidentialité est vérifiable dans le code, pas seulement dans le discours. Neuf phases, un seul chat, un audit lu sur le disque — pas déclaré.</a:t>
            </a:r>
            <a:endParaRPr lang="en-US" sz="1150" dirty="0"/>
          </a:p>
        </p:txBody>
      </p:sp>
      <p:sp>
        <p:nvSpPr>
          <p:cNvPr id="10" name="Shape 8"/>
          <p:cNvSpPr/>
          <p:nvPr/>
        </p:nvSpPr>
        <p:spPr>
          <a:xfrm>
            <a:off x="6263640" y="2834640"/>
            <a:ext cx="5120640" cy="1965960"/>
          </a:xfrm>
          <a:prstGeom prst="roundRect">
            <a:avLst>
              <a:gd name="adj" fmla="val 2326"/>
            </a:avLst>
          </a:prstGeom>
          <a:solidFill>
            <a:srgbClr val="FFFFFF"/>
          </a:solidFill>
          <a:ln w="9525">
            <a:solidFill>
              <a:srgbClr val="0E8A6A"/>
            </a:solidFill>
            <a:prstDash val="solid"/>
          </a:ln>
        </p:spPr>
      </p:sp>
      <p:sp>
        <p:nvSpPr>
          <p:cNvPr id="11" name="Text 9"/>
          <p:cNvSpPr txBox="1"/>
          <p:nvPr/>
        </p:nvSpPr>
        <p:spPr>
          <a:xfrm>
            <a:off x="6519672" y="3017520"/>
            <a:ext cx="914400" cy="256032"/>
          </a:xfrm>
          <a:prstGeom prst="rect">
            <a:avLst/>
          </a:prstGeom>
          <a:noFill/>
          <a:ln/>
        </p:spPr>
        <p:txBody>
          <a:bodyPr wrap="square" lIns="0" tIns="0" rIns="0" bIns="0" rtlCol="0" anchor="t"/>
          <a:lstStyle/>
          <a:p>
            <a:pPr marL="0" indent="0" algn="l">
              <a:lnSpc>
                <a:spcPct val="108000"/>
              </a:lnSpc>
              <a:buNone/>
            </a:pPr>
            <a:r>
              <a:rPr lang="en-US" sz="1200" b="1" dirty="0">
                <a:solidFill>
                  <a:srgbClr val="0E8A6A"/>
                </a:solidFill>
                <a:latin typeface="Courier New" pitchFamily="34" charset="0"/>
                <a:ea typeface="Courier New" pitchFamily="34" charset="-122"/>
                <a:cs typeface="Courier New" pitchFamily="34" charset="-120"/>
              </a:rPr>
              <a:t>02</a:t>
            </a:r>
            <a:endParaRPr lang="en-US" sz="1200" dirty="0"/>
          </a:p>
        </p:txBody>
      </p:sp>
      <p:sp>
        <p:nvSpPr>
          <p:cNvPr id="12" name="Text 10"/>
          <p:cNvSpPr txBox="1"/>
          <p:nvPr/>
        </p:nvSpPr>
        <p:spPr>
          <a:xfrm>
            <a:off x="6519672" y="3310128"/>
            <a:ext cx="4572000" cy="310896"/>
          </a:xfrm>
          <a:prstGeom prst="rect">
            <a:avLst/>
          </a:prstGeom>
          <a:noFill/>
          <a:ln/>
        </p:spPr>
        <p:txBody>
          <a:bodyPr wrap="square" lIns="0" tIns="0" rIns="0" bIns="0" rtlCol="0" anchor="t"/>
          <a:lstStyle/>
          <a:p>
            <a:pPr marL="0" indent="0" algn="l">
              <a:lnSpc>
                <a:spcPct val="108000"/>
              </a:lnSpc>
              <a:buNone/>
            </a:pPr>
            <a:r>
              <a:rPr lang="en-US" sz="1700" b="1" dirty="0">
                <a:solidFill>
                  <a:srgbClr val="10243E"/>
                </a:solidFill>
                <a:latin typeface="Calibri" pitchFamily="34" charset="0"/>
                <a:ea typeface="Calibri" pitchFamily="34" charset="-122"/>
                <a:cs typeface="Calibri" pitchFamily="34" charset="-120"/>
              </a:rPr>
              <a:t>Ce qui est demandé</a:t>
            </a:r>
            <a:endParaRPr lang="en-US" sz="1700" dirty="0"/>
          </a:p>
        </p:txBody>
      </p:sp>
      <p:sp>
        <p:nvSpPr>
          <p:cNvPr id="13" name="Text 11"/>
          <p:cNvSpPr txBox="1"/>
          <p:nvPr/>
        </p:nvSpPr>
        <p:spPr>
          <a:xfrm>
            <a:off x="6519672" y="3703320"/>
            <a:ext cx="4617720" cy="960120"/>
          </a:xfrm>
          <a:prstGeom prst="rect">
            <a:avLst/>
          </a:prstGeom>
          <a:noFill/>
          <a:ln/>
        </p:spPr>
        <p:txBody>
          <a:bodyPr wrap="square" lIns="0" tIns="0" rIns="0" bIns="0" rtlCol="0" anchor="t"/>
          <a:lstStyle/>
          <a:p>
            <a:pPr marL="0" indent="0" algn="l">
              <a:lnSpc>
                <a:spcPct val="116000"/>
              </a:lnSpc>
              <a:buNone/>
            </a:pPr>
            <a:r>
              <a:rPr lang="en-US" sz="1150" dirty="0">
                <a:solidFill>
                  <a:srgbClr val="3F546B"/>
                </a:solidFill>
                <a:latin typeface="Calibri" pitchFamily="34" charset="0"/>
                <a:ea typeface="Calibri" pitchFamily="34" charset="-122"/>
                <a:cs typeface="Calibri" pitchFamily="34" charset="-120"/>
              </a:rPr>
              <a:t>Un LLM local réel et la boucle de re-prompt du gatekeeper : les deux chantiers qui transforment la promesse de souveraineté en fait vérifiable.</a:t>
            </a:r>
            <a:endParaRPr lang="en-US" sz="1150" dirty="0"/>
          </a:p>
        </p:txBody>
      </p:sp>
      <p:sp>
        <p:nvSpPr>
          <p:cNvPr id="14" name="Text 12"/>
          <p:cNvSpPr txBox="1"/>
          <p:nvPr/>
        </p:nvSpPr>
        <p:spPr>
          <a:xfrm>
            <a:off x="777240" y="5120640"/>
            <a:ext cx="10607040" cy="548640"/>
          </a:xfrm>
          <a:prstGeom prst="rect">
            <a:avLst/>
          </a:prstGeom>
          <a:noFill/>
          <a:ln/>
        </p:spPr>
        <p:txBody>
          <a:bodyPr wrap="square" lIns="0" tIns="0" rIns="0" bIns="0" rtlCol="0" anchor="t"/>
          <a:lstStyle/>
          <a:p>
            <a:pPr marL="0" indent="0" algn="l">
              <a:lnSpc>
                <a:spcPct val="115000"/>
              </a:lnSpc>
              <a:buNone/>
            </a:pPr>
            <a:r>
              <a:rPr lang="en-US" sz="1200" i="1" dirty="0">
                <a:solidFill>
                  <a:srgbClr val="8697AB"/>
                </a:solidFill>
                <a:latin typeface="Calibri" pitchFamily="34" charset="0"/>
                <a:ea typeface="Calibri" pitchFamily="34" charset="-122"/>
                <a:cs typeface="Calibri" pitchFamily="34" charset="-120"/>
              </a:rPr>
              <a:t>La suite ne dépend pas d’un nouveau prototype, mais de l’arbitrage sur ces deux chantiers — le reste peut attendre le prochain cycle.</a:t>
            </a:r>
            <a:endParaRPr lang="en-US" sz="1200" dirty="0"/>
          </a:p>
        </p:txBody>
      </p:sp>
      <p:sp>
        <p:nvSpPr>
          <p:cNvPr id="15" name="Text 13"/>
          <p:cNvSpPr txBox="1"/>
          <p:nvPr/>
        </p:nvSpPr>
        <p:spPr>
          <a:xfrm>
            <a:off x="777240" y="6035040"/>
            <a:ext cx="10607040" cy="274320"/>
          </a:xfrm>
          <a:prstGeom prst="rect">
            <a:avLst/>
          </a:prstGeom>
          <a:noFill/>
          <a:ln/>
        </p:spPr>
        <p:txBody>
          <a:bodyPr wrap="square" lIns="0" tIns="0" rIns="0" bIns="0" rtlCol="0" anchor="t"/>
          <a:lstStyle/>
          <a:p>
            <a:pPr marL="0" indent="0" algn="l">
              <a:lnSpc>
                <a:spcPct val="108000"/>
              </a:lnSpc>
              <a:buNone/>
            </a:pPr>
            <a:r>
              <a:rPr lang="en-US" sz="1050" dirty="0">
                <a:solidFill>
                  <a:srgbClr val="8697AB"/>
                </a:solidFill>
                <a:latin typeface="Courier New" pitchFamily="34" charset="0"/>
                <a:ea typeface="Courier New" pitchFamily="34" charset="-122"/>
                <a:cs typeface="Courier New" pitchFamily="34" charset="-120"/>
              </a:rPr>
              <a:t>Fuzyo Copilot · FUZYO France SAS · restitution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2957</Words>
  <Application>Microsoft Office PowerPoint</Application>
  <PresentationFormat>Grand écran</PresentationFormat>
  <Paragraphs>498</Paragraphs>
  <Slides>21</Slides>
  <Notes>21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Fuzyo Copilot — Restitution 2026</dc:title>
  <dc:subject>PptxGenJS Presentation</dc:subject>
  <dc:creator>FUZYO France SAS</dc:creator>
  <cp:lastModifiedBy>Houssine EL BOUTI</cp:lastModifiedBy>
  <cp:revision>2</cp:revision>
  <dcterms:created xsi:type="dcterms:W3CDTF">2026-09-15T01:06:29Z</dcterms:created>
  <dcterms:modified xsi:type="dcterms:W3CDTF">2026-09-15T13:53:50Z</dcterms:modified>
</cp:coreProperties>
</file>